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42"/>
  </p:notesMasterIdLst>
  <p:sldIdLst>
    <p:sldId id="256" r:id="rId2"/>
    <p:sldId id="262" r:id="rId3"/>
    <p:sldId id="257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4" r:id="rId12"/>
    <p:sldId id="295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24" r:id="rId33"/>
    <p:sldId id="317" r:id="rId34"/>
    <p:sldId id="319" r:id="rId35"/>
    <p:sldId id="320" r:id="rId36"/>
    <p:sldId id="321" r:id="rId37"/>
    <p:sldId id="322" r:id="rId38"/>
    <p:sldId id="274" r:id="rId39"/>
    <p:sldId id="283" r:id="rId40"/>
    <p:sldId id="275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10" autoAdjust="0"/>
    <p:restoredTop sz="99071" autoAdjust="0"/>
  </p:normalViewPr>
  <p:slideViewPr>
    <p:cSldViewPr>
      <p:cViewPr>
        <p:scale>
          <a:sx n="100" d="100"/>
          <a:sy n="100" d="100"/>
        </p:scale>
        <p:origin x="-1998" y="-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A85DC-018B-4F1D-9BCC-BA10FDA96A2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B5672-ADE6-4DA2-A2C7-8376839EE4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8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B5672-ADE6-4DA2-A2C7-8376839EE4B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78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4B66D-A5CE-42A1-9C05-46FA3E94CC3F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3516B-352B-4793-B7C4-6C06A4F4800D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EF37-A94C-4534-A2B1-CC2022CDC647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23B4-94AB-4286-8811-583146B7BAD5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A0EDA-E9E5-48B8-905D-8AC44EBBC9FD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0185-9017-4836-A92F-BB05BFBC62F1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F54A-25BC-482D-8D56-0755565FF8F0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C85E-12E0-4562-8829-CBECA72C9894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00E6C-C80E-4CD4-82EA-A20BF1A29307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28D4A-0135-440A-97ED-D0FA805DB767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3F86-EE01-4EA4-B63B-715E83139625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F5DE8-46B7-43C6-92B6-780BCD9A2D43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838200" y="2514600"/>
            <a:ext cx="7620000" cy="18288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Prepared for: </a:t>
            </a:r>
            <a:r>
              <a:rPr lang="en-US"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Practicum Defense Committee  </a:t>
            </a:r>
            <a:br>
              <a:rPr lang="en-US" sz="2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Department of  Computer Science and Engineering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0" name="WordArt 5"/>
          <p:cNvSpPr>
            <a:spLocks noChangeArrowheads="1" noChangeShapeType="1" noTextEdit="1"/>
          </p:cNvSpPr>
          <p:nvPr/>
        </p:nvSpPr>
        <p:spPr bwMode="auto">
          <a:xfrm>
            <a:off x="744583" y="321276"/>
            <a:ext cx="7683137" cy="26778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1200" b="1" kern="10" spc="24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Narrow"/>
              </a:rPr>
              <a:t>IUBAT–INTERNATIONAL </a:t>
            </a:r>
            <a:r>
              <a:rPr lang="en-US" sz="1200" b="1" kern="10" spc="24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effectLst/>
                <a:latin typeface="Arial Narrow"/>
              </a:rPr>
              <a:t>UNIVERSITY OF BUSINESS AGRICULTURE AND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4200" y="713601"/>
            <a:ext cx="29633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i="1" dirty="0">
                <a:solidFill>
                  <a:srgbClr val="00800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Founded 1991 by Md. Alimullah Miyan</a:t>
            </a:r>
            <a:endParaRPr lang="en-US" sz="11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5240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685800" y="1037656"/>
            <a:ext cx="78486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IntelliGrade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An End-to-End Outcome-Based Examination Management
and Intelligent Script Evaluation Ecosystem
for Higher Education Institutions</a:t>
            </a:r>
          </a:p>
          <a:p>
            <a:pPr algn="ctr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95600" y="2209800"/>
            <a:ext cx="39180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>
                <a:latin typeface="Times New Roman" pitchFamily="18" charset="0"/>
                <a:cs typeface="Times New Roman" pitchFamily="18" charset="0"/>
              </a:rPr>
              <a:t>Course Code: Practicum CSC 490</a:t>
            </a:r>
            <a:endParaRPr lang="en-US" sz="2000" dirty="0"/>
          </a:p>
        </p:txBody>
      </p:sp>
      <p:sp>
        <p:nvSpPr>
          <p:cNvPr id="18" name="Rectangle 17"/>
          <p:cNvSpPr/>
          <p:nvPr/>
        </p:nvSpPr>
        <p:spPr>
          <a:xfrm>
            <a:off x="4267200" y="4724400"/>
            <a:ext cx="4800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Prepared by: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Md. Taher Bin Omar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Hijbullah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22303142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9812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152400" y="4724400"/>
            <a:ext cx="350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Supervised by: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Drs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Ferdaus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Anam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Jibon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Associate Professor </a:t>
            </a:r>
          </a:p>
        </p:txBody>
      </p:sp>
      <p:pic>
        <p:nvPicPr>
          <p:cNvPr id="19" name="Picture 18" descr="Logo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838" y="3733800"/>
            <a:ext cx="457200" cy="470535"/>
          </a:xfrm>
          <a:prstGeom prst="rect">
            <a:avLst/>
          </a:prstGeom>
          <a:noFill/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BB852D0C-EAEE-4315-89D6-8ED848E8BF0D}"/>
              </a:ext>
            </a:extLst>
          </p:cNvPr>
          <p:cNvSpPr txBox="1"/>
          <p:nvPr/>
        </p:nvSpPr>
        <p:spPr>
          <a:xfrm>
            <a:off x="1905000" y="6182618"/>
            <a:ext cx="518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August 3</a:t>
            </a:r>
            <a:r>
              <a:rPr lang="en-US" sz="1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2026  |  IUBAT, Dhaka, Bangladesh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angle 289"/>
          <p:cNvSpPr/>
          <p:nvPr/>
        </p:nvSpPr>
        <p:spPr>
          <a:xfrm>
            <a:off x="1194812" y="83820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1267965" y="90314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Table of Contents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4858512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993646" y="1000804"/>
            <a:ext cx="523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535" y="6217920"/>
            <a:ext cx="2072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89192" y="1088136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Function Point (FP) Calculation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068824" y="6217920"/>
            <a:ext cx="1739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37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194813" y="116668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1267966" y="123163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Table of Contents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194813" y="146843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267966" y="153338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Problem Statement &amp; Overview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74191" y="1612210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194813" y="177019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1267966" y="183513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74191" y="1913963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05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94813" y="207194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1267966" y="213689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System Architecture Overview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74191" y="2215715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06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194813" y="237369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267966" y="243864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21-Module System Catalog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4191" y="2517467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07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194813" y="267544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1267966" y="274039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Use Case Diagram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4191" y="2819219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08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194813" y="297719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1267966" y="304214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Actor Use Case Inventory (27 UCs)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74191" y="3120971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09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194813" y="327895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1267966" y="334390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AI Pipeline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74191" y="3422723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10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194813" y="358070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1267966" y="364565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Manual Wizard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74191" y="3724475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194813" y="388245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1267966" y="394740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Swimlane Diagram (5 Lanes)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74191" y="4026227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12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194813" y="418420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1267966" y="424915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AI Wizard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74191" y="4327978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13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194813" y="4485958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267966" y="4550907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Student Portal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74191" y="4629731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14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194813" y="478771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1267966" y="485266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Core Domain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74191" y="4931483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15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194813" y="508946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1267966" y="515441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AI Engine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74191" y="5233235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16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194813" y="539121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1267966" y="545616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Entity-Relationship Diagram (ERD)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74191" y="5534987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17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194813" y="569296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1267966" y="575791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Data Flow Diagram: Level 0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4191" y="5836739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18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194813" y="5994719"/>
            <a:ext cx="2588961" cy="4315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1267966" y="605966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Data Flow Diagram: Level 1 (System)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5334000" y="83820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5455919" y="90314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Function Point (FP) Calculation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5334001" y="116668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5" name="TextBox 294"/>
          <p:cNvSpPr txBox="1"/>
          <p:nvPr/>
        </p:nvSpPr>
        <p:spPr>
          <a:xfrm>
            <a:off x="5407154" y="123163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>Functional Requirements (FR 01-20)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5334001" y="146843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" name="TextBox 296"/>
          <p:cNvSpPr txBox="1"/>
          <p:nvPr/>
        </p:nvSpPr>
        <p:spPr>
          <a:xfrm>
            <a:off x="5407154" y="153338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Problem Statement &amp; Overview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5334001" y="177019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9" name="TextBox 298"/>
          <p:cNvSpPr txBox="1"/>
          <p:nvPr/>
        </p:nvSpPr>
        <p:spPr>
          <a:xfrm>
            <a:off x="5407154" y="183513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5334001" y="207194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5407154" y="213689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System Architecture Overview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5334001" y="237369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3" name="TextBox 302"/>
          <p:cNvSpPr txBox="1"/>
          <p:nvPr/>
        </p:nvSpPr>
        <p:spPr>
          <a:xfrm>
            <a:off x="5407154" y="243864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21-Module System Catalog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5334001" y="267544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5407154" y="274039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Use Case Diagram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5334001" y="297719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" name="TextBox 306"/>
          <p:cNvSpPr txBox="1"/>
          <p:nvPr/>
        </p:nvSpPr>
        <p:spPr>
          <a:xfrm>
            <a:off x="5407154" y="304214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Actor Use Case Inventory (27 UCs)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334001" y="327895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9" name="TextBox 308"/>
          <p:cNvSpPr txBox="1"/>
          <p:nvPr/>
        </p:nvSpPr>
        <p:spPr>
          <a:xfrm>
            <a:off x="5407154" y="334390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AI Pipeline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334001" y="358070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1" name="TextBox 310"/>
          <p:cNvSpPr txBox="1"/>
          <p:nvPr/>
        </p:nvSpPr>
        <p:spPr>
          <a:xfrm>
            <a:off x="5407154" y="364565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Manual Wizard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5334001" y="388245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3" name="TextBox 312"/>
          <p:cNvSpPr txBox="1"/>
          <p:nvPr/>
        </p:nvSpPr>
        <p:spPr>
          <a:xfrm>
            <a:off x="5407154" y="394740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Swimlane Diagram (5 Lanes)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5334001" y="418420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5" name="TextBox 314"/>
          <p:cNvSpPr txBox="1"/>
          <p:nvPr/>
        </p:nvSpPr>
        <p:spPr>
          <a:xfrm>
            <a:off x="5407154" y="424915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AI Wizard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5334001" y="4485958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" name="TextBox 316"/>
          <p:cNvSpPr txBox="1"/>
          <p:nvPr/>
        </p:nvSpPr>
        <p:spPr>
          <a:xfrm>
            <a:off x="5407154" y="4550907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Student Portal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5334001" y="478771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9" name="TextBox 318"/>
          <p:cNvSpPr txBox="1"/>
          <p:nvPr/>
        </p:nvSpPr>
        <p:spPr>
          <a:xfrm>
            <a:off x="5407154" y="485266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Core Domain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5334001" y="508946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1" name="TextBox 320"/>
          <p:cNvSpPr txBox="1"/>
          <p:nvPr/>
        </p:nvSpPr>
        <p:spPr>
          <a:xfrm>
            <a:off x="5407154" y="515441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AI Engine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5334001" y="539121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5407154" y="545616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Entity-Relationship Diagram (ERD)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5334001" y="569296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5" name="TextBox 324"/>
          <p:cNvSpPr txBox="1"/>
          <p:nvPr/>
        </p:nvSpPr>
        <p:spPr>
          <a:xfrm>
            <a:off x="5407154" y="5757916"/>
            <a:ext cx="254508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Data Flow Diagram: Level 0 (Context)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5382767" y="5994719"/>
            <a:ext cx="2588961" cy="4315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" name="TextBox 326"/>
          <p:cNvSpPr txBox="1"/>
          <p:nvPr/>
        </p:nvSpPr>
        <p:spPr>
          <a:xfrm>
            <a:off x="5407154" y="605966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Data Flow Diagram: Level 1 (System)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Project Overview &amp; Problem Statement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Place Thesis Title Here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1062335"/>
            <a:ext cx="8475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 dirty="0">
                <a:solidFill>
                  <a:srgbClr val="F43F5E"/>
                </a:solidFill>
                <a:latin typeface="Times New Roman" pitchFamily="18" charset="0"/>
                <a:cs typeface="Times New Roman" pitchFamily="18" charset="0"/>
              </a:rPr>
              <a:t>CURRENT OPERATIONAL 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1941576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Labor Fatigue:</a:t>
            </a:r>
            <a:endParaRPr lang="en-US" sz="2000" b="1" i="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sz="2000" b="1" i="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49698" y="1941576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Evaluating hundreds of handwritten scripts per semester causes examiner fatigue, drift &amp; delays.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2599944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OBE Complexity:</a:t>
            </a:r>
            <a:endParaRPr lang="en-US" sz="2000" b="1" i="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sz="2000" b="1" i="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49698" y="2599944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Manual CO1-CO6/PO1-PO12 attainment math is error-prone when done in spreadsheets.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3258312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No Student Feedback: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9698" y="3258312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>
                <a:latin typeface="Times New Roman" pitchFamily="18" charset="0"/>
                <a:cs typeface="Times New Roman" pitchFamily="18" charset="0"/>
              </a:rPr>
              <a:t>Students receive only a single mark — zero question-level or concept-level insight.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3916680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Paper Record Risk: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49698" y="3916680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Physical scripts are lost, damaged, or unavailable during accreditation audits.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575048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Role Fragmentation: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9698" y="4575048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No unified digital ecosystem for Controllers, Heads, Teachers, and Students.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1086" y="1066800"/>
            <a:ext cx="695891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latin typeface="Times New Roman" pitchFamily="18" charset="0"/>
                <a:cs typeface="Times New Roman" pitchFamily="18" charset="0"/>
              </a:rPr>
              <a:t>INTELLIGRADE INNOVATIVE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244" y="1742948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Dual Wizards: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10799" y="1742948"/>
            <a:ext cx="5299801" cy="1015663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AI Wizard v3.0 + Direct Manual Grading — teacher always maintains complete grading authority.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44" y="2401316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OBE: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0799" y="2401316"/>
            <a:ext cx="5299801" cy="1015663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Automatic CO/PO/KP/CEP/CEA attainment calculation with Bloom taxonomy across questions.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44" y="3059684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Deep</a:t>
            </a:r>
            <a:r>
              <a:rPr lang="en-US"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Feedback: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10799" y="3059684"/>
            <a:ext cx="5299801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Times New Roman" pitchFamily="18" charset="0"/>
                <a:cs typeface="Times New Roman" pitchFamily="18" charset="0"/>
              </a:rPr>
              <a:t>Question-wise marks, strengths, AI comments, criteria breakdown per student.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44" y="3718052"/>
            <a:ext cx="2402155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PDF: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799" y="3718052"/>
            <a:ext cx="5299801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PDF scripts stored securely in institutional media.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44" y="4114800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4-Role Portal: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10799" y="4114800"/>
            <a:ext cx="5299801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Controller,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Dept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Head, Teacher &amp; Student — one synchronized ecosystem.</a:t>
            </a:r>
          </a:p>
        </p:txBody>
      </p:sp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Project Overview &amp; Problem Statement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95585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74320" y="777763"/>
            <a:ext cx="612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4F46E5"/>
                </a:solidFill>
                <a:latin typeface="Times New Roman" pitchFamily="18" charset="0"/>
                <a:cs typeface="Times New Roman" pitchFamily="18" charset="0"/>
              </a:rPr>
              <a:t>Specific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" y="1371600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1920" y="1371600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0" y="1417320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Reduce grading turnaround by 70% via OCR + AI-suggested marks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920" y="2029967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1920" y="2029967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910" y="2075688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Implement 23-section IUBAT OBE taxonomy across all exam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" y="2688336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1920" y="2688336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8910" y="2734056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Provide dual evaluation: AI Wizard v3.0 AND 100% Direct Manual Grading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920" y="3346704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1920" y="3346704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0" y="3392424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Deploy split-screen workbench with 1-click mark override &amp; approval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0341" y="4038600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2400" y="4087368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9390" y="4133088"/>
            <a:ext cx="8522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Generate 8-sheet OBE Excel with CO/PO/CQI formulas (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openpyxl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0341" y="4696967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52400" y="4745735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9391" y="4791456"/>
            <a:ext cx="85222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Role portals: Chief Exam Controller,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Dept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Head, Teacher, Student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2400" y="5404104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70341" y="5355336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7331" y="5401056"/>
            <a:ext cx="85042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Resilient AI failover: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Moondream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Groq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OpenRouter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-&gt; Gemini -&gt; GPT-4o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2400" y="6062472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70341" y="6013704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7331" y="6059424"/>
            <a:ext cx="85042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Institutional SMTP email + PDF attachment dispatch</a:t>
            </a:r>
          </a:p>
        </p:txBody>
      </p:sp>
    </p:spTree>
    <p:extLst>
      <p:ext uri="{BB962C8B-B14F-4D97-AF65-F5344CB8AC3E}">
        <p14:creationId xmlns:p14="http://schemas.microsoft.com/office/powerpoint/2010/main" val="3888793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" name="TextBox 31"/>
          <p:cNvSpPr txBox="1"/>
          <p:nvPr/>
        </p:nvSpPr>
        <p:spPr>
          <a:xfrm>
            <a:off x="640080" y="1138535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59E0B"/>
                </a:solidFill>
                <a:latin typeface="Times New Roman" pitchFamily="18" charset="0"/>
                <a:cs typeface="Times New Roman" pitchFamily="18" charset="0"/>
              </a:rPr>
              <a:t>Key Stakeholders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1813560"/>
            <a:ext cx="3212966" cy="1371505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1520" y="1868425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9E0B"/>
                </a:solidFill>
                <a:latin typeface="Times New Roman" pitchFamily="18" charset="0"/>
                <a:cs typeface="Times New Roman" pitchFamily="18" charset="0"/>
              </a:rPr>
              <a:t>Chief Exam Controller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2206753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Governance,</a:t>
            </a:r>
            <a:r>
              <a:rPr lang="en-US"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routine scanning, student approvals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11834" y="1752600"/>
            <a:ext cx="3212966" cy="1371505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03274" y="1807465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6B6D4"/>
                </a:solidFill>
                <a:latin typeface="Times New Roman" pitchFamily="18" charset="0"/>
                <a:cs typeface="Times New Roman" pitchFamily="18" charset="0"/>
              </a:rPr>
              <a:t>Department Head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3274" y="2145793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OBE auditing, pass-rate analytics, tabulation review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" y="3992879"/>
            <a:ext cx="3212966" cy="1371505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01039" y="4047744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  <a:latin typeface="Times New Roman" pitchFamily="18" charset="0"/>
                <a:cs typeface="Times New Roman" pitchFamily="18" charset="0"/>
              </a:rPr>
              <a:t>Faculty / Examiner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1039" y="4386072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Q&amp;R authoring, script upload, AI </a:t>
            </a:r>
            <a:r>
              <a:rPr sz="1500" b="0" i="0" dirty="0" err="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eval</a:t>
            </a:r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, mark override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11834" y="3992879"/>
            <a:ext cx="3212966" cy="1371505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803274" y="4047744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0B981"/>
                </a:solidFill>
                <a:latin typeface="Times New Roman" pitchFamily="18" charset="0"/>
                <a:cs typeface="Times New Roman" pitchFamily="18" charset="0"/>
              </a:rPr>
              <a:t>Student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3274" y="4386072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Grade transparency, PDF downloads, CO/PO feedback</a:t>
            </a:r>
          </a:p>
        </p:txBody>
      </p:sp>
    </p:spTree>
    <p:extLst>
      <p:ext uri="{BB962C8B-B14F-4D97-AF65-F5344CB8AC3E}">
        <p14:creationId xmlns:p14="http://schemas.microsoft.com/office/powerpoint/2010/main" val="641103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System Architecture Overview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5" name="Rectangle 84"/>
          <p:cNvSpPr/>
          <p:nvPr/>
        </p:nvSpPr>
        <p:spPr>
          <a:xfrm>
            <a:off x="228600" y="1453146"/>
            <a:ext cx="236220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74320" y="1578114"/>
            <a:ext cx="2316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Administration &amp; Portals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987041" y="1188720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051049" y="128016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RBAC Auth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07281" y="1188720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971289" y="11430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Controller Portal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827520" y="1188720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891529" y="128016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Dept Head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987041" y="1932432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051049" y="2023872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Teacher Portal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907281" y="1932432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971289" y="2023872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Student Portal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3246120"/>
            <a:ext cx="2362200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74320" y="3330714"/>
            <a:ext cx="2316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Academic Ingestion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910841" y="2895600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974849" y="2895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Structure CRUD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831081" y="2895600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4895089" y="2895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AI Routine Parser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751320" y="2895600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815329" y="2895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23-OBE Studio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895600" y="3685032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2938272" y="3657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Master Solution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95601" y="4608576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2959609" y="45720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300 DPI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Preproc</a:t>
            </a:r>
            <a:endParaRPr sz="20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4815841" y="4608576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879849" y="4700016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PyMuPDF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736080" y="4608576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800089" y="4700016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PyTesseract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52928" y="5424690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2819400" y="5388114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EasyOCR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CPU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28600" y="4800600"/>
            <a:ext cx="236220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274320" y="4876800"/>
            <a:ext cx="22497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OCR / Preprocessing</a:t>
            </a:r>
          </a:p>
        </p:txBody>
      </p:sp>
    </p:spTree>
    <p:extLst>
      <p:ext uri="{BB962C8B-B14F-4D97-AF65-F5344CB8AC3E}">
        <p14:creationId xmlns:p14="http://schemas.microsoft.com/office/powerpoint/2010/main" val="4091606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System Architecture Overview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7" name="Rectangle 116"/>
          <p:cNvSpPr/>
          <p:nvPr/>
        </p:nvSpPr>
        <p:spPr>
          <a:xfrm>
            <a:off x="228600" y="1905000"/>
            <a:ext cx="2121408" cy="868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274319" y="2082534"/>
            <a:ext cx="20203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Dual Evaluation Engine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514600" y="1615440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578608" y="175260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AI Wizard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434840" y="1615440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4498848" y="170688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Manual Wizard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55079" y="1615440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419088" y="170688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LLM Failover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514600" y="2401074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2578608" y="24384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Cooldown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Tracker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28600" y="3967746"/>
            <a:ext cx="2121408" cy="8686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74320" y="4114800"/>
            <a:ext cx="20756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Tabulation &amp; Output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529841" y="3733800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593849" y="37338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Split-Screen WB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450081" y="3733800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4514089" y="382524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PDF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370320" y="3733800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434329" y="37338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OBE Tabulation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514600" y="4627614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578608" y="4719054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8-Sheet Excel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434840" y="4627614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4498848" y="4719054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3188876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21-Module Architecture Catalog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1356360" y="499646"/>
            <a:ext cx="6035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latin typeface="Times New Roman" pitchFamily="18" charset="0"/>
                <a:cs typeface="Times New Roman" pitchFamily="18" charset="0"/>
              </a:rPr>
              <a:t>Service-oriented modular decomposition of </a:t>
            </a:r>
            <a:r>
              <a:rPr sz="1600" b="0" i="0" dirty="0" err="1">
                <a:latin typeface="Times New Roman" pitchFamily="18" charset="0"/>
                <a:cs typeface="Times New Roman" pitchFamily="18" charset="0"/>
              </a:rPr>
              <a:t>IntelliGrade</a:t>
            </a:r>
            <a:endParaRPr sz="16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28600" y="902208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8600" y="902208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4320" y="8190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Auth &amp; RBAC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902208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947672" y="902208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993391" y="8190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3391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Controller Portal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66744" y="902208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666744" y="902208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712463" y="83820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12463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Dept Head Portal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85816" y="902208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385816" y="902208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31536" y="83820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31536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Teacher Workspace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04888" y="902208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104888" y="902208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150607" y="83820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0607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Student Portal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4695" y="2261616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34695" y="2261616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80416" y="21906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0416" y="25816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Acad. Structure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53768" y="2261616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953768" y="2261616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999488" y="21906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99488" y="25816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AI Routine Parser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0" y="2237232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657600" y="2237232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703320" y="2166306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03320" y="2557272"/>
            <a:ext cx="15361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23-Taxonomy Studio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76672" y="2237232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376672" y="2237232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422391" y="2166306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22391" y="2557272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Master Solution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95744" y="2237232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095744" y="2237232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141463" y="2166306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41463" y="2557272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300 DPI Preproc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0416" y="3630168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280416" y="3630168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326136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26136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Hybrid OCR Engine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999488" y="3630168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1999488" y="3630168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2045207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045207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Boundary &amp; Mapping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18559" y="3630168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3718559" y="3630168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3764280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764280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AI Eval Wizard v3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437632" y="3630168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5437632" y="3630168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5483352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483352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Manual Grading Wiz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135368" y="3592914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7135368" y="3592914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7181088" y="3521988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181088" y="3912953"/>
            <a:ext cx="15361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LLM Failover Chain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16408" y="5004816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216408" y="5004816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262127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MOD-16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62127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TaskRouter &amp; Health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935480" y="5004816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1935480" y="5004816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1981199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MOD-17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981199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Split-Screen WB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4552" y="5004816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3654552" y="5004816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3700272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MOD-18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700272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PDF Gen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erate</a:t>
            </a:r>
            <a:endParaRPr sz="20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5373624" y="5004816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5373624" y="5004816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5419343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MOD-19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419343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OBE Tabulation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092695" y="5004816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7092695" y="5004816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7138416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MOD-20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138416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8-Sheet Excel Sync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34695" y="6300217"/>
            <a:ext cx="8513494" cy="424493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356617" y="6324600"/>
            <a:ext cx="8151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Email Service</a:t>
            </a:r>
          </a:p>
        </p:txBody>
      </p:sp>
    </p:spTree>
    <p:extLst>
      <p:ext uri="{BB962C8B-B14F-4D97-AF65-F5344CB8AC3E}">
        <p14:creationId xmlns:p14="http://schemas.microsoft.com/office/powerpoint/2010/main" val="872107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5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 Use Case Diagram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298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9/37</a:t>
            </a:r>
          </a:p>
        </p:txBody>
      </p:sp>
      <p:pic>
        <p:nvPicPr>
          <p:cNvPr id="7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8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Activity Diagram — AI Evaluation Wizard Pipeline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7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019F4E1-3F5F-4989-A165-478AFA9802E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9"/>
          <a:stretch/>
        </p:blipFill>
        <p:spPr>
          <a:xfrm>
            <a:off x="1676400" y="1056065"/>
            <a:ext cx="5410200" cy="556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72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10/37</a:t>
            </a:r>
          </a:p>
        </p:txBody>
      </p:sp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5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Activity Diagram — Manual Grading Wizard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1BC4F10-9C5E-488D-B911-7B25DB5FCC3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3"/>
          <a:stretch/>
        </p:blipFill>
        <p:spPr>
          <a:xfrm>
            <a:off x="2057400" y="1082842"/>
            <a:ext cx="4648200" cy="577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40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40093" y="1051560"/>
            <a:ext cx="1028968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91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Teacher
Browser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277" y="1527048"/>
            <a:ext cx="68598" cy="4846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957" y="1051560"/>
            <a:ext cx="1028968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06256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Django
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52142" y="1527048"/>
            <a:ext cx="68598" cy="4846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03822" y="1051560"/>
            <a:ext cx="1028968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38120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Script
Processor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84006" y="1527048"/>
            <a:ext cx="68598" cy="4846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35687" y="1051560"/>
            <a:ext cx="1028968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69986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OCR
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5872" y="1527048"/>
            <a:ext cx="68598" cy="4846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67552" y="1051560"/>
            <a:ext cx="1028968" cy="47548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1851" y="1078992"/>
            <a:ext cx="9603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AI Orchestrator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7737" y="1527048"/>
            <a:ext cx="68598" cy="48463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99416" y="1051560"/>
            <a:ext cx="1028968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33715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Groq/Gemini
LLM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9601" y="1527048"/>
            <a:ext cx="68598" cy="4846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99879" y="1051560"/>
            <a:ext cx="1028968" cy="47548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4178" y="1078992"/>
            <a:ext cx="9603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0063" y="1527048"/>
            <a:ext cx="68598" cy="48463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838200" y="19050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3317" y="1697251"/>
            <a:ext cx="1762683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POST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upload_student_submission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968759" y="21336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52600" y="1905000"/>
            <a:ext cx="174589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process_submission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300 DPI render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00623" y="25146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366626" y="2306851"/>
            <a:ext cx="2435225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run_ocr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PyMuPDF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Tesseract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EasyOCR</a:t>
            </a:r>
            <a:endParaRPr sz="750" b="0" i="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3100623" y="29718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895600" y="2764051"/>
            <a:ext cx="1371957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BBoxes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+ text blocks returned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968759" y="33528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752600" y="3029635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detect_boundaries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QuestionMapping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created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6894" y="3493008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09600" y="32004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Return mapping UI / confirmation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36894" y="41148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5443" y="38100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POST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confirm_mapping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trigger AI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eval</a:t>
            </a:r>
            <a:endParaRPr sz="750" b="0" i="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1968759" y="4224528"/>
            <a:ext cx="32309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968759" y="4020979"/>
            <a:ext cx="3212841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route_evaluation_task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question_mappings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364353" y="44196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181600" y="41148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POST evaluate(rubric, image,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master_sol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364353" y="50292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181600" y="47244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JSON{score, confidence, strengths, mistakes}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364353" y="5321808"/>
            <a:ext cx="2167693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229139" y="5126251"/>
            <a:ext cx="2467061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save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EvaluationResult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+ flag if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conf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&lt; 0.75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968759" y="5687568"/>
            <a:ext cx="556328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581400" y="5507251"/>
            <a:ext cx="276106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ACK -&gt; all questions evaluated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36894" y="6053328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5443" y="57150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Redirect -&gt; </a:t>
            </a:r>
            <a:r>
              <a:rPr sz="750" b="0" i="0" dirty="0" err="1"/>
              <a:t>evaluation_workspace</a:t>
            </a:r>
            <a:endParaRPr sz="750" b="0" i="0" dirty="0"/>
          </a:p>
        </p:txBody>
      </p:sp>
      <p:sp>
        <p:nvSpPr>
          <p:cNvPr id="55" name="TextBox 54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12/37</a:t>
            </a:r>
          </a:p>
        </p:txBody>
      </p:sp>
      <p:pic>
        <p:nvPicPr>
          <p:cNvPr id="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7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Sequence Diagram — AI Evaluation Wizard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55630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42990" y="1051560"/>
            <a:ext cx="1303359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7288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Student
Browser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370" y="1527048"/>
            <a:ext cx="68598" cy="4937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83545" y="1051560"/>
            <a:ext cx="1303359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7843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Django
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0925" y="1527048"/>
            <a:ext cx="68598" cy="4937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2698" y="1051560"/>
            <a:ext cx="1303359" cy="47548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26996" y="1097280"/>
            <a:ext cx="12347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10078" y="1527048"/>
            <a:ext cx="68598" cy="49377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39046" y="1051560"/>
            <a:ext cx="1303359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73345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Email
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6427" y="1527048"/>
            <a:ext cx="68598" cy="4937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22591" y="1051560"/>
            <a:ext cx="1303359" cy="47548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56889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PDF
Generator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9971" y="1527048"/>
            <a:ext cx="68598" cy="4937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1063267" y="173736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8200" y="155448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solidFill>
                  <a:sysClr val="windowText" lastClr="000000"/>
                </a:solidFill>
              </a:rPr>
              <a:t>POST </a:t>
            </a:r>
            <a:r>
              <a:rPr sz="750" b="0" i="0" dirty="0" err="1">
                <a:solidFill>
                  <a:sysClr val="windowText" lastClr="000000"/>
                </a:solidFill>
              </a:rPr>
              <a:t>student_login</a:t>
            </a:r>
            <a:r>
              <a:rPr sz="750" b="0" i="0" dirty="0">
                <a:solidFill>
                  <a:sysClr val="windowText" lastClr="000000"/>
                </a:solidFill>
              </a:rPr>
              <a:t>(username, password)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03822" y="210312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86000" y="192023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authenticate() verify </a:t>
            </a:r>
            <a:r>
              <a:rPr sz="750" b="0" i="0" dirty="0" err="1"/>
              <a:t>Profile.role</a:t>
            </a:r>
            <a:r>
              <a:rPr sz="750" b="0" i="0" dirty="0"/>
              <a:t>=STUDENT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03822" y="246888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209800" y="228600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Session token + profile data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63267" y="283464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265176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Redirect -&gt; /dashboard/student/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63267" y="320040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5800" y="301752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GET </a:t>
            </a:r>
            <a:r>
              <a:rPr sz="750" b="0" i="0" dirty="0" err="1"/>
              <a:t>dashboard_student</a:t>
            </a:r>
            <a:r>
              <a:rPr sz="750" b="0" i="0" dirty="0"/>
              <a:t>()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503822" y="356616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03822" y="338327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fetch </a:t>
            </a:r>
            <a:r>
              <a:rPr sz="750" b="0" i="0" dirty="0" err="1"/>
              <a:t>StudentGradeRecord</a:t>
            </a:r>
            <a:r>
              <a:rPr sz="750" b="0" i="0" dirty="0"/>
              <a:t> + </a:t>
            </a:r>
            <a:r>
              <a:rPr sz="750" b="0" i="0" dirty="0" err="1"/>
              <a:t>EvaluationResult</a:t>
            </a:r>
            <a:endParaRPr sz="750" b="0" i="0" dirty="0"/>
          </a:p>
        </p:txBody>
      </p:sp>
      <p:cxnSp>
        <p:nvCxnSpPr>
          <p:cNvPr id="33" name="Connector 32"/>
          <p:cNvCxnSpPr/>
          <p:nvPr/>
        </p:nvCxnSpPr>
        <p:spPr>
          <a:xfrm>
            <a:off x="2503822" y="393192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285464" y="374903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Grade records, CO/PO attainments, GPA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63267" y="429768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62000" y="411480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Render student dashboard with cards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63267" y="466344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3864" y="448055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GET </a:t>
            </a:r>
            <a:r>
              <a:rPr sz="750" b="0" i="0" dirty="0" err="1"/>
              <a:t>download_certified_pdf</a:t>
            </a:r>
            <a:r>
              <a:rPr sz="750" b="0" i="0" dirty="0"/>
              <a:t>(</a:t>
            </a:r>
            <a:r>
              <a:rPr sz="750" b="0" i="0" dirty="0" err="1"/>
              <a:t>submission_id</a:t>
            </a:r>
            <a:r>
              <a:rPr sz="750" b="0" i="0" dirty="0"/>
              <a:t>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503822" y="5029200"/>
            <a:ext cx="480185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218769" y="484632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/>
              <a:t>generate_pdf</a:t>
            </a:r>
            <a:r>
              <a:rPr sz="750" b="0" i="0" dirty="0"/>
              <a:t>() if finalized=True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503822" y="5394960"/>
            <a:ext cx="480185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18769" y="521208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Watermarked PDF binary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503822" y="5760720"/>
            <a:ext cx="3018306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326996" y="557784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/>
              <a:t>send_result_email</a:t>
            </a:r>
            <a:r>
              <a:rPr sz="750" b="0" i="0" dirty="0"/>
              <a:t>(student, </a:t>
            </a:r>
            <a:r>
              <a:rPr sz="750" b="0" i="0" dirty="0" err="1"/>
              <a:t>pdf_attachment</a:t>
            </a:r>
            <a:r>
              <a:rPr sz="750" b="0" i="0" dirty="0"/>
              <a:t>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503822" y="6126480"/>
            <a:ext cx="3018306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326996" y="594360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/>
              <a:t>SMTP ACK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63267" y="649224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14400" y="6309359"/>
            <a:ext cx="2057936" cy="2077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HTTP 200: PDF download response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13/37</a:t>
            </a:r>
          </a:p>
        </p:txBody>
      </p:sp>
      <p:pic>
        <p:nvPicPr>
          <p:cNvPr id="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Sequence Diagram — Student Portal &amp; Result Publication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33178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04060" y="609600"/>
            <a:ext cx="5105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Key entity classes, attributes, and associations in core/models.py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96" y="1097280"/>
            <a:ext cx="2743915" cy="1325880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96" y="1097280"/>
            <a:ext cx="2743915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74" y="113385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74" y="1426465"/>
            <a:ext cx="26341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user: FK(User)
- role: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Enum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[ADMIN|TEACHER|DEPT_HEAD|STUDENT]
- department: FK(Department)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is_approved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2074" y="2230651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get_role_label()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6904" y="1097280"/>
            <a:ext cx="2743915" cy="1325880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86904" y="1097280"/>
            <a:ext cx="2743915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41782" y="113385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Examination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1782" y="1426465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title, course: FK(Course)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exam_date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start_time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end_time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assigned_teachers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M2M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master_solution_parsed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41782" y="219456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get_absolute_url()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05210" y="1097280"/>
            <a:ext cx="2743915" cy="1325880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05210" y="1097280"/>
            <a:ext cx="2743915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60088" y="113385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0088" y="1426465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exam: FK(Examination)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prompt_text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marks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bloom_level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co,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po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kp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cep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cea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rubric: FK(Rubric)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0088" y="219456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get_full_taxonomy()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96" y="3124200"/>
            <a:ext cx="2743915" cy="1188720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7196" y="3124200"/>
            <a:ext cx="2743915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74" y="316077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StudentSubmission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74" y="345338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examination: FK(Examination)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student_roll_no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status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is_finalized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certified_pdf_path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2074" y="408432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can_finalize()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86904" y="3124200"/>
            <a:ext cx="2743915" cy="1188720"/>
          </a:xfrm>
          <a:prstGeom prst="rect">
            <a:avLst/>
          </a:prstGeom>
          <a:noFill/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086904" y="3124200"/>
            <a:ext cx="2743915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41782" y="316077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QuestionMapping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1782" y="345338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submission: FK(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StudentSubmission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)
- question: FK(Question)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page_numbers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JSON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mapping_status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is_confirmed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141782" y="408432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get_answer_pages()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05210" y="3124200"/>
            <a:ext cx="2743915" cy="1188720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05210" y="3124200"/>
            <a:ext cx="2743915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60088" y="316077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EvaluationResult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0088" y="345338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mapping: FK(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QuestionMapping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obtained_marks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max_marks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confidence_score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status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requires_manual_review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60088" y="408432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get_percentage()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96" y="5044440"/>
            <a:ext cx="2743915" cy="1188720"/>
          </a:xfrm>
          <a:prstGeom prst="rect">
            <a:avLst/>
          </a:prstGeom>
          <a:noFill/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37196" y="5044440"/>
            <a:ext cx="2743915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2074" y="508101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StudentGradeRecord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74" y="537362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tabulation: FK(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CourseTabulation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)
- student: FK(Profile)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ct_marks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mid_marks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final_marks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overall_score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grade_point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92074" y="6004559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compute_weighted_score()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86904" y="5044440"/>
            <a:ext cx="2743915" cy="1188720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086904" y="5044440"/>
            <a:ext cx="2743915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41782" y="508101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CourseTabulation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41782" y="5373624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examination: FK(Examination)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is_published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excel_file_path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141782" y="6004559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compute_co_attainment()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8754" y="61699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14/37</a:t>
            </a:r>
          </a:p>
        </p:txBody>
      </p:sp>
      <p:pic>
        <p:nvPicPr>
          <p:cNvPr id="4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Class Diagram — Core Domain Model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54894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2478" y="1051560"/>
            <a:ext cx="2743915" cy="1417320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2478" y="1051560"/>
            <a:ext cx="2743915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3637" y="108813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AIEvaluationOrchestrator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356" y="1380743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provider_chain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list[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BaseProvider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]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health_tracker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ProviderHealthTracker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timeout_budget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356" y="210312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route_task(mapping)
+ failover_to_next()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2186" y="1051560"/>
            <a:ext cx="2743915" cy="1417320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52186" y="1051560"/>
            <a:ext cx="2743915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3344" y="108813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BaseProvider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7064" y="1380743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api_key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model_name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max_retries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07064" y="210312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evaluate(prompt, image) -&gt; JSON
+ is_healthy() -&gt; bool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1894" y="1051560"/>
            <a:ext cx="2743915" cy="1417320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01894" y="1051560"/>
            <a:ext cx="2743915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3053" y="108813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LocalOfflineVisionProvider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6772" y="1380743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ollama_endpoint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max_image_size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800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jpeg_quality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6772" y="210312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resize_lanczos(img)
+ encode_base64(img)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2478" y="2819400"/>
            <a:ext cx="2743915" cy="1417320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2478" y="2819400"/>
            <a:ext cx="2743915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3637" y="28559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GroqProvider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356" y="31485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model: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'llama-3.3-70b'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tpm_limit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7356" y="3870959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post_completion(msgs)
+ handle_429()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52186" y="2819400"/>
            <a:ext cx="2743915" cy="1417320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52186" y="2819400"/>
            <a:ext cx="2743915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93344" y="28559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ProviderHealthTracker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07064" y="31485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cooldowns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dict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datetime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]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failure_counts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dict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07064" y="3870959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mark_failed(provider)
+ is_on_cooldown(provider)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1894" y="2819400"/>
            <a:ext cx="2743915" cy="1417320"/>
          </a:xfrm>
          <a:prstGeom prst="rect">
            <a:avLst/>
          </a:prstGeom>
          <a:noFill/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01894" y="2819400"/>
            <a:ext cx="2743915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43053" y="28559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TabulationService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6772" y="31485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ct_weight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=0.10, mid=0.25, final=0.50
- assign=0.10, attendance=0.05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6772" y="3870959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sync_submission(sub)
+ compute_grade_point(score)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2478" y="4648200"/>
            <a:ext cx="2743915" cy="1417320"/>
          </a:xfrm>
          <a:prstGeom prst="rect">
            <a:avLst/>
          </a:prstGeom>
          <a:noFill/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2478" y="4648200"/>
            <a:ext cx="2743915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3637" y="46847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FinalizationService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7356" y="49773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pdf_generator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EvaluatedPDFService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working_dir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7356" y="569976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finalize_submission(sub)
+ purge_artifacts()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52186" y="4648200"/>
            <a:ext cx="2743915" cy="1417320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52186" y="4648200"/>
            <a:ext cx="2743915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93344" y="46847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EmailService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07064" y="49773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smtp_host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smtp_port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sender: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307064" y="569976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dispatch_result(student, pdf)
+ send_otp(email, otp)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4036" y="6246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15/37</a:t>
            </a:r>
          </a:p>
        </p:txBody>
      </p:sp>
      <p:pic>
        <p:nvPicPr>
          <p:cNvPr id="5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Class Diagram — AI Engine &amp; Services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1141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8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Entity-Relationship Diagram (ERD)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8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6A382BE-4A75-497D-985F-DA6A9A21C1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838200"/>
            <a:ext cx="8580120" cy="573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444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17/37</a:t>
            </a:r>
          </a:p>
        </p:txBody>
      </p:sp>
      <p:pic>
        <p:nvPicPr>
          <p:cNvPr id="2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Data Flow Diagram — Level 0 (Context Diagram)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9A0204F-DA1A-4FC7-886F-B92AA38031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 b="5000"/>
          <a:stretch/>
        </p:blipFill>
        <p:spPr>
          <a:xfrm>
            <a:off x="0" y="1828800"/>
            <a:ext cx="9144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508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7888754" y="6627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18/37</a:t>
            </a:r>
          </a:p>
        </p:txBody>
      </p:sp>
      <p:pic>
        <p:nvPicPr>
          <p:cNvPr id="4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Data Flow Diagram — Level 1 (System Level)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CB012E5-76DC-4FA0-9E24-971AB4ECF8F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09"/>
          <a:stretch/>
        </p:blipFill>
        <p:spPr>
          <a:xfrm>
            <a:off x="304800" y="990600"/>
            <a:ext cx="8610600" cy="527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435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79056" y="728990"/>
            <a:ext cx="82317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IFPUG Method — Quantifying </a:t>
            </a:r>
            <a:r>
              <a:rPr sz="1100" b="0" i="0" dirty="0" err="1">
                <a:solidFill>
                  <a:srgbClr val="818CF8"/>
                </a:solidFill>
              </a:rPr>
              <a:t>IntelliGrade</a:t>
            </a:r>
            <a:r>
              <a:rPr sz="1100" b="0" i="0" dirty="0">
                <a:solidFill>
                  <a:srgbClr val="818CF8"/>
                </a:solidFill>
              </a:rPr>
              <a:t> system size from 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94" y="1051560"/>
            <a:ext cx="857473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IFPUG FP Analysis — IntelliGrade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71495" y="1481328"/>
            <a:ext cx="288111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5794" y="1517904"/>
            <a:ext cx="2812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Component 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6904" y="1481328"/>
            <a:ext cx="994669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21203" y="1517904"/>
            <a:ext cx="9260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5872" y="1481328"/>
            <a:ext cx="126906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50171" y="1517904"/>
            <a:ext cx="12004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Complexity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19232" y="1481328"/>
            <a:ext cx="126906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53530" y="1517904"/>
            <a:ext cx="12004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2590" y="1481328"/>
            <a:ext cx="226373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56890" y="1517904"/>
            <a:ext cx="21951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FP Contribution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1495" y="1892807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9513" y="1984248"/>
            <a:ext cx="278507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/>
              <a:t>External Inputs (EI) — 27 Use Case workflows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86904" y="1892807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34922" y="1984248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/>
              <a:t>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5872" y="1892807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63891" y="1984248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Average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9232" y="1892807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67250" y="1984248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2590" y="1892807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70609" y="1984248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1495" y="2423160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9513" y="2514600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/>
              <a:t>External Outputs (EO) — PDF, Excel, Email, 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6904" y="2423160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134922" y="2514600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5872" y="2423160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163891" y="2514600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Average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19232" y="2423160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67250" y="2514600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2590" y="2423160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70609" y="2514600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90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1495" y="2953511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9513" y="3044951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/>
              <a:t>External Inquiries (EQ) — Grade views, downloads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86904" y="2953511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134922" y="3044951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5872" y="2953511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163891" y="3044951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Simple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19232" y="2953511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67250" y="3044951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22590" y="2953511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770609" y="3044951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36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1495" y="3483863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9513" y="3575303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/>
              <a:t>Internal Logical Files (ILF) — 21+ Django models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86904" y="3483863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134922" y="3575303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5872" y="3483863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63891" y="3575303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Complex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19232" y="3483863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467250" y="3575303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2590" y="3483863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770609" y="3575303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210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1495" y="4014215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19513" y="4105655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/>
              <a:t>External Interface Files (EIF) — 5 AI providers/SMTP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86904" y="4014215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134922" y="4105655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5872" y="4014215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163891" y="4105655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Average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19232" y="4014215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67250" y="4105655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22590" y="4014215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770609" y="4105655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35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1494" y="4572000"/>
            <a:ext cx="8780527" cy="5303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40093" y="4654296"/>
            <a:ext cx="281251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Total Unadjusted FPs (UFP)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91188" y="4654296"/>
            <a:ext cx="212653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479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94" y="5166360"/>
            <a:ext cx="85747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Value Adjustment Factor (VAF) = 0.65 + (0.01 × Sum-GSCs)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94" y="5440680"/>
            <a:ext cx="85747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Sum-GSCs (14 General System Characteristics) = 47  →  VAF = 0.65 + 0.47 = 1.12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1494" y="5779008"/>
            <a:ext cx="8780527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74391" y="5888736"/>
            <a:ext cx="8643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Adjusted Function Points (AFP) = UFP × VAF = 479 × 1.12 = 536.48 FPs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93" y="6446520"/>
            <a:ext cx="8711929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 dirty="0">
                <a:solidFill>
                  <a:sysClr val="windowText" lastClr="000000"/>
                </a:solidFill>
              </a:rPr>
              <a:t>EI: 27 UC workflows | EO: Certified PDF, Excel, Email, Dashboards | ILF: All 21+ </a:t>
            </a:r>
            <a:r>
              <a:rPr sz="850" b="0" i="1" dirty="0" err="1">
                <a:solidFill>
                  <a:sysClr val="windowText" lastClr="000000"/>
                </a:solidFill>
              </a:rPr>
              <a:t>Django</a:t>
            </a:r>
            <a:r>
              <a:rPr sz="850" b="0" i="1" dirty="0">
                <a:solidFill>
                  <a:sysClr val="windowText" lastClr="000000"/>
                </a:solidFill>
              </a:rPr>
              <a:t> models | EIF: Gemini, </a:t>
            </a:r>
            <a:r>
              <a:rPr sz="850" b="0" i="1" dirty="0" err="1">
                <a:solidFill>
                  <a:sysClr val="windowText" lastClr="000000"/>
                </a:solidFill>
              </a:rPr>
              <a:t>Groq</a:t>
            </a:r>
            <a:r>
              <a:rPr sz="850" b="0" i="1" dirty="0">
                <a:solidFill>
                  <a:sysClr val="windowText" lastClr="000000"/>
                </a:solidFill>
              </a:rPr>
              <a:t>, </a:t>
            </a:r>
            <a:r>
              <a:rPr sz="850" b="0" i="1" dirty="0" err="1">
                <a:solidFill>
                  <a:sysClr val="windowText" lastClr="000000"/>
                </a:solidFill>
              </a:rPr>
              <a:t>Ollama</a:t>
            </a:r>
            <a:r>
              <a:rPr sz="850" b="0" i="1" dirty="0">
                <a:solidFill>
                  <a:sysClr val="windowText" lastClr="000000"/>
                </a:solidFill>
              </a:rPr>
              <a:t>, </a:t>
            </a:r>
            <a:r>
              <a:rPr sz="850" b="0" i="1" dirty="0" err="1">
                <a:solidFill>
                  <a:sysClr val="windowText" lastClr="000000"/>
                </a:solidFill>
              </a:rPr>
              <a:t>OpenRouter</a:t>
            </a:r>
            <a:r>
              <a:rPr sz="850" b="0" i="1" dirty="0">
                <a:solidFill>
                  <a:sysClr val="windowText" lastClr="000000"/>
                </a:solidFill>
              </a:rPr>
              <a:t>, SMTP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20/37</a:t>
            </a:r>
          </a:p>
        </p:txBody>
      </p:sp>
      <p:pic>
        <p:nvPicPr>
          <p:cNvPr id="7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9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Function Point (FP) Calculation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8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71440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64988" y="657459"/>
            <a:ext cx="35835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37 Functional Requirements derived from system 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51560"/>
            <a:ext cx="425307" cy="46634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74" y="1143000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</a:rPr>
              <a:t>FR-01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6801" y="1051560"/>
            <a:ext cx="4012975" cy="466344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680" y="1143000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[Auth] Unified role-based authentication -&gt; role-specific dashboard redirect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1495" y="1591055"/>
            <a:ext cx="425307" cy="46634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2074" y="168249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6801" y="1591055"/>
            <a:ext cx="4012975" cy="466344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680" y="1682495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</a:t>
            </a:r>
            <a:r>
              <a:rPr sz="900" b="0" i="0" dirty="0" err="1"/>
              <a:t>Auth</a:t>
            </a:r>
            <a:r>
              <a:rPr sz="900" b="0" i="0" dirty="0"/>
              <a:t>] Student self-registration with </a:t>
            </a:r>
            <a:r>
              <a:rPr sz="900" b="0" i="0" dirty="0" err="1"/>
              <a:t>is_approved</a:t>
            </a:r>
            <a:r>
              <a:rPr sz="900" b="0" i="0" dirty="0"/>
              <a:t>=False -&gt; Controller approval 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5" y="2130552"/>
            <a:ext cx="425307" cy="46634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74" y="2221992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801" y="2130552"/>
            <a:ext cx="4012975" cy="466344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1680" y="2221992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[Auth] 6-digit OTP password reset via SMTP with 10-minute expiry window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495" y="2670048"/>
            <a:ext cx="425307" cy="4663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074" y="2761488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6801" y="2670048"/>
            <a:ext cx="4012975" cy="466344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680" y="2761488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</a:t>
            </a:r>
            <a:r>
              <a:rPr sz="900" b="0" i="0" dirty="0" err="1"/>
              <a:t>Gov</a:t>
            </a:r>
            <a:r>
              <a:rPr sz="900" b="0" i="0" dirty="0"/>
              <a:t>] Exam Controllers manage Colleges, Schools, Departments, Courses, Faculty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5" y="3209544"/>
            <a:ext cx="425307" cy="4663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74" y="3300984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6801" y="3209544"/>
            <a:ext cx="4012975" cy="466344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1680" y="3300984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[Gov] Toggle active/blocked status for any institutional user account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495" y="3749039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2074" y="3840479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801" y="3749039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1680" y="3840479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Parse multi-page exam routine PDFs -&gt; extract dates, times, course codes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4288536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2074" y="437997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801" y="4288536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1680" y="4379975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0ms local DB course match -&gt; 1-click batch examination creation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1495" y="4828031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92074" y="4919471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6801" y="4828031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1680" y="4919471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Admin configures API keys: Gemini, Groq, OpenAI, OpenRouter, Ollama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5" y="5367527"/>
            <a:ext cx="425307" cy="4663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92074" y="5458967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6801" y="5367527"/>
            <a:ext cx="4012975" cy="466344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1680" y="5458967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[Head] Live departmental pass rates + active courses + enrolled students dashboard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1495" y="5907023"/>
            <a:ext cx="425307" cy="4663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2074" y="5998463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6801" y="5907023"/>
            <a:ext cx="4012975" cy="466344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1680" y="5998463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[Head] Dept Heads audit course OBE sheets and CO/PO attainment matrices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30356" y="1051560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50935" y="1143000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55663" y="1051560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110541" y="1143000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[Q&amp;R] 23-section IUBAT OBE metadata per question: Bloom, CO, PO, KP, CEP, CEA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30356" y="1591055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650935" y="168249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55663" y="1591055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110541" y="1682495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[Q&amp;R] Structured rubrics with criteria, ideal answer, partial marks, keywords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30356" y="2130552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650935" y="2221992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55663" y="2130552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10541" y="2221992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[Q&amp;R] Extract bounding boxes for Question Figures, Tables, LaTeX formulas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30356" y="2670048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650935" y="2761488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55663" y="2670048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110541" y="2761488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[Q&amp;R] Sanitize unescaped LaTeX backslashes to prevent JSON decode errors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30356" y="3209544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650935" y="3300984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55663" y="3209544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110541" y="3300984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Teacher uploads master solution; system links steps to questions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30356" y="3749039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650935" y="3840479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55663" y="3749039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110541" y="3840479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PDF scripts rendered at 300 DPI + OpenCV deskew + noise reduction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30356" y="4288536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650935" y="437997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55663" y="4288536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110541" y="4379975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Versioned working copies in submission_working/ with increment IDs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30356" y="4828031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650935" y="4919471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55663" y="4828031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110541" y="4919471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Hybrid OCR: PyMuPDF -&gt; PyTesseract -&gt; EasyOCR PyTorch CPU fallback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30356" y="5367527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650935" y="5458967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55663" y="5367527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110541" y="5458967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[Map] Detect Q-number headings using strict start-of-line regex state machine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30356" y="5907023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650935" y="5998463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55663" y="5907023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110541" y="5998463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[Map] Interactive mapping modal: teacher adjusts page numbers and crop regions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21/37</a:t>
            </a:r>
          </a:p>
        </p:txBody>
      </p:sp>
      <p:pic>
        <p:nvPicPr>
          <p:cNvPr id="8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0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Functional Requirements (FR-01 to FR-20)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9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78436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71495" y="838200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73" y="883920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6802" y="838200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357" y="883920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[AI] Failover chain: Local Vision -&gt; </a:t>
            </a:r>
            <a:r>
              <a:rPr sz="900" b="0" i="0" dirty="0" err="1"/>
              <a:t>Groq</a:t>
            </a:r>
            <a:r>
              <a:rPr sz="900" b="0" i="0" dirty="0"/>
              <a:t> -&gt; </a:t>
            </a:r>
            <a:r>
              <a:rPr sz="900" b="0" i="0" dirty="0" err="1"/>
              <a:t>OpenRouter</a:t>
            </a:r>
            <a:r>
              <a:rPr sz="900" b="0" i="0" dirty="0"/>
              <a:t> -&gt; Gemini -&gt; </a:t>
            </a:r>
            <a:r>
              <a:rPr sz="900" b="0" i="0" dirty="0" err="1"/>
              <a:t>OpenAI</a:t>
            </a:r>
            <a:endParaRPr sz="900" b="0" i="0" dirty="0"/>
          </a:p>
        </p:txBody>
      </p:sp>
      <p:sp>
        <p:nvSpPr>
          <p:cNvPr id="10" name="Rectangle 9"/>
          <p:cNvSpPr/>
          <p:nvPr/>
        </p:nvSpPr>
        <p:spPr>
          <a:xfrm>
            <a:off x="171495" y="1176528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2073" y="1222248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6802" y="1176528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357" y="1222248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Track HTTP 429 events -&gt; exponential backoff cooldowns per provider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5" y="1514856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73" y="1560576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802" y="1514856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357" y="1560576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Enforce 45-second timeout per AI request -&gt; immediate failover trigger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495" y="1853183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073" y="1898903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6802" y="1853183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357" y="1898903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Evaluate against rubric criteria -&gt; return marks, confidence, strengths, mistakes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5" y="2191512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73" y="2237231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6802" y="2191512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9357" y="2237231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Set requires_manual_review=True when confidence &lt; configured threshold (0.75)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495" y="2529840"/>
            <a:ext cx="489591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2073" y="2575560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802" y="2529840"/>
            <a:ext cx="8368939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9357" y="2575560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[WB] Split-screen workbench: scanned script image left, AI score + rubric right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2868167"/>
            <a:ext cx="489591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2073" y="2913887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802" y="2868167"/>
            <a:ext cx="8368939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9357" y="2913887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[WB] Teacher mark override -&gt; logged in TeacherReview + EvaluationHistory tables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1495" y="3206496"/>
            <a:ext cx="489591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92073" y="3252215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6802" y="3206496"/>
            <a:ext cx="8368939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9357" y="3252215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[PDF] Stamp certified PDF: institutional header, marks, comments, digital watermark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5" y="3544823"/>
            <a:ext cx="489591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92073" y="3590543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6802" y="3544823"/>
            <a:ext cx="8368939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9357" y="3590543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[Tab] Aggregate: Class Test (10%), Midterm (25%), Final (50%), Assign (10%), Att (5%)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1495" y="3883152"/>
            <a:ext cx="489591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2073" y="3928872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6802" y="3883152"/>
            <a:ext cx="8368939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9357" y="3928872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[Tab] Real-time sync: tabulation modal edits -&gt; StudentGradeRecord + Excel + Dashboard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1495" y="4221480"/>
            <a:ext cx="489591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92073" y="4267199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6802" y="4221480"/>
            <a:ext cx="8368939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9357" y="4267199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[Tab] Generate 8-sheet Excel (openpyxl): HOME, CO_ATTAINMENT, PO, CQI formulas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1495" y="4559808"/>
            <a:ext cx="489591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2073" y="4605528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6802" y="4559808"/>
            <a:ext cx="8368939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49357" y="4605528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[Email] Non-blocking SMTP via dsr.iubat.ac.bd for results, credentials, OTPs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5" y="4898136"/>
            <a:ext cx="489591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92073" y="4943856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6802" y="4898136"/>
            <a:ext cx="8368939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9357" y="4943856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[Std] Student dashboard: GPA (4.00 scale), question-wise scores + PDF download links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1495" y="5236463"/>
            <a:ext cx="489591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92073" y="5282183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6802" y="5236463"/>
            <a:ext cx="8368939" cy="292608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9357" y="5282183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[Wiz] Dual wizards: AI Wizard v3.0 + Manual Grading Wizard (zero AI/OCR path)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1495" y="5574792"/>
            <a:ext cx="489591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92073" y="5620512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6802" y="5574792"/>
            <a:ext cx="8368939" cy="292608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49357" y="5620512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[Stor] Auto-purge working images from media/submission_working/ upon PDF creation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1495" y="5913119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92073" y="5958839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6802" y="5913119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49357" y="5958839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[DB] Composite indexes + select_related/prefetch_related -&gt; eliminate N+1 queries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71495" y="6251448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92073" y="6297168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6802" y="6251448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49357" y="6297168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Local vision: 800px LANCZOS downsampling + JPEG quality=75 before Ollama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24839" y="65880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/>
              <a:t>Slide 22/37</a:t>
            </a:r>
          </a:p>
        </p:txBody>
      </p:sp>
      <p:pic>
        <p:nvPicPr>
          <p:cNvPr id="7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8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Functional Requirements (FR-21 to FR-37)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7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19367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6200" y="912976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780" y="958696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FFFFFF"/>
                </a:solidFill>
              </a:rPr>
              <a:t>NFR-01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65399" y="914400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960120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/>
              <a:t>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91471" y="914400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28800" y="960120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Dashboard pages rendered &lt;= 1.5 seconds under institutional network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" y="1251304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780" y="1297024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5399" y="1252728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2000" y="1298448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91471" y="1252728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28800" y="1298448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300 DPI render + PyTesseract OCR per page &lt;= 4.0 seconds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" y="1589632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780" y="1635352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5399" y="1591056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1636776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91471" y="1591056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28800" y="1636776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AI evaluation per question via Groq/Gemini &lt;= 8.0 seconds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" y="1927959"/>
            <a:ext cx="68413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780" y="1973679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5399" y="1929383"/>
            <a:ext cx="926071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2000" y="1975103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Failover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91471" y="1929383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28800" y="1975103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Provider timeout/429 -&gt; failover transition &lt;= 500 milliseconds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200" y="2266288"/>
            <a:ext cx="68413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780" y="2312007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5399" y="2267712"/>
            <a:ext cx="926071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2000" y="2313431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Scalability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91471" y="2267712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828800" y="2313431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Concurrent batch upload of 100 multi-page scripts without deadlock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200" y="2604616"/>
            <a:ext cx="684134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780" y="2650336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5399" y="2606040"/>
            <a:ext cx="926071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62000" y="2651760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Availability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91471" y="2606040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828800" y="2651760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&gt;= 99.5% uptime during exam periods via offline vision fallback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" y="2942943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780" y="2988663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5399" y="2944367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62000" y="2990087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Security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91471" y="2944367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28800" y="2990087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Passwords salted+hashed (Argon2/PBKDF2-SHA256), never plaintext stored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200" y="3281272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6780" y="3326991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5399" y="3282696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62000" y="3328415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Security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91471" y="3282696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828800" y="3328415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Every view/API endpoint enforces @role_required RBAC decorators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200" y="3619599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780" y="3665319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5399" y="3621023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62000" y="3666743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Security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91471" y="3621023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828800" y="3666743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All POST/PUT/DELETE requests mandate valid CSRF tokens from middleware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200" y="3957928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6780" y="4003648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5399" y="3959352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62000" y="4005072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Integrity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91471" y="3959352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828800" y="4005072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Grade updates execute within atomic DB transactions (transaction.atomic)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200" y="4296256"/>
            <a:ext cx="68413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6780" y="4341975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5399" y="4297680"/>
            <a:ext cx="926071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62000" y="4343399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Audit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91471" y="4297680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828800" y="4343399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Mark overrides log immutable audit entries with teacher ID + timestamp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200" y="4634584"/>
            <a:ext cx="684134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6780" y="4680304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5399" y="4636008"/>
            <a:ext cx="926071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62000" y="4681728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OBE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591471" y="4636008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828800" y="4681728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CO/PO calculations strictly adhere to IUBAT &amp; BAETE accreditation standards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200" y="4972912"/>
            <a:ext cx="68413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6780" y="5018632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5399" y="4974336"/>
            <a:ext cx="926071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62000" y="5020056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Excel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91471" y="4974336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828800" y="5020056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8-sheet workbooks preserve openpyxl formulas, validation, and cell colors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200" y="5311239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6780" y="5356959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5399" y="5312663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62000" y="5358383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Email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91471" y="5312663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828800" y="5358383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SMTP dispatches run in background threads — never blocks HTTP responses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200" y="5649568"/>
            <a:ext cx="684134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6780" y="5695288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65399" y="5650992"/>
            <a:ext cx="926071" cy="292608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62000" y="5696712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Usability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91471" y="5650992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828800" y="5696712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Responsive UI with dark/light theme + split-screen PDF viewer on desktop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6200" y="5987895"/>
            <a:ext cx="68413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6780" y="6033615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65399" y="5989319"/>
            <a:ext cx="926071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762000" y="6035039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DB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591471" y="5989319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828800" y="6035039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Composite B-tree indexes + eager-loading for near-O(1) query complexity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6200" y="6326224"/>
            <a:ext cx="684134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6780" y="6371944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65399" y="6327648"/>
            <a:ext cx="926071" cy="292608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62000" y="6373368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Storage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591471" y="6327648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828800" y="6373368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Draft working images purged upon finalization to conserve disk space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888754" y="6627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/>
              <a:t>Slide 23/37</a:t>
            </a:r>
          </a:p>
        </p:txBody>
      </p:sp>
      <p:pic>
        <p:nvPicPr>
          <p:cNvPr id="11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2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Non-Functional Requirements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74495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88908" y="657459"/>
            <a:ext cx="39357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Full technology choices: backend, AI, OCR, database, and UI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78992"/>
            <a:ext cx="2812512" cy="2514600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0093" y="114300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Backend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92" y="14904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Django 5.2.x (Python 3.11)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92" y="17647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Class-based + function-based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92" y="20391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CSRF, RBAC, Session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92" y="23134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Atomic DB transactions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5502" y="1078992"/>
            <a:ext cx="2812512" cy="2514600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24099" y="1143000"/>
            <a:ext cx="26753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latin typeface="Times New Roman" pitchFamily="18" charset="0"/>
                <a:cs typeface="Times New Roman" pitchFamily="18" charset="0"/>
              </a:rPr>
              <a:t>Database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8399" y="14904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SQLite (dev) -&gt; PostgreSQL (prod)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8399" y="17647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28 Django migrations applied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8399" y="20391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Composite B-tree indexes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8399" y="23134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select_related / prefetch_related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9508" y="1078992"/>
            <a:ext cx="2812512" cy="2514600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08106" y="114300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</a:rPr>
              <a:t>AI &amp; LLM Providers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406" y="14904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Google Gemini 2.5 Flash / 2.0 Flash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2406" y="17647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Groq Llama-3.3-70B Versatile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2406" y="20391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OpenRouter API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2406" y="23134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OpenAI GPT-4o (backup)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2406" y="25877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Ollama Moondream2 (offline)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1495" y="3776472"/>
            <a:ext cx="2812512" cy="2514600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0093" y="384048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OCR &amp; 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92" y="41879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PyMuPDF (font-map extraction)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92" y="44622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PyTesseract (printed text)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92" y="4736592"/>
            <a:ext cx="26410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EasyOCR PyTorch CPU (handwritten)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92" y="50109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OpenCV deskew / noise filter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92" y="52852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300 DPI rasterization (zoom=4.166)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5502" y="3776472"/>
            <a:ext cx="2812512" cy="2514600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24099" y="384048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Frontend /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58399" y="41879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TailwindCSS CDN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8399" y="44622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Lucide Icons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58399" y="47365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Plus Jakarta Sans (Google Fonts)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58399" y="50109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Dark/Light theme toggle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58399" y="52852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Vanilla JS + fetch API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39508" y="3776472"/>
            <a:ext cx="2812512" cy="2514600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208106" y="384048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</a:rPr>
              <a:t>Output &amp; Reports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406" y="41879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openpyxl — 8-sheet OBE Excel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2406" y="44622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ReportLab — certified PDF stamps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2406" y="47365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Async SMTP email (threading)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2406" y="5010912"/>
            <a:ext cx="26410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Watermarked PDF with Django headers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24/37</a:t>
            </a:r>
          </a:p>
        </p:txBody>
      </p:sp>
      <p:pic>
        <p:nvPicPr>
          <p:cNvPr id="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Technology Stack &amp; Infrastructure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48661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85122" y="609600"/>
            <a:ext cx="43738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20+ models, 28 migrations, Phase-1 B-tree composite index optimizations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4" y="1143000"/>
            <a:ext cx="4218769" cy="2450592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1494" y="1143000"/>
            <a:ext cx="4218769" cy="2743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6373" y="1179576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StudentSubmission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812" y="1463040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• examination (FK)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812" y="1719072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student_roll_no (str)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812" y="197510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status (Enum)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812" y="223113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is_finalized (bool)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812" y="2487168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certified_pdf_path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812" y="2743200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[examination, status]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812" y="2999232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</a:t>
            </a:r>
            <a:r>
              <a:rPr sz="850" b="1" i="0" dirty="0" err="1">
                <a:solidFill>
                  <a:srgbClr val="10B981"/>
                </a:solidFill>
              </a:rPr>
              <a:t>student_roll_no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812" y="3255264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</a:t>
            </a:r>
            <a:r>
              <a:rPr sz="850" b="1" i="0" dirty="0" err="1">
                <a:solidFill>
                  <a:srgbClr val="10B981"/>
                </a:solidFill>
              </a:rPr>
              <a:t>is_finalized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1494" y="3867912"/>
            <a:ext cx="4218769" cy="2450592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71494" y="3867912"/>
            <a:ext cx="4218769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6373" y="3904488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EvaluationResult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812" y="4187951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mapping (FK-&gt;QuestionMapping)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812" y="444398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obtained_marks, max_marks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3812" y="470001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confidence_score (float)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812" y="4956047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status (Enum)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3812" y="5212079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requires_manual_review (bool)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812" y="5468112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ai_feedback (text)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3812" y="5724143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[status, </a:t>
            </a:r>
            <a:r>
              <a:rPr sz="850" b="1" i="0" dirty="0" err="1">
                <a:solidFill>
                  <a:srgbClr val="10B981"/>
                </a:solidFill>
              </a:rPr>
              <a:t>requires_manual_review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96057" y="1143000"/>
            <a:ext cx="4218769" cy="2450592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96057" y="1143000"/>
            <a:ext cx="4218769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50935" y="1179576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QuestionMapping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8374" y="1463040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• submission (FK)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8374" y="1719072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question (FK)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8374" y="197510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page_numbers (JSON)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78374" y="223113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mapping_status (Enum)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78374" y="2487168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is_confirmed (bool)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8374" y="2743200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bounding_box (JSON)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8374" y="2999232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[submission, </a:t>
            </a:r>
            <a:r>
              <a:rPr sz="850" b="1" i="0" dirty="0" err="1">
                <a:solidFill>
                  <a:srgbClr val="10B981"/>
                </a:solidFill>
              </a:rPr>
              <a:t>mapping_status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8374" y="3255264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[submission, </a:t>
            </a:r>
            <a:r>
              <a:rPr sz="850" b="1" i="0" dirty="0" err="1">
                <a:solidFill>
                  <a:srgbClr val="10B981"/>
                </a:solidFill>
              </a:rPr>
              <a:t>is_confirmed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6057" y="3867912"/>
            <a:ext cx="4218769" cy="2450592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96057" y="3867912"/>
            <a:ext cx="4218769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50935" y="3904488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StudentGradeRecord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78374" y="4187951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• tabulation (FK-&gt;</a:t>
            </a:r>
            <a:r>
              <a:rPr sz="900" b="0" i="0" dirty="0" err="1"/>
              <a:t>CourseTabulation</a:t>
            </a:r>
            <a:r>
              <a:rPr sz="900" b="0" i="0" dirty="0"/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8374" y="444398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student (FK-&gt;Profile)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8374" y="470001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ct_marks, mid_marks, final_marks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8374" y="4956047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assign_marks, attendance_pct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8374" y="5212079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overall_score, grade_point, letter_grade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78374" y="5468112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NDEX: [tabulation, </a:t>
            </a:r>
            <a:r>
              <a:rPr sz="850" b="1" i="0" dirty="0" err="1">
                <a:solidFill>
                  <a:srgbClr val="10B981"/>
                </a:solidFill>
              </a:rPr>
              <a:t>student_id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78374" y="5724143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NDEX: [tabulation, </a:t>
            </a:r>
            <a:r>
              <a:rPr sz="850" b="1" i="0" dirty="0" err="1">
                <a:solidFill>
                  <a:srgbClr val="10B981"/>
                </a:solidFill>
              </a:rPr>
              <a:t>overall_score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78374" y="5980175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</a:t>
            </a:r>
            <a:r>
              <a:rPr sz="850" b="1" i="0" dirty="0" err="1">
                <a:solidFill>
                  <a:srgbClr val="10B981"/>
                </a:solidFill>
              </a:rPr>
              <a:t>is_manually_edited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8754" y="64747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25/37</a:t>
            </a:r>
          </a:p>
        </p:txBody>
      </p:sp>
      <p:pic>
        <p:nvPicPr>
          <p:cNvPr id="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it-IT" sz="3200" b="1" dirty="0"/>
              <a:t>Database Schema &amp; Composite Indexes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17767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07897" y="697733"/>
            <a:ext cx="46977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Resilient 5-provider chain with rate-limit </a:t>
            </a:r>
            <a:r>
              <a:rPr sz="1100" b="0" i="0" dirty="0" err="1">
                <a:solidFill>
                  <a:srgbClr val="818CF8"/>
                </a:solidFill>
              </a:rPr>
              <a:t>cooldowns</a:t>
            </a:r>
            <a:r>
              <a:rPr sz="1100" b="0" i="0" dirty="0">
                <a:solidFill>
                  <a:srgbClr val="818CF8"/>
                </a:solidFill>
              </a:rPr>
              <a:t> and 45s timeout budgets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444752"/>
            <a:ext cx="1701227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94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95" y="1700784"/>
            <a:ext cx="1701227" cy="457200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5794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Local Offline Vision
(Moondream2/Ollama)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1495" y="2157984"/>
            <a:ext cx="1701227" cy="1554480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6373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No internet required
800px LANCZOS JPEG75
~20s/page CPU-based
Best for offline mode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1320" y="1444752"/>
            <a:ext cx="1701227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75619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41320" y="1700784"/>
            <a:ext cx="1701227" cy="457200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75619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err="1"/>
              <a:t>Groq</a:t>
            </a:r>
            <a:r>
              <a:rPr sz="1000" b="1" i="0" dirty="0"/>
              <a:t> LPU
(Llama-3.3-70B)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41320" y="2157984"/>
            <a:ext cx="1701227" cy="1554480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96198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500+ tokens/sec LPU
Ultra-fast inference
Free: 6,000 TPM limit
HTTP 429 risk at 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11144" y="1444752"/>
            <a:ext cx="1701227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45443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11144" y="1700784"/>
            <a:ext cx="1701227" cy="457200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5443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OpenRouter
(Cloud Gateway)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11144" y="2157984"/>
            <a:ext cx="1701227" cy="1554480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66023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Access multiple LLMs
Unified API interface
Variable latency
Per-model rate limits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0969" y="1444752"/>
            <a:ext cx="1701227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15268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0969" y="1700784"/>
            <a:ext cx="1701227" cy="457200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15268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Google Gemini
(2.5 Flash/2.0 Flash)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0969" y="2157984"/>
            <a:ext cx="1701227" cy="1554480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35848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Multimodal vision support
Strong reasoning quality
Free: 15 RPM limit
429 at concurrent load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50794" y="1444752"/>
            <a:ext cx="1701227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85093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0794" y="1700784"/>
            <a:ext cx="1701227" cy="457200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85093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OpenAI
(GPT-4o Backup)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50794" y="2157984"/>
            <a:ext cx="1701227" cy="1554480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05672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Highest quality output
Best rubric evaluation
Highest cost per token
Fallback of last resort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94" y="3794760"/>
            <a:ext cx="857473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Rate-Limit Comparison: Free Tier vs Enterprise Tier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1494" y="4160520"/>
            <a:ext cx="1714947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8934" y="4197096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Provider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740" y="4160520"/>
            <a:ext cx="1234762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948179" y="419709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Free Tier RPM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89800" y="4160520"/>
            <a:ext cx="1234762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17240" y="419709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Free Tier TPM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58860" y="4160520"/>
            <a:ext cx="1234762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86300" y="419709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Tier 1 RPM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27922" y="4160520"/>
            <a:ext cx="1577751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55360" y="4197096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Tier 1 TPM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39971" y="4160520"/>
            <a:ext cx="1028968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67410" y="4197096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Est. Cost/Script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1494" y="4480560"/>
            <a:ext cx="1714947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98934" y="4507992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Gemini Flash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20740" y="4480560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948179" y="4507992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15 RPM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89800" y="4480560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217240" y="4507992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1M TPM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58860" y="4480560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486300" y="4507992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1,000+ RPM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27922" y="4480560"/>
            <a:ext cx="1577751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755360" y="4507992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4,000,000 TPM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39971" y="4480560"/>
            <a:ext cx="1028968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367410" y="4507992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$0.</a:t>
            </a:r>
            <a:r>
              <a:rPr lang="en-US" sz="900" b="0" i="0" dirty="0"/>
              <a:t>5</a:t>
            </a:r>
            <a:endParaRPr sz="900" b="0" i="0" dirty="0"/>
          </a:p>
        </p:txBody>
      </p:sp>
      <p:sp>
        <p:nvSpPr>
          <p:cNvPr id="61" name="Rectangle 60"/>
          <p:cNvSpPr/>
          <p:nvPr/>
        </p:nvSpPr>
        <p:spPr>
          <a:xfrm>
            <a:off x="171494" y="4828032"/>
            <a:ext cx="1714947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98934" y="4855464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Groq Llama-3.3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20740" y="4828032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948179" y="4855464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30 RPM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89800" y="4828032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217240" y="4855464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6,000 TPM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58860" y="4828032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486300" y="4855464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1,000+ RPM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27922" y="4828032"/>
            <a:ext cx="1577751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755360" y="4855464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500,000 TPM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39971" y="4828032"/>
            <a:ext cx="1028968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367410" y="4855464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$0.4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1494" y="5175504"/>
            <a:ext cx="1714947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98934" y="5202936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OpenAI</a:t>
            </a:r>
            <a:r>
              <a:rPr sz="900" b="0" i="0" dirty="0"/>
              <a:t> GPT-4o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20740" y="5175504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948179" y="520293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N/A Paid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189800" y="5175504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217240" y="520293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458860" y="5175504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486300" y="520293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10,000 RPM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27922" y="5175504"/>
            <a:ext cx="1577751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755360" y="5202936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2,000,000 TPM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39971" y="5175504"/>
            <a:ext cx="1028968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367410" y="5202936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$0.01+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93" y="553212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43F5E"/>
                </a:solidFill>
              </a:rPr>
              <a:t>HTTP 429 Cascade: Free tier exhausts -&gt; 120s cooldown -&gt; ProviderHealthTracker marks -&gt; Failover to next provider in chain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40092" y="6012180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AI Failover Engine Logs / Dashboard Screenshot 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26/37</a:t>
            </a:r>
          </a:p>
        </p:txBody>
      </p:sp>
      <p:pic>
        <p:nvPicPr>
          <p:cNvPr id="9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2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it-IT" sz="3200" b="1" dirty="0"/>
              <a:t>Multi-Provider AI Failover Engine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9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92841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02823" y="685800"/>
            <a:ext cx="33078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Three-tier testing: Unit -&gt; Integration -&gt; System/UAT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307592"/>
            <a:ext cx="2812512" cy="4788408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1495" y="1307592"/>
            <a:ext cx="281251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6373" y="1344168"/>
            <a:ext cx="27027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UNIT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91" y="173736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• Target: Individual model methods, view logic, service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91" y="2606039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Framework: Django TestCase + Python unittest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91" y="347472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Coverage: Auth, RBAC decorators, OBE grade calculation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91" y="434340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• Approach: Isolated DB test transactions rolled back after each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91" y="5212079"/>
            <a:ext cx="260671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Total Tests: 47 unit test cases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62362" y="1307592"/>
            <a:ext cx="2812512" cy="4788408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162362" y="1307592"/>
            <a:ext cx="281251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17240" y="1344168"/>
            <a:ext cx="27027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INTEGRATION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5258" y="173736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• Target: Cross-service data flows (OCR -&gt; Mapping -&gt; AI -&gt; </a:t>
            </a:r>
            <a:r>
              <a:rPr sz="1000" b="0" i="0" dirty="0" err="1"/>
              <a:t>EvalResult</a:t>
            </a:r>
            <a:r>
              <a:rPr sz="1000" b="0" i="0" dirty="0"/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5258" y="2606039"/>
            <a:ext cx="260671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Framework: Django Client + RequestFactory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5258" y="347472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Scenarios: Full AI wizard pipeline with mock LLM responses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5258" y="434340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Verification: DB state assertions after each pipeline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5258" y="5212079"/>
            <a:ext cx="260671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Total Tests: 28 integration test scenarios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3229" y="1307592"/>
            <a:ext cx="2812512" cy="4788408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53229" y="1307592"/>
            <a:ext cx="281251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08107" y="1344168"/>
            <a:ext cx="27027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SYSTEM / UAT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6125" y="173736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Target: End-to-end user workflows across all 4 actor portals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6125" y="2606039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Environment: Local Django dev server + real script uploads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6125" y="347472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Scenarios: 15 acceptance test cases per IUBAT OBE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6125" y="434340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Pass Criteria: All 27 use cases complete without system errors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6125" y="5212079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Result: 100% use-case coverage — zero critical failures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27/37</a:t>
            </a:r>
          </a:p>
        </p:txBody>
      </p:sp>
      <p:pic>
        <p:nvPicPr>
          <p:cNvPr id="3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Testing Strategy Overview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72800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38400" y="609600"/>
            <a:ext cx="441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47 unit tests across authentication, models, services, and OBE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51560"/>
            <a:ext cx="82317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8934" y="1088136"/>
            <a:ext cx="7682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Test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994669" y="1051560"/>
            <a:ext cx="617381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2108" y="1088136"/>
            <a:ext cx="5625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2050" y="1051560"/>
            <a:ext cx="548783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39489" y="1088136"/>
            <a:ext cx="4939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0833" y="1051560"/>
            <a:ext cx="675689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88272" y="1088136"/>
            <a:ext cx="67020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5" y="137160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8934" y="140817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4669" y="137160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2108" y="140817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Auth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12050" y="137160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39489" y="140817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0833" y="137160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88272" y="140817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Login valid ADMIN credentials -&gt; controller dashboard redirect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5" y="161848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8934" y="165506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4669" y="161848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2108" y="165506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Auth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12050" y="161848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39489" y="165506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60833" y="161848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88272" y="165506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Login invalid password -&gt; 401 Unauthorized, no session created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186537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98934" y="190195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669" y="186537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22108" y="190195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Auth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12050" y="186537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639489" y="190195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0833" y="186537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88272" y="190195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Student login before approval -&gt; blocked with pending message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5" y="211226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98934" y="214884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4669" y="211226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22108" y="214884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RBAC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12050" y="211226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639489" y="214884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60833" y="211226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88272" y="214884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/>
              <a:t>@</a:t>
            </a:r>
            <a:r>
              <a:rPr sz="850" b="0" i="0" dirty="0" err="1"/>
              <a:t>admin_required</a:t>
            </a:r>
            <a:r>
              <a:rPr sz="850" b="0" i="0" dirty="0"/>
              <a:t> decorator -&gt; non-admin redirected to login page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1495" y="235915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8934" y="239572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4669" y="235915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22108" y="239572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RBAC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12050" y="235915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639489" y="239572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60833" y="235915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188272" y="239572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@teacher_required returns 403 Forbidden for STUDENT-role user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5" y="260604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98934" y="264261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4669" y="260604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22108" y="264261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OTP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12050" y="260604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639489" y="264261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60833" y="260604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188272" y="264261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6-digit OTP generated -&gt; stored in DB -&gt; expires after 10 minutes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1495" y="285292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98934" y="288950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4669" y="285292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22108" y="288950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Models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612050" y="285292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639489" y="288950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0833" y="285292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188272" y="288950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StudentGradeRecord.compute_weighted_score() with CT=8, Mid=15, Final=40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71495" y="309981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98934" y="313639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669" y="309981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22108" y="313639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Models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12050" y="309981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639489" y="313639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60833" y="309981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188272" y="313639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EvaluationResult.get_percentage() returns correct decimal value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1495" y="334670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98934" y="338328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4669" y="334670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022108" y="338328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OBE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12050" y="334670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639489" y="338328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60833" y="334670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188272" y="338328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CO attainment = (sum obtained marks) / (sum max marks) x 100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71495" y="359359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8934" y="363016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4669" y="359359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022108" y="363016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Grade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12050" y="359359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639489" y="363016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60833" y="359359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188272" y="363016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Score &gt;= 80 -&gt; A+ -&gt; grade_point = 4.00 per IUBAT grading scale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71495" y="384048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98934" y="387705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4669" y="384048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022108" y="387705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Grade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12050" y="384048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639489" y="387705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160833" y="384048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188272" y="387705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Score 60-69 -&gt; B -&gt; grade_point = 3.00 per IUBAT scale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71495" y="408736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98934" y="412394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94669" y="408736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022108" y="412394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Service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12050" y="408736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639489" y="412394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160833" y="408736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2188272" y="412394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FinalizationService.purge_artifacts() deletes working draft images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71495" y="433425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98934" y="437083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94669" y="433425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22108" y="437083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Service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612050" y="433425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639489" y="437083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160833" y="433425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2188272" y="437083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EmailService.send_otp() dispatches in thread without blocking response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71495" y="458114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98934" y="46177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94669" y="458114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022108" y="461772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AI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612050" y="458114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639489" y="461772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160833" y="458114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188272" y="461772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ProviderHealthTracker.is_on_cooldown() returns True after 429 event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71495" y="482803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98934" y="486460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94669" y="482803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1022108" y="486460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12050" y="482803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639489" y="486460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160833" y="482803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2188272" y="486460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LocalOfflineVisionProvider.resize_lanczos() produces 800px JPEG image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71495" y="507492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98934" y="511149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94669" y="507492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022108" y="511149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OCR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612050" y="507492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639489" y="511149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160833" y="507492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2188272" y="511149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OCREngineManager falls back from Tesseract to EasyOCR on empty result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71495" y="532180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198934" y="535838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TC-UT-17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94669" y="532180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022108" y="535838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Map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612050" y="532180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1639489" y="535838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160833" y="532180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2188272" y="535838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Regex state machine detects 'Question 1' heading at line start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71495" y="556869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98934" y="560527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TC-UT-18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94669" y="556869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022108" y="560527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Map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612050" y="556869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639489" y="560527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160833" y="556869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2188272" y="560527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State machine propagates page to subsequent pages until new heading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71495" y="581558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198934" y="585216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TC-UT-19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94669" y="581558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1022108" y="585216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Excel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612050" y="581558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1639489" y="585216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160833" y="581558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2188272" y="585216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export_course_tabulation() generates 8-sheet .xlsx with openpyxl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71495" y="606247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198934" y="609904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/>
              <a:t>TC-UT-20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94669" y="606247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22108" y="609904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ysClr val="windowText" lastClr="000000"/>
                </a:solidFill>
              </a:rPr>
              <a:t>CSRF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612050" y="606247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1639489" y="609904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160833" y="606247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2188272" y="609904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POST without CSRF token -&gt; 403 Forbidden from Django middleware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76774" y="6324600"/>
            <a:ext cx="8814826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245372" y="6345936"/>
            <a:ext cx="86433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47 / 47 Unit Tests PASSED  |  0 Failures  |  0 Errors  |  Coverage: 89%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888754" y="6627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28/37</a:t>
            </a:r>
          </a:p>
        </p:txBody>
      </p:sp>
      <p:pic>
        <p:nvPicPr>
          <p:cNvPr id="17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0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Unit Testing Results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8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975202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88908" y="620379"/>
            <a:ext cx="39357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28 integration tests verifying cross-service data flows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51560"/>
            <a:ext cx="82317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8934" y="1088136"/>
            <a:ext cx="7682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Test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994669" y="1051560"/>
            <a:ext cx="583082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2108" y="1088136"/>
            <a:ext cx="5282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77751" y="1051560"/>
            <a:ext cx="758006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05190" y="1088136"/>
            <a:ext cx="75251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Integration Scenario Verified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1495" y="137160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8934" y="14173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/>
              <a:t>TC-IT-01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4669" y="137160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2108" y="141732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77751" y="137160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05190" y="141732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Full Auth -&gt; Dashboard pipeline: login POST -&gt; role check -&gt; redirect to correct portal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495" y="169164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8934" y="173736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4669" y="169164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2108" y="173736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77751" y="169164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05190" y="173736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Student approval: register -&gt; pending -&gt; controller approve -&gt; email dispatch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1495" y="201168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8934" y="205740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4669" y="201168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2108" y="205740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77751" y="201168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05190" y="205740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Script upload -&gt; 300 DPI preprocessing -&gt; working copy created in media/submission_working/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233172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8934" y="237743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669" y="233172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2108" y="237743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77751" y="233172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05190" y="237743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Manual Wizard: api_wizard_upload_pdf -&gt; page slicing only — ZERO AI triggered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1495" y="265176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8934" y="269747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4669" y="265176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2108" y="269747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77751" y="265176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05190" y="269747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OCR engine fallback: PyMuPDF (empty) -&gt; PyTesseract (empty) -&gt; EasyOCR executed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1495" y="297180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8934" y="30175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4669" y="297180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22108" y="301752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77751" y="297180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605190" y="301752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Boundary detection: regex identifies Q1, Q2 headings -&gt; creates QuestionMapping rows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1495" y="3291839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98934" y="333755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4669" y="3291839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22108" y="333755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77751" y="3291839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605190" y="333755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AI evaluation mock: rubric JSON sent to mock provider -&gt; EvaluationResult saved in DB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5" y="3611879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98934" y="365759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4669" y="3611879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22108" y="365759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77751" y="3611879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605190" y="365759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Provider failover: mock Groq returns 429 -&gt; cooldown -&gt; Gemini selected next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71495" y="393192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98934" y="397763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669" y="393192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22108" y="397763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77751" y="393192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605190" y="397763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Low confidence: AI returns conf=0.60 -&gt; requires_manual_review=True set on EvalResult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1495" y="425196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98934" y="429768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94669" y="425196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22108" y="429768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77751" y="425196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605190" y="429768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Teacher override: POST save_evaluation -&gt; EvaluationHistory audit row created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1495" y="457200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98934" y="46177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94669" y="457200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22108" y="461772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577751" y="457200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605190" y="461772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Finalization: finalize_submission() -&gt; certified PDF generated -&gt; working images purged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1495" y="489204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98934" y="493775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4669" y="489204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22108" y="493775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77751" y="489204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605190" y="493775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OBE tabulation sync: finalize triggers sync_submission_to_tabulation -&gt; grade updated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1495" y="5212079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98934" y="525779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94669" y="5212079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22108" y="525779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77751" y="5212079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605190" y="525779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Grade calc: CT=9, Mid=20, Final=42, Assign=8, Att=5 -&gt; total=84 -&gt; A -&gt; 3.75 GP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1495" y="553212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98934" y="557784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94669" y="553212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22108" y="557784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77751" y="553212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605190" y="557784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Excel export: export_course_tabulation() -&gt; 8 sheets in openpyxl Workbook object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1494" y="5989320"/>
            <a:ext cx="8814826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40092" y="6025896"/>
            <a:ext cx="86433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28 / 28 Integration Tests PASSED  |  0 Failures  |  All cross-service flows verified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29/37</a:t>
            </a:r>
          </a:p>
        </p:txBody>
      </p:sp>
      <p:pic>
        <p:nvPicPr>
          <p:cNvPr id="10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Integration Testing Results</a:t>
            </a:r>
          </a:p>
        </p:txBody>
      </p:sp>
      <p:pic>
        <p:nvPicPr>
          <p:cNvPr id="10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73987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0902" y="609600"/>
            <a:ext cx="44760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15 end-to-end acceptance tests validating all 4 actor portal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4" y="1051560"/>
            <a:ext cx="685979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8934" y="1088136"/>
            <a:ext cx="631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UAT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857473" y="1051560"/>
            <a:ext cx="891772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4912" y="1088136"/>
            <a:ext cx="8368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49246" y="1051560"/>
            <a:ext cx="562502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76685" y="1088136"/>
            <a:ext cx="507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748" y="1051560"/>
            <a:ext cx="6679852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39187" y="1088136"/>
            <a:ext cx="66524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Acceptance Scenario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4" y="137160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8934" y="141732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UAT-01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7473" y="137160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7" name="TextBox 16"/>
          <p:cNvSpPr txBox="1"/>
          <p:nvPr/>
        </p:nvSpPr>
        <p:spPr>
          <a:xfrm>
            <a:off x="884912" y="141732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49246" y="137160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9" name="TextBox 18"/>
          <p:cNvSpPr txBox="1"/>
          <p:nvPr/>
        </p:nvSpPr>
        <p:spPr>
          <a:xfrm>
            <a:off x="1776685" y="141732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748" y="137160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1" name="TextBox 20"/>
          <p:cNvSpPr txBox="1"/>
          <p:nvPr/>
        </p:nvSpPr>
        <p:spPr>
          <a:xfrm>
            <a:off x="2339187" y="141732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Login -&gt; setup College/School/</a:t>
            </a:r>
            <a:r>
              <a:rPr sz="900" b="0" i="0" dirty="0" err="1"/>
              <a:t>Dept</a:t>
            </a:r>
            <a:r>
              <a:rPr sz="900" b="0" i="0" dirty="0"/>
              <a:t>/Course hierarchy -&gt; verify 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4" y="169164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8934" y="173736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7473" y="169164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5" name="TextBox 24"/>
          <p:cNvSpPr txBox="1"/>
          <p:nvPr/>
        </p:nvSpPr>
        <p:spPr>
          <a:xfrm>
            <a:off x="884912" y="173736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49246" y="169164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7" name="TextBox 26"/>
          <p:cNvSpPr txBox="1"/>
          <p:nvPr/>
        </p:nvSpPr>
        <p:spPr>
          <a:xfrm>
            <a:off x="1776685" y="173736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748" y="169164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39187" y="173736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Upload exam routine PDF -&gt; AI extracts 12 exams -&gt; 1-click batch create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4" y="201168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98934" y="205740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7473" y="201168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3" name="TextBox 32"/>
          <p:cNvSpPr txBox="1"/>
          <p:nvPr/>
        </p:nvSpPr>
        <p:spPr>
          <a:xfrm>
            <a:off x="884912" y="205740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49246" y="201168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5" name="TextBox 34"/>
          <p:cNvSpPr txBox="1"/>
          <p:nvPr/>
        </p:nvSpPr>
        <p:spPr>
          <a:xfrm>
            <a:off x="1776685" y="205740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11748" y="201168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339187" y="205740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Approve pending student -&gt; student receives activation email notification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4" y="233172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98934" y="237743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7473" y="233172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1" name="TextBox 40"/>
          <p:cNvSpPr txBox="1"/>
          <p:nvPr/>
        </p:nvSpPr>
        <p:spPr>
          <a:xfrm>
            <a:off x="884912" y="237743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49246" y="233172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3" name="TextBox 42"/>
          <p:cNvSpPr txBox="1"/>
          <p:nvPr/>
        </p:nvSpPr>
        <p:spPr>
          <a:xfrm>
            <a:off x="1776685" y="237743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11748" y="233172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339187" y="237743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Configure Gemini API key -&gt; AI config saved -&gt; test evaluate response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1494" y="265176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8934" y="269747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7473" y="265176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9" name="TextBox 48"/>
          <p:cNvSpPr txBox="1"/>
          <p:nvPr/>
        </p:nvSpPr>
        <p:spPr>
          <a:xfrm>
            <a:off x="884912" y="269747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49246" y="265176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1" name="TextBox 50"/>
          <p:cNvSpPr txBox="1"/>
          <p:nvPr/>
        </p:nvSpPr>
        <p:spPr>
          <a:xfrm>
            <a:off x="1776685" y="269747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11748" y="265176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339187" y="269747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Author 10-question paper with CO/PO/Bloom taxonomy -&gt; save &amp; verify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4" y="297180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98934" y="301752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7473" y="297180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7" name="TextBox 56"/>
          <p:cNvSpPr txBox="1"/>
          <p:nvPr/>
        </p:nvSpPr>
        <p:spPr>
          <a:xfrm>
            <a:off x="884912" y="301752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49246" y="297180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9" name="TextBox 58"/>
          <p:cNvSpPr txBox="1"/>
          <p:nvPr/>
        </p:nvSpPr>
        <p:spPr>
          <a:xfrm>
            <a:off x="1776685" y="301752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11748" y="297180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339187" y="301752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Upload 5 student PDF scripts -&gt; 300 DPI processing -&gt; working copies ready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1494" y="329183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98934" y="333755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7473" y="329183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65" name="TextBox 64"/>
          <p:cNvSpPr txBox="1"/>
          <p:nvPr/>
        </p:nvSpPr>
        <p:spPr>
          <a:xfrm>
            <a:off x="884912" y="333755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49246" y="329183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67" name="TextBox 66"/>
          <p:cNvSpPr txBox="1"/>
          <p:nvPr/>
        </p:nvSpPr>
        <p:spPr>
          <a:xfrm>
            <a:off x="1776685" y="333755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11748" y="329183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339187" y="333755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Run AI Evaluation Wizard -&gt; OCR -&gt; mapping -&gt; AI eval -&gt; workbench opens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71494" y="361187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98934" y="365759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7473" y="361187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73" name="TextBox 72"/>
          <p:cNvSpPr txBox="1"/>
          <p:nvPr/>
        </p:nvSpPr>
        <p:spPr>
          <a:xfrm>
            <a:off x="884912" y="365759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749246" y="361187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75" name="TextBox 74"/>
          <p:cNvSpPr txBox="1"/>
          <p:nvPr/>
        </p:nvSpPr>
        <p:spPr>
          <a:xfrm>
            <a:off x="1776685" y="365759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311748" y="361187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339187" y="365759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Manual Grading Wizard -&gt; PDF slicing only -&gt; no AI -&gt; direct mark entry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1494" y="393192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98934" y="397763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7473" y="393192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1" name="TextBox 80"/>
          <p:cNvSpPr txBox="1"/>
          <p:nvPr/>
        </p:nvSpPr>
        <p:spPr>
          <a:xfrm>
            <a:off x="884912" y="397763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49246" y="393192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3" name="TextBox 82"/>
          <p:cNvSpPr txBox="1"/>
          <p:nvPr/>
        </p:nvSpPr>
        <p:spPr>
          <a:xfrm>
            <a:off x="1776685" y="397763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311748" y="393192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339187" y="397763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Split-screen workbench: view script, AI score, override marks, approve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71494" y="425196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8934" y="429768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7473" y="425196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9" name="TextBox 88"/>
          <p:cNvSpPr txBox="1"/>
          <p:nvPr/>
        </p:nvSpPr>
        <p:spPr>
          <a:xfrm>
            <a:off x="884912" y="429768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49246" y="425196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91" name="TextBox 90"/>
          <p:cNvSpPr txBox="1"/>
          <p:nvPr/>
        </p:nvSpPr>
        <p:spPr>
          <a:xfrm>
            <a:off x="1776685" y="429768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311748" y="425196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339187" y="429768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Finalize evaluation -&gt; certified PDF generated -&gt; student receives email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71494" y="457200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98934" y="461772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7473" y="457200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97" name="TextBox 96"/>
          <p:cNvSpPr txBox="1"/>
          <p:nvPr/>
        </p:nvSpPr>
        <p:spPr>
          <a:xfrm>
            <a:off x="884912" y="461772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749246" y="457200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99" name="TextBox 98"/>
          <p:cNvSpPr txBox="1"/>
          <p:nvPr/>
        </p:nvSpPr>
        <p:spPr>
          <a:xfrm>
            <a:off x="1776685" y="461772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311748" y="457200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339187" y="461772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OBE tabulation auto-populated -&gt; export 8-sheet Excel -&gt; verify 8 tabs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71494" y="489204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98934" y="493775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57473" y="489204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05" name="TextBox 104"/>
          <p:cNvSpPr txBox="1"/>
          <p:nvPr/>
        </p:nvSpPr>
        <p:spPr>
          <a:xfrm>
            <a:off x="884912" y="493775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Dept Head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749246" y="489204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07" name="TextBox 106"/>
          <p:cNvSpPr txBox="1"/>
          <p:nvPr/>
        </p:nvSpPr>
        <p:spPr>
          <a:xfrm>
            <a:off x="1776685" y="493775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311748" y="489204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2339187" y="493775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Login -&gt; view pass rates, faculty workload, pending tabulations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71494" y="521207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98934" y="525779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57473" y="521207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13" name="TextBox 112"/>
          <p:cNvSpPr txBox="1"/>
          <p:nvPr/>
        </p:nvSpPr>
        <p:spPr>
          <a:xfrm>
            <a:off x="884912" y="525779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Dept Head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749246" y="521207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15" name="TextBox 114"/>
          <p:cNvSpPr txBox="1"/>
          <p:nvPr/>
        </p:nvSpPr>
        <p:spPr>
          <a:xfrm>
            <a:off x="1776685" y="525779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311748" y="521207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2339187" y="525779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Audit course tabulation -&gt; CO/PO attainment matrix verified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71494" y="553212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98934" y="557784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57473" y="553212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1" name="TextBox 120"/>
          <p:cNvSpPr txBox="1"/>
          <p:nvPr/>
        </p:nvSpPr>
        <p:spPr>
          <a:xfrm>
            <a:off x="884912" y="557784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Student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749246" y="553212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3" name="TextBox 122"/>
          <p:cNvSpPr txBox="1"/>
          <p:nvPr/>
        </p:nvSpPr>
        <p:spPr>
          <a:xfrm>
            <a:off x="1776685" y="557784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311748" y="553212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339187" y="557784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Login -&gt; view question-wise marks, feedback, GPA on dashboard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71494" y="585215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7" name="TextBox 126"/>
          <p:cNvSpPr txBox="1"/>
          <p:nvPr/>
        </p:nvSpPr>
        <p:spPr>
          <a:xfrm>
            <a:off x="198934" y="589787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57473" y="585215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9" name="TextBox 128"/>
          <p:cNvSpPr txBox="1"/>
          <p:nvPr/>
        </p:nvSpPr>
        <p:spPr>
          <a:xfrm>
            <a:off x="884912" y="589787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0B981"/>
                </a:solidFill>
              </a:rPr>
              <a:t>Student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749246" y="585215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31" name="TextBox 130"/>
          <p:cNvSpPr txBox="1"/>
          <p:nvPr/>
        </p:nvSpPr>
        <p:spPr>
          <a:xfrm>
            <a:off x="1776685" y="589787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311748" y="585215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2339187" y="589787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Download certified PDF script -&gt; watermarked file verified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71494" y="6236208"/>
            <a:ext cx="8814826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240092" y="6272784"/>
            <a:ext cx="86433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15 / 15 UAT Cases PASSED  |  All 27 Use Cases Validated  |  Zero Critical Failures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30/37</a:t>
            </a:r>
          </a:p>
        </p:txBody>
      </p:sp>
      <p:pic>
        <p:nvPicPr>
          <p:cNvPr id="13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0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System / UAT Testing Results</a:t>
            </a:r>
          </a:p>
        </p:txBody>
      </p:sp>
      <p:pic>
        <p:nvPicPr>
          <p:cNvPr id="14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799000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/>
                </a:solidFill>
              </a:rPr>
              <a:t>Highlight</a:t>
            </a:r>
            <a:r>
              <a:rPr sz="900" b="0" i="1" dirty="0"/>
              <a:t>: Hero section with official title, 6 module </a:t>
            </a:r>
            <a:r>
              <a:rPr sz="900" b="0" i="1" dirty="0" smtClean="0"/>
              <a:t>cards</a:t>
            </a:r>
            <a:endParaRPr sz="900" b="0" i="1" dirty="0"/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31/37</a:t>
            </a: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Landing </a:t>
            </a:r>
            <a:r>
              <a:rPr lang="en-US" sz="3200" b="1" dirty="0" smtClean="0"/>
              <a:t>Page</a:t>
            </a:r>
            <a:endParaRPr lang="en-US" sz="3200" b="1" dirty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 descr="Q:\My Drive\Practicum\IntelliGrade\SS\Home 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86" y="1371600"/>
            <a:ext cx="7786931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7545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/>
                </a:solidFill>
              </a:rPr>
              <a:t>Highlight</a:t>
            </a:r>
            <a:r>
              <a:rPr sz="900" b="0" i="1" dirty="0" smtClean="0"/>
              <a:t>: </a:t>
            </a:r>
            <a:r>
              <a:rPr sz="900" b="0" i="1" dirty="0"/>
              <a:t>4-role modal selector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31/37</a:t>
            </a: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Landing Page — System Entry Portal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1" t="3171" r="4285" b="5074"/>
          <a:stretch/>
        </p:blipFill>
        <p:spPr bwMode="auto">
          <a:xfrm>
            <a:off x="1581150" y="762000"/>
            <a:ext cx="5962650" cy="549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94759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/>
                </a:solidFill>
              </a:rPr>
              <a:t>Highlight</a:t>
            </a:r>
            <a:r>
              <a:rPr sz="900" b="0" i="1" dirty="0"/>
              <a:t>: 6-metric card grid, AI routine scan button, student approval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32/37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-26264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Exam Controller Dashboard — Governance Portal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 descr="Q:\My Drive\Practicum\IntelliGrade\SS\Exam controller 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968" y="914400"/>
            <a:ext cx="7498232" cy="5299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6316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6000" y="652790"/>
            <a:ext cx="441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Side-by-side: scanned script image (left) </a:t>
            </a:r>
            <a:r>
              <a:rPr sz="1100" b="0" i="0" dirty="0" err="1">
                <a:solidFill>
                  <a:srgbClr val="818CF8"/>
                </a:solidFill>
              </a:rPr>
              <a:t>vs</a:t>
            </a:r>
            <a:r>
              <a:rPr sz="1100" b="0" i="0" dirty="0">
                <a:solidFill>
                  <a:srgbClr val="818CF8"/>
                </a:solidFill>
              </a:rPr>
              <a:t> rubric criteria + AI score (right)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92" y="3502152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Screenshot: /teacher/submission/{id}/workspace/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>
                    <a:lumMod val="75000"/>
                  </a:schemeClr>
                </a:solidFill>
              </a:rPr>
              <a:t>Highlight</a:t>
            </a:r>
            <a:r>
              <a:rPr sz="900" b="0" i="1" dirty="0"/>
              <a:t>: AI score panel, rubric criteria, confidence badge, override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34/37</a:t>
            </a: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-26264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Split-Screen Teacher Grading Workbench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523757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38400" y="881390"/>
            <a:ext cx="4648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Real-time aggregation: CT 10% + Mid 25% + Final 50% + Assign 10% + </a:t>
            </a:r>
            <a:r>
              <a:rPr sz="1100" b="0" i="0" dirty="0" err="1">
                <a:solidFill>
                  <a:srgbClr val="818CF8"/>
                </a:solidFill>
              </a:rPr>
              <a:t>Att</a:t>
            </a:r>
            <a:r>
              <a:rPr sz="1100" b="0" i="0" dirty="0">
                <a:solidFill>
                  <a:srgbClr val="818CF8"/>
                </a:solidFill>
              </a:rPr>
              <a:t> 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92" y="3502152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Screenshot: /teacher/exam/{id}/course-tabulation/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>
                    <a:lumMod val="75000"/>
                  </a:schemeClr>
                </a:solidFill>
              </a:rPr>
              <a:t>Highlight</a:t>
            </a:r>
            <a:r>
              <a:rPr sz="900" b="0" i="1" dirty="0"/>
              <a:t>: Grade table, CO/PO attainment matrix, 8-sheet Excel download button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35/37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49936"/>
            <a:ext cx="7791641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OBE Course Tabulation &amp; 8-Sheet Excel Export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487574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15755" y="905530"/>
            <a:ext cx="49263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Students view overall GPA, question-wise marks, CO/PO attainment, certified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92" y="3502152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Screenshot: /dashboard/student/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>
                    <a:lumMod val="75000"/>
                  </a:schemeClr>
                </a:solidFill>
              </a:rPr>
              <a:t>Highlight</a:t>
            </a:r>
            <a:r>
              <a:rPr sz="900" b="0" i="1" dirty="0"/>
              <a:t>: GPA card, course breakdown, question feedback, PDF download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36/37</a:t>
            </a: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49936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Student Transparency Portal — Academic Dashboard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810330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91440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76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20619" y="0"/>
            <a:ext cx="123476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14947" y="1005840"/>
            <a:ext cx="571420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92" y="1097280"/>
            <a:ext cx="548782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Key Project Achievements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89" y="1508760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  ✓  21 functional modules fully implemented and 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89" y="1984248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  ✓  27 use cases covered — 0 open critical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89" y="2459736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37 Functional + 17 Non-Functional Requirements satisfied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89" y="2935224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479 UFP / 536.48 AFP — large-scale enterprise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89" y="3410712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47 unit + 28 integration + 15 UAT tests — 100% pass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89" y="3886200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5-provider AI failover, 23-taxonomy OBE, 8-sheet Excel, certified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2220" y="1097280"/>
            <a:ext cx="32241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Future Research &amp;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0818" y="1508760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Celery + Redis: Async distributed OCR/AI workers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0818" y="1984248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GPU CUDA inference: 104x faster EasyOCR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0818" y="2459736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INT8 Quantized Moondream: on-device 0.3s/page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0818" y="2935224"/>
            <a:ext cx="31555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Token bucket rate limiter: eliminate 429 stalls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0818" y="3410712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pgvector RAG: historical mark calibration per teacher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0818" y="3886200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Mobile app: student script viewing on Android/iOS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94" y="4617720"/>
            <a:ext cx="8732508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4391" y="4709160"/>
            <a:ext cx="85747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/>
              <a:t>Academic References &amp;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91" y="5074920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[1] Django Documentation v5.2 — djangoproject.com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91" y="5367528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[2] IUBAT OBE Academic Policy &amp; Examination Regulations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91" y="5660136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[3] BAETE Accreditation Manual for Engineering Programs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91" y="5952744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[4] IFPUG Function Point Counting Practices Manual v4.3.1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4655" y="5074920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[5] Albrecht, A.J. (1979). Measuring Application Development Productivity. IBM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655" y="5367528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[6] EasyOCR — Jaided AI (2021). github.com/JaidedAI/EasyOCR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4655" y="5660136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[7] Google Gemini API Documentation — ai.google.dev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89" y="6446520"/>
            <a:ext cx="8437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Thank You  |  Questions Welcome</a:t>
            </a:r>
          </a:p>
        </p:txBody>
      </p:sp>
      <p:pic>
        <p:nvPicPr>
          <p:cNvPr id="3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-26264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Conclusion &amp; Future Work</a:t>
            </a:r>
          </a:p>
        </p:txBody>
      </p:sp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742485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791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 i="0" dirty="0">
                <a:effectLst/>
                <a:cs typeface="Times New Roman" panose="02020603050405020304" pitchFamily="18" charset="0"/>
              </a:rPr>
              <a:t>List here the reference list by following the Harvard referencing format  (Remove this line)</a:t>
            </a:r>
          </a:p>
          <a:p>
            <a:pPr algn="just">
              <a:buNone/>
            </a:pP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>
                <a:effectLst/>
                <a:cs typeface="Times New Roman" panose="02020603050405020304" pitchFamily="18" charset="0"/>
              </a:rPr>
              <a:t>Nasir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A.Y.,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Bature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U.I., Tahir, N.M.,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Babawuro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A.Y., Boniface, A. and Hassan, A.M., 2020. Arduino based gas leakage control and temperature monitoring system.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International Journal of Information and Communication Technology (IJ-ICT)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9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(3), pp.171-178.</a:t>
            </a:r>
          </a:p>
          <a:p>
            <a:pPr marL="0" indent="0" algn="just">
              <a:buNone/>
            </a:pP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>
                <a:effectLst/>
                <a:cs typeface="Times New Roman" panose="02020603050405020304" pitchFamily="18" charset="0"/>
              </a:rPr>
              <a:t>Qasim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H.H.,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Hamza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A.E., Ibrahim, H.H.,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Saeed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H.A. and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Hamzah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M.I., 2020. Design and implementation home security system and monitoring by using wireless sensor networks WSN/internet of things IOT.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International Journal of Electrical and Computer Engineering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10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(3), p.2617.</a:t>
            </a:r>
          </a:p>
          <a:p>
            <a:pPr marL="0" indent="0" algn="just">
              <a:buNone/>
            </a:pP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>
                <a:effectLst/>
                <a:cs typeface="Times New Roman" panose="02020603050405020304" pitchFamily="18" charset="0"/>
              </a:rPr>
              <a:t>Saxena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 and Pal, R., 2020. IoT Based Security and Controlled Smart Home Automation System Using GSM.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International Journal of Research in Engineering, Science and Management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3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(8), pp.445-448.</a:t>
            </a:r>
          </a:p>
          <a:p>
            <a:pPr marL="0" indent="0" algn="just">
              <a:buNone/>
            </a:pPr>
            <a:endParaRPr lang="en-US" sz="1800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Place Thesis Title Here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5638800"/>
            <a:ext cx="7772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cs typeface="Times New Roman" panose="02020603050405020304" pitchFamily="18" charset="0"/>
              </a:rPr>
              <a:t>NOTE: 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Please consult with your supervisor before and after preparing the Practicum Final Defense presentation slides</a:t>
            </a:r>
            <a:endParaRPr lang="en-US" sz="2400" b="1" dirty="0">
              <a:solidFill>
                <a:schemeClr val="accent3">
                  <a:lumMod val="50000"/>
                </a:schemeClr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1383B98D-F20F-4774-A68C-0357B8E78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362200"/>
            <a:ext cx="6425184" cy="9144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Forte" panose="03060902040502070203" pitchFamily="66" charset="0"/>
              </a:rPr>
              <a:t>Any Questions ?</a:t>
            </a:r>
          </a:p>
        </p:txBody>
      </p:sp>
    </p:spTree>
    <p:extLst>
      <p:ext uri="{BB962C8B-B14F-4D97-AF65-F5344CB8AC3E}">
        <p14:creationId xmlns:p14="http://schemas.microsoft.com/office/powerpoint/2010/main" val="9727820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0" y="2819400"/>
            <a:ext cx="6172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b="0" dirty="0">
                <a:latin typeface="Forte" pitchFamily="66" charset="0"/>
              </a:rPr>
              <a:t>Thank</a:t>
            </a:r>
            <a:r>
              <a:rPr lang="en-US" sz="3600" b="0" dirty="0">
                <a:latin typeface="Rage Italic" pitchFamily="66" charset="0"/>
              </a:rPr>
              <a:t> </a:t>
            </a:r>
            <a:r>
              <a:rPr lang="en-US" sz="3600" b="0" dirty="0">
                <a:latin typeface="Forte" pitchFamily="66" charset="0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2427</TotalTime>
  <Words>4220</Words>
  <Application>Microsoft Office PowerPoint</Application>
  <PresentationFormat>On-screen Show (4:3)</PresentationFormat>
  <Paragraphs>874</Paragraphs>
  <Slides>40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 Prepared for:  Practicum Defense Committee   Department of  Computer Science and Engineering </vt:lpstr>
      <vt:lpstr>Contents</vt:lpstr>
      <vt:lpstr>                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Any Questions ?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User</cp:lastModifiedBy>
  <cp:revision>254</cp:revision>
  <dcterms:created xsi:type="dcterms:W3CDTF">2021-05-07T10:10:49Z</dcterms:created>
  <dcterms:modified xsi:type="dcterms:W3CDTF">2026-09-01T02:11:43Z</dcterms:modified>
</cp:coreProperties>
</file>