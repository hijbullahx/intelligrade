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45"/>
  </p:notesMasterIdLst>
  <p:sldIdLst>
    <p:sldId id="256" r:id="rId2"/>
    <p:sldId id="262" r:id="rId3"/>
    <p:sldId id="325" r:id="rId4"/>
    <p:sldId id="326" r:id="rId5"/>
    <p:sldId id="257" r:id="rId6"/>
    <p:sldId id="286" r:id="rId7"/>
    <p:sldId id="287" r:id="rId8"/>
    <p:sldId id="288" r:id="rId9"/>
    <p:sldId id="289" r:id="rId10"/>
    <p:sldId id="290" r:id="rId11"/>
    <p:sldId id="291" r:id="rId12"/>
    <p:sldId id="292" r:id="rId13"/>
    <p:sldId id="294" r:id="rId14"/>
    <p:sldId id="295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5" r:id="rId23"/>
    <p:sldId id="306" r:id="rId24"/>
    <p:sldId id="307" r:id="rId25"/>
    <p:sldId id="308" r:id="rId26"/>
    <p:sldId id="309" r:id="rId27"/>
    <p:sldId id="310" r:id="rId28"/>
    <p:sldId id="327" r:id="rId29"/>
    <p:sldId id="311" r:id="rId30"/>
    <p:sldId id="312" r:id="rId31"/>
    <p:sldId id="313" r:id="rId32"/>
    <p:sldId id="314" r:id="rId33"/>
    <p:sldId id="315" r:id="rId34"/>
    <p:sldId id="316" r:id="rId35"/>
    <p:sldId id="324" r:id="rId36"/>
    <p:sldId id="317" r:id="rId37"/>
    <p:sldId id="319" r:id="rId38"/>
    <p:sldId id="320" r:id="rId39"/>
    <p:sldId id="321" r:id="rId40"/>
    <p:sldId id="322" r:id="rId41"/>
    <p:sldId id="274" r:id="rId42"/>
    <p:sldId id="283" r:id="rId43"/>
    <p:sldId id="275" r:id="rId4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2710" autoAdjust="0"/>
    <p:restoredTop sz="99071" autoAdjust="0"/>
  </p:normalViewPr>
  <p:slideViewPr>
    <p:cSldViewPr>
      <p:cViewPr varScale="1">
        <p:scale>
          <a:sx n="91" d="100"/>
          <a:sy n="91" d="100"/>
        </p:scale>
        <p:origin x="-114" y="-5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A85DC-018B-4F1D-9BCC-BA10FDA96A23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7B5672-ADE6-4DA2-A2C7-8376839EE4B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38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7B5672-ADE6-4DA2-A2C7-8376839EE4B2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78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4B66D-A5CE-42A1-9C05-46FA3E94CC3F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3516B-352B-4793-B7C4-6C06A4F4800D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6EF37-A94C-4534-A2B1-CC2022CDC647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423B4-94AB-4286-8811-583146B7BAD5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A0EDA-E9E5-48B8-905D-8AC44EBBC9FD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50185-9017-4836-A92F-BB05BFBC62F1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C0F54A-25BC-482D-8D56-0755565FF8F0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AC85E-12E0-4562-8829-CBECA72C9894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00E6C-C80E-4CD4-82EA-A20BF1A29307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28D4A-0135-440A-97ED-D0FA805DB767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E3F86-EE01-4EA4-B63B-715E83139625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3F5DE8-46B7-43C6-92B6-780BCD9A2D43}" type="datetime2">
              <a:rPr lang="en-US" smtClean="0"/>
              <a:pPr/>
              <a:t>Friday, September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lhadiexpress.com.bd/" TargetMode="External"/><Relationship Id="rId2" Type="http://schemas.openxmlformats.org/officeDocument/2006/relationships/hyperlink" Target="mailto:info@alhadiexpress.com.bd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helplinehellonaogaon.com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hyperlink" Target="https://iubat-smartlibrary-frontend.onrender.com/" TargetMode="External"/><Relationship Id="rId5" Type="http://schemas.openxmlformats.org/officeDocument/2006/relationships/image" Target="../media/image5.png"/><Relationship Id="rId10" Type="http://schemas.openxmlformats.org/officeDocument/2006/relationships/image" Target="../media/image8.png"/><Relationship Id="rId4" Type="http://schemas.openxmlformats.org/officeDocument/2006/relationships/hyperlink" Target="https://www.hijbullah.me/" TargetMode="External"/><Relationship Id="rId9" Type="http://schemas.openxmlformats.org/officeDocument/2006/relationships/hyperlink" Target="https://hijbullahml.streamlit.app/Bangladesh_Traffic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838200" y="2514600"/>
            <a:ext cx="7620000" cy="18288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dirty="0">
                <a:latin typeface="Times New Roman" pitchFamily="18" charset="0"/>
                <a:cs typeface="Times New Roman" pitchFamily="18" charset="0"/>
              </a:rPr>
            </a:br>
            <a:r>
              <a:rPr lang="en-US" sz="27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Prepared for: </a:t>
            </a:r>
            <a:r>
              <a:rPr lang="en-US" sz="27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27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Practicum Defense Committee  </a:t>
            </a:r>
            <a:br>
              <a:rPr lang="en-US" sz="2200" b="1" dirty="0">
                <a:latin typeface="Times New Roman" pitchFamily="18" charset="0"/>
                <a:cs typeface="Times New Roman" pitchFamily="18" charset="0"/>
              </a:rPr>
            </a:b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Department of  Computer Science and Engineering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10" name="WordArt 5"/>
          <p:cNvSpPr>
            <a:spLocks noChangeArrowheads="1" noChangeShapeType="1" noTextEdit="1"/>
          </p:cNvSpPr>
          <p:nvPr/>
        </p:nvSpPr>
        <p:spPr bwMode="auto">
          <a:xfrm>
            <a:off x="744583" y="321276"/>
            <a:ext cx="7683137" cy="26778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1200" b="1" kern="10" spc="240" dirty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latin typeface="Arial Narrow"/>
              </a:rPr>
              <a:t>IUBAT–INTERNATIONAL </a:t>
            </a:r>
            <a:r>
              <a:rPr lang="en-US" sz="1200" b="1" kern="10" spc="240" dirty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effectLst/>
                <a:latin typeface="Arial Narrow"/>
              </a:rPr>
              <a:t>UNIVERSITY OF BUSINESS AGRICULTURE AND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4200" y="713601"/>
            <a:ext cx="29633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i="1" dirty="0">
                <a:solidFill>
                  <a:srgbClr val="008000"/>
                </a:solidFill>
                <a:latin typeface="Arial" pitchFamily="34" charset="0"/>
                <a:ea typeface="Times New Roman" pitchFamily="18" charset="0"/>
                <a:cs typeface="Times New Roman" pitchFamily="18" charset="0"/>
              </a:rPr>
              <a:t>Founded 1991 by Md. Alimullah Miyan</a:t>
            </a:r>
            <a:endParaRPr lang="en-US" sz="11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6200" y="15240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Rectangle 13"/>
          <p:cNvSpPr/>
          <p:nvPr/>
        </p:nvSpPr>
        <p:spPr>
          <a:xfrm>
            <a:off x="685800" y="1037656"/>
            <a:ext cx="7848600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 err="1">
                <a:latin typeface="Times New Roman" pitchFamily="18" charset="0"/>
                <a:cs typeface="Times New Roman" pitchFamily="18" charset="0"/>
              </a:rPr>
              <a:t>IntelliGrade</a:t>
            </a:r>
            <a:endParaRPr lang="en-US" sz="2800" b="1" dirty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An End-to-End Outcome-Based Examination Management
and Intelligent Script Evaluation Ecosystem
for Higher Education Institutions</a:t>
            </a:r>
          </a:p>
          <a:p>
            <a:pPr algn="ctr"/>
            <a:endParaRPr lang="en-US" sz="28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895600" y="2209800"/>
            <a:ext cx="39180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u="sng" dirty="0">
                <a:latin typeface="Times New Roman" pitchFamily="18" charset="0"/>
                <a:cs typeface="Times New Roman" pitchFamily="18" charset="0"/>
              </a:rPr>
              <a:t>Course Code: Practicum CSC 490</a:t>
            </a:r>
            <a:endParaRPr lang="en-US" sz="2000" dirty="0"/>
          </a:p>
        </p:txBody>
      </p:sp>
      <p:sp>
        <p:nvSpPr>
          <p:cNvPr id="18" name="Rectangle 17"/>
          <p:cNvSpPr/>
          <p:nvPr/>
        </p:nvSpPr>
        <p:spPr>
          <a:xfrm>
            <a:off x="4267200" y="4724400"/>
            <a:ext cx="48006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>
                <a:latin typeface="Times New Roman" pitchFamily="18" charset="0"/>
                <a:cs typeface="Times New Roman" pitchFamily="18" charset="0"/>
              </a:rPr>
              <a:t>Prepared by: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Md. Taher Bin Omar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Hijbullah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22303142</a:t>
            </a:r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9812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7" name="Rectangle 16"/>
          <p:cNvSpPr/>
          <p:nvPr/>
        </p:nvSpPr>
        <p:spPr>
          <a:xfrm>
            <a:off x="152400" y="4724400"/>
            <a:ext cx="35052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>
                <a:latin typeface="Times New Roman" pitchFamily="18" charset="0"/>
                <a:cs typeface="Times New Roman" pitchFamily="18" charset="0"/>
              </a:rPr>
              <a:t>Supervised by: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Drs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Ferdaus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Anam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Jibon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Associate Professor </a:t>
            </a:r>
          </a:p>
        </p:txBody>
      </p:sp>
      <p:pic>
        <p:nvPicPr>
          <p:cNvPr id="19" name="Picture 18" descr="Logo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9838" y="3733800"/>
            <a:ext cx="457200" cy="470535"/>
          </a:xfrm>
          <a:prstGeom prst="rect">
            <a:avLst/>
          </a:prstGeom>
          <a:noFill/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BB852D0C-EAEE-4315-89D6-8ED848E8BF0D}"/>
              </a:ext>
            </a:extLst>
          </p:cNvPr>
          <p:cNvSpPr txBox="1"/>
          <p:nvPr/>
        </p:nvSpPr>
        <p:spPr>
          <a:xfrm>
            <a:off x="1905000" y="6182618"/>
            <a:ext cx="5181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 August 3</a:t>
            </a:r>
            <a:r>
              <a:rPr lang="en-US" sz="10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sz="10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2026  |  IUBAT, Dhaka, Bangladesh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289"/>
          <p:cNvSpPr/>
          <p:nvPr/>
        </p:nvSpPr>
        <p:spPr>
          <a:xfrm>
            <a:off x="1194812" y="838200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1" name="TextBox 290"/>
          <p:cNvSpPr txBox="1"/>
          <p:nvPr/>
        </p:nvSpPr>
        <p:spPr>
          <a:xfrm>
            <a:off x="1267965" y="903149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latin typeface="Times New Roman" pitchFamily="18" charset="0"/>
                <a:cs typeface="Times New Roman" pitchFamily="18" charset="0"/>
              </a:rPr>
              <a:t>Table of Contents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7924800" cy="457200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Contents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4858512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ockwell" pitchFamily="18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ockwell" pitchFamily="18" charset="0"/>
              <a:ea typeface="+mn-ea"/>
              <a:cs typeface="+mn-cs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993646" y="1000804"/>
            <a:ext cx="523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535" y="6217920"/>
            <a:ext cx="2072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89192" y="108813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</a:rPr>
              <a:t>Function Point (FP) Calculation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68824" y="6217920"/>
            <a:ext cx="1739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37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194813" y="1166687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267966" y="1231636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latin typeface="Times New Roman" pitchFamily="18" charset="0"/>
                <a:cs typeface="Times New Roman" pitchFamily="18" charset="0"/>
              </a:rPr>
              <a:t>Table of Contents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94813" y="1468439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267966" y="1533388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latin typeface="Times New Roman" pitchFamily="18" charset="0"/>
                <a:cs typeface="Times New Roman" pitchFamily="18" charset="0"/>
              </a:rPr>
              <a:t>Problem Statement &amp; Overview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74191" y="1612210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04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94813" y="1770190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267966" y="1835139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Objectives, Scope &amp; Stakeholders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74191" y="1913963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05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194813" y="2071943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267966" y="2136892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System Architecture Overview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74191" y="2215715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06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194813" y="2373695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1267966" y="2438644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21-Module System Catalog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4191" y="2517467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07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94813" y="2675447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1267966" y="2740396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Use Case Diagram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4191" y="2819219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08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194813" y="2977199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267966" y="3042148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Actor Use Case Inventory (27 UCs)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74191" y="3120971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09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194813" y="3278951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267966" y="3343900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Activity Diagram: AI Pipeline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74191" y="3422723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10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94813" y="3580703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1267966" y="3645652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Activity Diagram: Manual Wizard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74191" y="3724475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1194813" y="3882455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267966" y="3947404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Swimlane Diagram (5 Lanes)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4191" y="4026227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12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194813" y="4184207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1267966" y="4249156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Sequence Diagram: AI Wizard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4191" y="4327978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94813" y="4485958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1267966" y="4550907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Sequence Diagram: Student Portal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74191" y="4629731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14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194813" y="4787711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1267966" y="4852660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Class Diagram: Core Domain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774191" y="4931483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15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194813" y="5089463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1267966" y="5154412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Class Diagram: AI Engine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4191" y="5233235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94813" y="5391215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1267966" y="5456164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Entity-Relationship Diagram (ERD)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4191" y="5534987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17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194813" y="5692967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1267966" y="5757916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latin typeface="Times New Roman" pitchFamily="18" charset="0"/>
                <a:cs typeface="Times New Roman" pitchFamily="18" charset="0"/>
              </a:rPr>
              <a:t>Data Flow Diagram: Level 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74191" y="5836739"/>
            <a:ext cx="4105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18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194813" y="5994719"/>
            <a:ext cx="2588961" cy="4315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1267966" y="6059668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Data Flow Diagram: Level 1 (System)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5334000" y="838200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3" name="TextBox 292"/>
          <p:cNvSpPr txBox="1"/>
          <p:nvPr/>
        </p:nvSpPr>
        <p:spPr>
          <a:xfrm>
            <a:off x="5455919" y="903149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>
                <a:latin typeface="Times New Roman" pitchFamily="18" charset="0"/>
                <a:cs typeface="Times New Roman" pitchFamily="18" charset="0"/>
              </a:rPr>
              <a:t>Function Point (FP) Calculation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5334001" y="1166687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5" name="TextBox 294"/>
          <p:cNvSpPr txBox="1"/>
          <p:nvPr/>
        </p:nvSpPr>
        <p:spPr>
          <a:xfrm>
            <a:off x="5407154" y="1231636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/>
              <a:t>Functional Requirements (FR 01-20)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5334001" y="1468439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7" name="TextBox 296"/>
          <p:cNvSpPr txBox="1"/>
          <p:nvPr/>
        </p:nvSpPr>
        <p:spPr>
          <a:xfrm>
            <a:off x="5407154" y="1533388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latin typeface="Times New Roman" pitchFamily="18" charset="0"/>
                <a:cs typeface="Times New Roman" pitchFamily="18" charset="0"/>
              </a:rPr>
              <a:t>Problem Statement &amp; Overview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5334001" y="1770190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9" name="TextBox 298"/>
          <p:cNvSpPr txBox="1"/>
          <p:nvPr/>
        </p:nvSpPr>
        <p:spPr>
          <a:xfrm>
            <a:off x="5407154" y="1835139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Objectives, Scope &amp; Stakeholders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5334001" y="2071943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1" name="TextBox 300"/>
          <p:cNvSpPr txBox="1"/>
          <p:nvPr/>
        </p:nvSpPr>
        <p:spPr>
          <a:xfrm>
            <a:off x="5407154" y="2136892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System Architecture Overview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5334001" y="2373695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3" name="TextBox 302"/>
          <p:cNvSpPr txBox="1"/>
          <p:nvPr/>
        </p:nvSpPr>
        <p:spPr>
          <a:xfrm>
            <a:off x="5407154" y="2438644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21-Module System Catalog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5334001" y="2675447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5" name="TextBox 304"/>
          <p:cNvSpPr txBox="1"/>
          <p:nvPr/>
        </p:nvSpPr>
        <p:spPr>
          <a:xfrm>
            <a:off x="5407154" y="2740396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Use Case Diagram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5334001" y="2977199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7" name="TextBox 306"/>
          <p:cNvSpPr txBox="1"/>
          <p:nvPr/>
        </p:nvSpPr>
        <p:spPr>
          <a:xfrm>
            <a:off x="5407154" y="3042148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Actor Use Case Inventory (27 UCs)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334001" y="3278951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9" name="TextBox 308"/>
          <p:cNvSpPr txBox="1"/>
          <p:nvPr/>
        </p:nvSpPr>
        <p:spPr>
          <a:xfrm>
            <a:off x="5407154" y="3343900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Activity Diagram: AI Pipeline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334001" y="3580703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11" name="TextBox 310"/>
          <p:cNvSpPr txBox="1"/>
          <p:nvPr/>
        </p:nvSpPr>
        <p:spPr>
          <a:xfrm>
            <a:off x="5407154" y="3645652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Activity Diagram: Manual Wizard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334001" y="3882455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13" name="TextBox 312"/>
          <p:cNvSpPr txBox="1"/>
          <p:nvPr/>
        </p:nvSpPr>
        <p:spPr>
          <a:xfrm>
            <a:off x="5407154" y="3947404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Swimlane Diagram (5 Lanes)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334001" y="4184207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15" name="TextBox 314"/>
          <p:cNvSpPr txBox="1"/>
          <p:nvPr/>
        </p:nvSpPr>
        <p:spPr>
          <a:xfrm>
            <a:off x="5407154" y="4249156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Sequence Diagram: AI Wizard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334001" y="4485958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17" name="TextBox 316"/>
          <p:cNvSpPr txBox="1"/>
          <p:nvPr/>
        </p:nvSpPr>
        <p:spPr>
          <a:xfrm>
            <a:off x="5407154" y="4550907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Sequence Diagram: Student Portal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334001" y="4787711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19" name="TextBox 318"/>
          <p:cNvSpPr txBox="1"/>
          <p:nvPr/>
        </p:nvSpPr>
        <p:spPr>
          <a:xfrm>
            <a:off x="5407154" y="4852660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Class Diagram: Core Domain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334001" y="5089463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21" name="TextBox 320"/>
          <p:cNvSpPr txBox="1"/>
          <p:nvPr/>
        </p:nvSpPr>
        <p:spPr>
          <a:xfrm>
            <a:off x="5407154" y="5154412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Class Diagram: AI Engine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5334001" y="5391215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23" name="TextBox 322"/>
          <p:cNvSpPr txBox="1"/>
          <p:nvPr/>
        </p:nvSpPr>
        <p:spPr>
          <a:xfrm>
            <a:off x="5407154" y="5456164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Entity-Relationship Diagram (ERD)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334001" y="5692967"/>
            <a:ext cx="2588961" cy="544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25" name="TextBox 324"/>
          <p:cNvSpPr txBox="1"/>
          <p:nvPr/>
        </p:nvSpPr>
        <p:spPr>
          <a:xfrm>
            <a:off x="5407154" y="5757916"/>
            <a:ext cx="254508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Data Flow Diagram: Level 0 (Context)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5382767" y="5994719"/>
            <a:ext cx="2588961" cy="4315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27" name="TextBox 326"/>
          <p:cNvSpPr txBox="1"/>
          <p:nvPr/>
        </p:nvSpPr>
        <p:spPr>
          <a:xfrm>
            <a:off x="5407154" y="6059668"/>
            <a:ext cx="25450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latin typeface="Times New Roman" pitchFamily="18" charset="0"/>
                <a:cs typeface="Times New Roman" pitchFamily="18" charset="0"/>
              </a:rPr>
              <a:t>Data Flow Diagram: Level 1 (System)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0" y="868680"/>
            <a:ext cx="914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HOSTING 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76200" y="3397061"/>
            <a:ext cx="92202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/>
              <a:t>
</a:t>
            </a:r>
            <a:r>
              <a:rPr lang="en-US" sz="1100" dirty="0">
                <a:hlinkClick r:id="rId2"/>
              </a:rPr>
              <a:t>info@alhadiexpress.com.bd</a:t>
            </a:r>
            <a:r>
              <a:rPr lang="en-US" sz="1100" dirty="0"/>
              <a:t> | </a:t>
            </a:r>
            <a:r>
              <a:rPr lang="en-US" sz="1100" dirty="0">
                <a:hlinkClick r:id="rId3"/>
              </a:rPr>
              <a:t>AL </a:t>
            </a:r>
            <a:r>
              <a:rPr lang="en-US" sz="1100" dirty="0" err="1">
                <a:hlinkClick r:id="rId3"/>
              </a:rPr>
              <a:t>Hadi</a:t>
            </a:r>
            <a:r>
              <a:rPr lang="en-US" sz="1100" dirty="0">
                <a:hlinkClick r:id="rId3"/>
              </a:rPr>
              <a:t> Enterprise | Home</a:t>
            </a:r>
            <a:endParaRPr lang="en-US" sz="1100" dirty="0"/>
          </a:p>
          <a:p>
            <a:pPr algn="ctr"/>
            <a:r>
              <a:rPr sz="1100" b="0" i="0" dirty="0"/>
              <a:t>
</a:t>
            </a:r>
            <a:r>
              <a:rPr lang="en-US" sz="1100" dirty="0"/>
              <a:t>Plot 6 (6th Floor), Road 1/A, Sector 17, </a:t>
            </a:r>
            <a:r>
              <a:rPr lang="en-US" sz="1100" dirty="0" err="1"/>
              <a:t>Uttara</a:t>
            </a:r>
            <a:r>
              <a:rPr lang="en-US" sz="1100" dirty="0"/>
              <a:t> South, Dhaka 1230, Bangladesh.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335" y="4810125"/>
            <a:ext cx="4023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INTERNSHIP DETAILS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335" y="5120640"/>
            <a:ext cx="402336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/>
              <a:t>Role:      Software Engineer Intern 
Duration:  </a:t>
            </a:r>
            <a:r>
              <a:rPr lang="en-US" sz="1100" b="0" i="0" dirty="0"/>
              <a:t>01/06/2026 </a:t>
            </a:r>
            <a:r>
              <a:rPr sz="1100" b="0" i="0" dirty="0"/>
              <a:t>— </a:t>
            </a:r>
            <a:r>
              <a:rPr lang="en-US" sz="1100" b="0" i="0" dirty="0"/>
              <a:t>30/09/</a:t>
            </a:r>
            <a:r>
              <a:rPr sz="1100" b="0" i="0" dirty="0"/>
              <a:t>2026
Course:    CSC 490
Supervisor: </a:t>
            </a:r>
            <a:r>
              <a:rPr lang="en-US" sz="1100" b="0" i="0" dirty="0"/>
              <a:t>Md. </a:t>
            </a:r>
            <a:r>
              <a:rPr lang="en-US" sz="1100" b="0" i="0" dirty="0" err="1"/>
              <a:t>Kawsar</a:t>
            </a:r>
            <a:r>
              <a:rPr lang="en-US" sz="1100" b="0" i="0" dirty="0"/>
              <a:t> </a:t>
            </a:r>
            <a:r>
              <a:rPr lang="en-US" sz="1100" b="0" i="0" dirty="0" err="1"/>
              <a:t>Uddin</a:t>
            </a:r>
            <a:r>
              <a:rPr sz="1100" b="0" i="0" dirty="0"/>
              <a:t>
           </a:t>
            </a:r>
            <a:r>
              <a:rPr lang="en-US" sz="1100" b="0" i="0" dirty="0"/>
              <a:t>Senior Soft. Engineer</a:t>
            </a:r>
            <a:r>
              <a:rPr sz="1100" b="0" i="0" dirty="0"/>
              <a:t>, </a:t>
            </a:r>
            <a:r>
              <a:rPr lang="en-US" sz="1100" b="0" i="0" dirty="0"/>
              <a:t>Al-</a:t>
            </a:r>
            <a:r>
              <a:rPr lang="en-US" sz="1100" b="0" i="0" dirty="0" err="1"/>
              <a:t>Hadi</a:t>
            </a:r>
            <a:r>
              <a:rPr lang="en-US" sz="1100" b="0" i="0" dirty="0"/>
              <a:t> Enterprise</a:t>
            </a:r>
            <a:endParaRPr sz="1100" b="0" i="0" dirty="0"/>
          </a:p>
        </p:txBody>
      </p:sp>
      <p:sp>
        <p:nvSpPr>
          <p:cNvPr id="13" name="TextBox 12"/>
          <p:cNvSpPr txBox="1"/>
          <p:nvPr/>
        </p:nvSpPr>
        <p:spPr>
          <a:xfrm>
            <a:off x="4937760" y="4800600"/>
            <a:ext cx="4206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PROJECT 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5120640"/>
            <a:ext cx="420624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 dirty="0" err="1"/>
              <a:t>IntelliGrade</a:t>
            </a:r>
            <a:r>
              <a:rPr sz="1100" b="0" i="0" dirty="0"/>
              <a:t> — An End-to-End Outcome-Based
Examination Management and Intelligent Script
Evaluation Ecosystem for Higher Education
Target Institution: IUBAT
Accreditation Standard: BAETE OBE
</a:t>
            </a:r>
          </a:p>
        </p:txBody>
      </p:sp>
      <p:pic>
        <p:nvPicPr>
          <p:cNvPr id="1026" name="Picture 2" descr="Q:\My Drive\Practicum\IntelliGrade\Presentation and Report\presentation materials\Alhadi_logo_dark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219200"/>
            <a:ext cx="3962400" cy="1830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03886" y="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09016" y="84794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Internship Organization</a:t>
            </a:r>
          </a:p>
        </p:txBody>
      </p:sp>
      <p:pic>
        <p:nvPicPr>
          <p:cNvPr id="20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8660321" y="16032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3886" y="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9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09016" y="84794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My Portfolio</a:t>
            </a:r>
          </a:p>
        </p:txBody>
      </p:sp>
      <p:pic>
        <p:nvPicPr>
          <p:cNvPr id="4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60321" y="16032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extBox 1"/>
          <p:cNvSpPr txBox="1"/>
          <p:nvPr/>
        </p:nvSpPr>
        <p:spPr>
          <a:xfrm>
            <a:off x="1765392" y="838200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hlinkClick r:id="rId4"/>
              </a:rPr>
              <a:t>HijbullahHub</a:t>
            </a:r>
            <a:endParaRPr lang="en-US" b="1" dirty="0"/>
          </a:p>
        </p:txBody>
      </p:sp>
      <p:pic>
        <p:nvPicPr>
          <p:cNvPr id="2051" name="Picture 3" descr="Q:\My Drive\Practicum\IntelliGrade\SS\hijbulahml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586" y="5181600"/>
            <a:ext cx="3048000" cy="148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Q:\My Drive\Practicum\IntelliGrade\SS\hihubhome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693" y="1229303"/>
            <a:ext cx="4520406" cy="3501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Q:\My Drive\Practicum\IntelliGrade\SS\gln.pn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035" y="1240189"/>
            <a:ext cx="3771899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/>
          <p:cNvSpPr txBox="1"/>
          <p:nvPr/>
        </p:nvSpPr>
        <p:spPr>
          <a:xfrm>
            <a:off x="5533156" y="870857"/>
            <a:ext cx="2434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linkClick r:id="rId8"/>
              </a:rPr>
              <a:t>Helpline Hello </a:t>
            </a:r>
            <a:r>
              <a:rPr lang="en-US" b="1" dirty="0" err="1">
                <a:hlinkClick r:id="rId8"/>
              </a:rPr>
              <a:t>Naogaon</a:t>
            </a:r>
            <a:endParaRPr lang="en-US" b="1" dirty="0"/>
          </a:p>
        </p:txBody>
      </p:sp>
      <p:sp>
        <p:nvSpPr>
          <p:cNvPr id="44" name="TextBox 43"/>
          <p:cNvSpPr txBox="1"/>
          <p:nvPr/>
        </p:nvSpPr>
        <p:spPr>
          <a:xfrm>
            <a:off x="753833" y="4762316"/>
            <a:ext cx="3458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linkClick r:id="rId9"/>
              </a:rPr>
              <a:t>https://hijbullahml.streamlit.app/</a:t>
            </a:r>
            <a:endParaRPr lang="en-US" b="1" dirty="0"/>
          </a:p>
        </p:txBody>
      </p:sp>
      <p:pic>
        <p:nvPicPr>
          <p:cNvPr id="2055" name="Picture 7" descr="Q:\My Drive\Practicum\IntelliGrade\SS\library.png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1325" y="4197705"/>
            <a:ext cx="3697609" cy="218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/>
          <p:cNvSpPr txBox="1"/>
          <p:nvPr/>
        </p:nvSpPr>
        <p:spPr>
          <a:xfrm>
            <a:off x="5128366" y="3429000"/>
            <a:ext cx="3519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hlinkClick r:id="rId11"/>
              </a:rPr>
              <a:t>IUBAT Library Entry/Exit Management System</a:t>
            </a:r>
            <a:endParaRPr lang="en-US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71856"/>
            <a:ext cx="7924800" cy="457201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>                     </a:t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r>
              <a:rPr lang="en-US" sz="3200" b="1" dirty="0">
                <a:solidFill>
                  <a:schemeClr val="tx1"/>
                </a:solidFill>
              </a:rPr>
              <a:t/>
            </a:r>
            <a:br>
              <a:rPr lang="en-US" sz="3200" b="1" dirty="0">
                <a:solidFill>
                  <a:schemeClr val="tx1"/>
                </a:solidFill>
              </a:rPr>
            </a:br>
            <a:endParaRPr lang="en-US" sz="3200" b="1" dirty="0">
              <a:solidFill>
                <a:schemeClr val="tx1"/>
              </a:solidFill>
            </a:endParaRPr>
          </a:p>
        </p:txBody>
      </p:sp>
      <p:sp>
        <p:nvSpPr>
          <p:cNvPr id="8" name="Slide Number Placeholder 3"/>
          <p:cNvSpPr txBox="1">
            <a:spLocks/>
          </p:cNvSpPr>
          <p:nvPr/>
        </p:nvSpPr>
        <p:spPr>
          <a:xfrm>
            <a:off x="7010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ockwell" pitchFamily="18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ockwell" pitchFamily="18" charset="0"/>
              <a:ea typeface="+mn-ea"/>
              <a:cs typeface="+mn-cs"/>
            </a:endParaRPr>
          </a:p>
        </p:txBody>
      </p:sp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 Project Overview &amp; Problem Statement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228600" y="1062335"/>
            <a:ext cx="8475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F43F5E"/>
                </a:solidFill>
                <a:latin typeface="Times New Roman" pitchFamily="18" charset="0"/>
                <a:cs typeface="Times New Roman" pitchFamily="18" charset="0"/>
              </a:rPr>
              <a:t>CURRENT OPERATIONAL CHALLENGES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1941576"/>
            <a:ext cx="2636521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1" i="0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✗  Labor Fatigue:</a:t>
            </a:r>
            <a:endParaRPr lang="en-US" sz="2000" b="1" i="0" dirty="0">
              <a:solidFill>
                <a:srgbClr val="C00000"/>
              </a:solidFill>
              <a:latin typeface="Times New Roman" pitchFamily="18" charset="0"/>
              <a:cs typeface="Times New Roman" pitchFamily="18" charset="0"/>
            </a:endParaRPr>
          </a:p>
          <a:p>
            <a:endParaRPr sz="2000" b="1" i="0" dirty="0">
              <a:solidFill>
                <a:srgbClr val="C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49698" y="1941576"/>
            <a:ext cx="5460902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0" i="0" dirty="0">
                <a:latin typeface="Times New Roman" pitchFamily="18" charset="0"/>
                <a:cs typeface="Times New Roman" pitchFamily="18" charset="0"/>
              </a:rPr>
              <a:t>Evaluating hundreds of handwritten scripts per semester causes examiner fatigue, drift &amp; delays.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2599944"/>
            <a:ext cx="2636521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1" i="0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✗  OBE Complexity:</a:t>
            </a:r>
            <a:endParaRPr lang="en-US" sz="2000" b="1" i="0" dirty="0">
              <a:solidFill>
                <a:srgbClr val="C00000"/>
              </a:solidFill>
              <a:latin typeface="Times New Roman" pitchFamily="18" charset="0"/>
              <a:cs typeface="Times New Roman" pitchFamily="18" charset="0"/>
            </a:endParaRPr>
          </a:p>
          <a:p>
            <a:endParaRPr sz="2000" b="1" i="0" dirty="0">
              <a:solidFill>
                <a:srgbClr val="C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49698" y="2599944"/>
            <a:ext cx="5460902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0" i="0" dirty="0">
                <a:latin typeface="Times New Roman" pitchFamily="18" charset="0"/>
                <a:cs typeface="Times New Roman" pitchFamily="18" charset="0"/>
              </a:rPr>
              <a:t>Manual CO1-CO6/PO1-PO12 attainment math is error-prone when done in spreadsheets.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3258312"/>
            <a:ext cx="2636521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✗  No Student Feedback: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9698" y="3258312"/>
            <a:ext cx="5460902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0" i="0">
                <a:latin typeface="Times New Roman" pitchFamily="18" charset="0"/>
                <a:cs typeface="Times New Roman" pitchFamily="18" charset="0"/>
              </a:rPr>
              <a:t>Students receive only a single mark — zero question-level or concept-level insight.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3916680"/>
            <a:ext cx="2636521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✗  Paper Record Risk: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49698" y="3916680"/>
            <a:ext cx="5460902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0" i="0" dirty="0">
                <a:latin typeface="Times New Roman" pitchFamily="18" charset="0"/>
                <a:cs typeface="Times New Roman" pitchFamily="18" charset="0"/>
              </a:rPr>
              <a:t>Physical scripts are lost, damaged, or unavailable during accreditation audits.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79" y="4575048"/>
            <a:ext cx="2636521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✗  Role Fragmentation: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9698" y="4575048"/>
            <a:ext cx="5460902" cy="70788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sz="2000" b="0" i="0" dirty="0">
                <a:latin typeface="Times New Roman" pitchFamily="18" charset="0"/>
                <a:cs typeface="Times New Roman" pitchFamily="18" charset="0"/>
              </a:rPr>
              <a:t>No unified digital ecosystem for Controllers, Heads, Teachers, and Students.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1086" y="1066800"/>
            <a:ext cx="6958914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latin typeface="Times New Roman" pitchFamily="18" charset="0"/>
                <a:cs typeface="Times New Roman" pitchFamily="18" charset="0"/>
              </a:rPr>
              <a:t>INTELLIGRADE INNOVATIVE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8244" y="1742948"/>
            <a:ext cx="2402155" cy="707886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✓  Dual Wizards:</a:t>
            </a:r>
            <a:endParaRPr lang="en-US" sz="2000" b="1" i="0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  <a:p>
            <a:pPr algn="l"/>
            <a:endParaRPr sz="2000" b="1" i="0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10799" y="1742948"/>
            <a:ext cx="5299801" cy="1015663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AI Wizard v3.0 + Direct Manual Grading — teacher always maintains complete grading authority.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44" y="2401316"/>
            <a:ext cx="2402155" cy="707886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✓  OBE:</a:t>
            </a:r>
            <a:endParaRPr lang="en-US" sz="2000" b="1" i="0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  <a:p>
            <a:pPr algn="l"/>
            <a:endParaRPr sz="2000" b="1" i="0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0799" y="2401316"/>
            <a:ext cx="5299801" cy="1015663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Automatic CO/PO/KP/CEP/CEA attainment calculation with Bloom taxonomy across questions.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44" y="3059684"/>
            <a:ext cx="2402155" cy="707886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✓  Deep</a:t>
            </a:r>
            <a:r>
              <a:rPr lang="en-US" sz="2000" b="1" i="0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sz="2000" b="1" i="0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Feedback:</a:t>
            </a:r>
            <a:endParaRPr lang="en-US" sz="2000" b="1" i="0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  <a:p>
            <a:pPr algn="l"/>
            <a:endParaRPr sz="2000" b="1" i="0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10799" y="3059684"/>
            <a:ext cx="5299801" cy="707886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0" i="0">
                <a:latin typeface="Times New Roman" pitchFamily="18" charset="0"/>
                <a:cs typeface="Times New Roman" pitchFamily="18" charset="0"/>
              </a:rPr>
              <a:t>Question-wise marks, strengths, AI comments, criteria breakdown per student.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44" y="3718052"/>
            <a:ext cx="2402155" cy="400110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✓  PDF: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799" y="3718052"/>
            <a:ext cx="5299801" cy="400110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PDF scripts stored securely in institutional media.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44" y="4114800"/>
            <a:ext cx="2402155" cy="707886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✓  4-Role Portal:</a:t>
            </a:r>
            <a:endParaRPr lang="en-US" sz="2000" b="1" i="0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  <a:p>
            <a:pPr algn="l"/>
            <a:endParaRPr sz="2000" b="1" i="0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10799" y="4114800"/>
            <a:ext cx="5299801" cy="707886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Controller, </a:t>
            </a:r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Dept</a:t>
            </a:r>
            <a:r>
              <a:rPr sz="2000" b="0" i="0" dirty="0">
                <a:latin typeface="Times New Roman" pitchFamily="18" charset="0"/>
                <a:cs typeface="Times New Roman" pitchFamily="18" charset="0"/>
              </a:rPr>
              <a:t> Head, Teacher &amp; Student — one synchronized ecosystem.</a:t>
            </a:r>
          </a:p>
        </p:txBody>
      </p:sp>
      <p:pic>
        <p:nvPicPr>
          <p:cNvPr id="21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 Project Overview &amp; Problem Statement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23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895585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Objectives, Scope &amp; Stakeholders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274320" y="777763"/>
            <a:ext cx="6126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4F46E5"/>
                </a:solidFill>
                <a:latin typeface="Times New Roman" pitchFamily="18" charset="0"/>
                <a:cs typeface="Times New Roman" pitchFamily="18" charset="0"/>
              </a:rPr>
              <a:t>Specific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21920" y="1371600"/>
            <a:ext cx="8793480" cy="566928"/>
          </a:xfrm>
          <a:prstGeom prst="rect">
            <a:avLst/>
          </a:prstGeom>
          <a:solidFill>
            <a:schemeClr val="bg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21920" y="1371600"/>
            <a:ext cx="117246" cy="5669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8910" y="1417320"/>
            <a:ext cx="130000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Reduce grading turnaround by 70% via OCR + AI-suggested marks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1920" y="2029967"/>
            <a:ext cx="8793480" cy="566928"/>
          </a:xfrm>
          <a:prstGeom prst="rect">
            <a:avLst/>
          </a:prstGeom>
          <a:solidFill>
            <a:schemeClr val="bg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21920" y="2029967"/>
            <a:ext cx="117246" cy="5669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38910" y="2075688"/>
            <a:ext cx="130000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Implement 23-section IUBAT OBE taxonomy across all exam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920" y="2688336"/>
            <a:ext cx="8793480" cy="566928"/>
          </a:xfrm>
          <a:prstGeom prst="rect">
            <a:avLst/>
          </a:prstGeom>
          <a:solidFill>
            <a:schemeClr val="bg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21920" y="2688336"/>
            <a:ext cx="117246" cy="5669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8910" y="2734056"/>
            <a:ext cx="130000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Provide dual evaluation: AI Wizard v3.0 AND 100% Direct Manual Grading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1920" y="3346704"/>
            <a:ext cx="8793480" cy="566928"/>
          </a:xfrm>
          <a:prstGeom prst="rect">
            <a:avLst/>
          </a:prstGeom>
          <a:solidFill>
            <a:schemeClr val="bg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21920" y="3346704"/>
            <a:ext cx="117246" cy="5669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8910" y="3392424"/>
            <a:ext cx="130000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Deploy split-screen workbench with 1-click mark override &amp; approval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0341" y="4038600"/>
            <a:ext cx="8763000" cy="566928"/>
          </a:xfrm>
          <a:prstGeom prst="rect">
            <a:avLst/>
          </a:prstGeom>
          <a:solidFill>
            <a:schemeClr val="bg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2400" y="4087368"/>
            <a:ext cx="117856" cy="5669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9390" y="4133088"/>
            <a:ext cx="85222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Generate 8-sheet OBE Excel with CO/PO/CQI formulas (</a:t>
            </a:r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openpyxl</a:t>
            </a:r>
            <a:r>
              <a:rPr sz="2000" b="0" i="0" dirty="0">
                <a:latin typeface="Times New Roman" pitchFamily="18" charset="0"/>
                <a:cs typeface="Times New Roman" pitchFamily="18" charset="0"/>
              </a:rPr>
              <a:t>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0341" y="4696967"/>
            <a:ext cx="8763000" cy="566928"/>
          </a:xfrm>
          <a:prstGeom prst="rect">
            <a:avLst/>
          </a:prstGeom>
          <a:solidFill>
            <a:schemeClr val="bg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52400" y="4745735"/>
            <a:ext cx="117856" cy="5669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9391" y="4791456"/>
            <a:ext cx="85222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Role portals: Chief Exam Controller, </a:t>
            </a:r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Dept</a:t>
            </a:r>
            <a:r>
              <a:rPr sz="2000" b="0" i="0" dirty="0">
                <a:latin typeface="Times New Roman" pitchFamily="18" charset="0"/>
                <a:cs typeface="Times New Roman" pitchFamily="18" charset="0"/>
              </a:rPr>
              <a:t> Head, Teacher, Student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2400" y="5404104"/>
            <a:ext cx="8763000" cy="566928"/>
          </a:xfrm>
          <a:prstGeom prst="rect">
            <a:avLst/>
          </a:prstGeom>
          <a:solidFill>
            <a:schemeClr val="bg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341" y="5355336"/>
            <a:ext cx="117856" cy="5669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87331" y="5401056"/>
            <a:ext cx="8504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Resilient AI failover: </a:t>
            </a:r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Moondream</a:t>
            </a:r>
            <a:r>
              <a:rPr sz="2000" b="0" i="0" dirty="0">
                <a:latin typeface="Times New Roman" pitchFamily="18" charset="0"/>
                <a:cs typeface="Times New Roman" pitchFamily="18" charset="0"/>
              </a:rPr>
              <a:t> -&gt; </a:t>
            </a:r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Groq</a:t>
            </a:r>
            <a:r>
              <a:rPr sz="2000" b="0" i="0" dirty="0">
                <a:latin typeface="Times New Roman" pitchFamily="18" charset="0"/>
                <a:cs typeface="Times New Roman" pitchFamily="18" charset="0"/>
              </a:rPr>
              <a:t> -&gt; </a:t>
            </a:r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OpenRouter</a:t>
            </a:r>
            <a:r>
              <a:rPr sz="2000" b="0" i="0" dirty="0">
                <a:latin typeface="Times New Roman" pitchFamily="18" charset="0"/>
                <a:cs typeface="Times New Roman" pitchFamily="18" charset="0"/>
              </a:rPr>
              <a:t> -&gt; Gemini -&gt; GPT-4o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2400" y="6062472"/>
            <a:ext cx="8763000" cy="566928"/>
          </a:xfrm>
          <a:prstGeom prst="rect">
            <a:avLst/>
          </a:prstGeom>
          <a:solidFill>
            <a:schemeClr val="bg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341" y="6013704"/>
            <a:ext cx="117856" cy="5669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87331" y="6059424"/>
            <a:ext cx="8504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Institutional SMTP email + PDF attachment dispatch</a:t>
            </a:r>
          </a:p>
        </p:txBody>
      </p:sp>
    </p:spTree>
    <p:extLst>
      <p:ext uri="{BB962C8B-B14F-4D97-AF65-F5344CB8AC3E}">
        <p14:creationId xmlns:p14="http://schemas.microsoft.com/office/powerpoint/2010/main" val="3888793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Objectives, Scope &amp; Stakeholders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2" name="TextBox 31"/>
          <p:cNvSpPr txBox="1"/>
          <p:nvPr/>
        </p:nvSpPr>
        <p:spPr>
          <a:xfrm>
            <a:off x="640080" y="1138535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59E0B"/>
                </a:solidFill>
                <a:latin typeface="Times New Roman" pitchFamily="18" charset="0"/>
                <a:cs typeface="Times New Roman" pitchFamily="18" charset="0"/>
              </a:rPr>
              <a:t>Key Stakeholders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1813560"/>
            <a:ext cx="3212966" cy="1371505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1520" y="1868425"/>
            <a:ext cx="3002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59E0B"/>
                </a:solidFill>
                <a:latin typeface="Times New Roman" pitchFamily="18" charset="0"/>
                <a:cs typeface="Times New Roman" pitchFamily="18" charset="0"/>
              </a:rPr>
              <a:t>Chief Exam Controller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2206753"/>
            <a:ext cx="30022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rPr>
              <a:t>Governance,</a:t>
            </a:r>
            <a:r>
              <a:rPr lang="en-US" sz="1500" b="0" i="0" dirty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sz="1500" b="0" i="0" dirty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rPr>
              <a:t>routine scanning, student approvals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11834" y="1752600"/>
            <a:ext cx="3212966" cy="1371505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803274" y="1807465"/>
            <a:ext cx="3002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6B6D4"/>
                </a:solidFill>
                <a:latin typeface="Times New Roman" pitchFamily="18" charset="0"/>
                <a:cs typeface="Times New Roman" pitchFamily="18" charset="0"/>
              </a:rPr>
              <a:t>Department Head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3274" y="2145793"/>
            <a:ext cx="30022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rPr>
              <a:t>OBE auditing, pass-rate analytics, tabulation review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600" y="3992879"/>
            <a:ext cx="3212966" cy="1371505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1039" y="4047744"/>
            <a:ext cx="3002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F46E5"/>
                </a:solidFill>
                <a:latin typeface="Times New Roman" pitchFamily="18" charset="0"/>
                <a:cs typeface="Times New Roman" pitchFamily="18" charset="0"/>
              </a:rPr>
              <a:t>Faculty / Examiner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1039" y="4386072"/>
            <a:ext cx="30022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rPr>
              <a:t>Q&amp;R authoring, script upload, AI </a:t>
            </a:r>
            <a:r>
              <a:rPr sz="1500" b="0" i="0" dirty="0" err="1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rPr>
              <a:t>eval</a:t>
            </a:r>
            <a:r>
              <a:rPr sz="1500" b="0" i="0" dirty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rPr>
              <a:t>, mark override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11834" y="3992879"/>
            <a:ext cx="3212966" cy="1371505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803274" y="4047744"/>
            <a:ext cx="3002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0B981"/>
                </a:solidFill>
                <a:latin typeface="Times New Roman" pitchFamily="18" charset="0"/>
                <a:cs typeface="Times New Roman" pitchFamily="18" charset="0"/>
              </a:rPr>
              <a:t>Student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3274" y="4386072"/>
            <a:ext cx="30022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rPr>
              <a:t>Grade transparency, PDF downloads, CO/PO feedback</a:t>
            </a:r>
          </a:p>
        </p:txBody>
      </p:sp>
    </p:spTree>
    <p:extLst>
      <p:ext uri="{BB962C8B-B14F-4D97-AF65-F5344CB8AC3E}">
        <p14:creationId xmlns:p14="http://schemas.microsoft.com/office/powerpoint/2010/main" val="6411035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System Architecture Overview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5" name="Rectangle 84"/>
          <p:cNvSpPr/>
          <p:nvPr/>
        </p:nvSpPr>
        <p:spPr>
          <a:xfrm>
            <a:off x="228600" y="1453146"/>
            <a:ext cx="2362200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274320" y="1578114"/>
            <a:ext cx="2316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Administration &amp; Portals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987041" y="1188720"/>
            <a:ext cx="1783080" cy="65836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051049" y="1280160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RBAC Auth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07281" y="1188720"/>
            <a:ext cx="1783080" cy="65836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971289" y="11430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Controller Portal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827520" y="1188720"/>
            <a:ext cx="1783080" cy="65836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891529" y="1280160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Dept Head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987041" y="1932432"/>
            <a:ext cx="1783080" cy="65836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3051049" y="2023872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Teacher Portal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907281" y="1932432"/>
            <a:ext cx="1783080" cy="65836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971289" y="2023872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Student Portal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28600" y="3246120"/>
            <a:ext cx="2362200" cy="868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74320" y="3330714"/>
            <a:ext cx="2316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Academic Ingestion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910841" y="2895600"/>
            <a:ext cx="1783080" cy="65836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974849" y="28956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Structure CRUD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831081" y="2895600"/>
            <a:ext cx="1783080" cy="65836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4895089" y="28956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AI Routine Parser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751320" y="2895600"/>
            <a:ext cx="1783080" cy="65836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815329" y="28956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23-OBE Studio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95600" y="3685032"/>
            <a:ext cx="1783080" cy="65836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2938272" y="36576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Master Solution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895601" y="4608576"/>
            <a:ext cx="1783080" cy="658368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2959609" y="45720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300 DPI </a:t>
            </a:r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Preproc</a:t>
            </a:r>
            <a:endParaRPr sz="20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4815841" y="4608576"/>
            <a:ext cx="1783080" cy="658368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4879849" y="4700016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PyMuPDF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736080" y="4608576"/>
            <a:ext cx="1783080" cy="658368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6800089" y="4700016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PyTesseract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852928" y="5424690"/>
            <a:ext cx="1783080" cy="658368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2819400" y="5388114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EasyOCR</a:t>
            </a:r>
            <a:r>
              <a:rPr sz="2000" b="0" i="0" dirty="0">
                <a:latin typeface="Times New Roman" pitchFamily="18" charset="0"/>
                <a:cs typeface="Times New Roman" pitchFamily="18" charset="0"/>
              </a:rPr>
              <a:t> CPU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28600" y="4800600"/>
            <a:ext cx="2362200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274320" y="4876800"/>
            <a:ext cx="224971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OCR / Preprocessing</a:t>
            </a:r>
          </a:p>
        </p:txBody>
      </p:sp>
    </p:spTree>
    <p:extLst>
      <p:ext uri="{BB962C8B-B14F-4D97-AF65-F5344CB8AC3E}">
        <p14:creationId xmlns:p14="http://schemas.microsoft.com/office/powerpoint/2010/main" val="4091606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System Architecture Overview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7" name="Rectangle 116"/>
          <p:cNvSpPr/>
          <p:nvPr/>
        </p:nvSpPr>
        <p:spPr>
          <a:xfrm>
            <a:off x="228600" y="1905000"/>
            <a:ext cx="2121408" cy="868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274319" y="2082534"/>
            <a:ext cx="20203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Dual Evaluation Engine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514600" y="1615440"/>
            <a:ext cx="1783080" cy="65836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578608" y="1752600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AI Wizard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434840" y="1615440"/>
            <a:ext cx="1783080" cy="65836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4498848" y="170688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Manual Wizard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79" y="1615440"/>
            <a:ext cx="1783080" cy="65836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6419088" y="1706880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LLM Failover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514600" y="2401074"/>
            <a:ext cx="1783080" cy="65836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2578608" y="24384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 err="1">
                <a:latin typeface="Times New Roman" pitchFamily="18" charset="0"/>
                <a:cs typeface="Times New Roman" pitchFamily="18" charset="0"/>
              </a:rPr>
              <a:t>Cooldown</a:t>
            </a:r>
            <a:r>
              <a:rPr sz="2000" b="0" i="0" dirty="0">
                <a:latin typeface="Times New Roman" pitchFamily="18" charset="0"/>
                <a:cs typeface="Times New Roman" pitchFamily="18" charset="0"/>
              </a:rPr>
              <a:t> Tracker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8600" y="3967746"/>
            <a:ext cx="2121408" cy="86868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4114800"/>
            <a:ext cx="20756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Times New Roman" pitchFamily="18" charset="0"/>
                <a:cs typeface="Times New Roman" pitchFamily="18" charset="0"/>
              </a:rPr>
              <a:t>Tabulation &amp; Output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529841" y="3733800"/>
            <a:ext cx="1783080" cy="65836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593849" y="37338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Split-Screen WB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450081" y="3733800"/>
            <a:ext cx="1783080" cy="65836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4514089" y="3825240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PDF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70320" y="3733800"/>
            <a:ext cx="1783080" cy="65836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434329" y="3733800"/>
            <a:ext cx="16642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OBE Tabulation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514600" y="4627614"/>
            <a:ext cx="1783080" cy="65836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2578608" y="4719054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8-Sheet Excel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434840" y="4627614"/>
            <a:ext cx="1783080" cy="65836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4498848" y="4719054"/>
            <a:ext cx="1664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Email</a:t>
            </a:r>
          </a:p>
        </p:txBody>
      </p:sp>
    </p:spTree>
    <p:extLst>
      <p:ext uri="{BB962C8B-B14F-4D97-AF65-F5344CB8AC3E}">
        <p14:creationId xmlns:p14="http://schemas.microsoft.com/office/powerpoint/2010/main" val="3188876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21-Module Architecture Catalog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7" name="TextBox 26"/>
          <p:cNvSpPr txBox="1"/>
          <p:nvPr/>
        </p:nvSpPr>
        <p:spPr>
          <a:xfrm>
            <a:off x="1356360" y="499646"/>
            <a:ext cx="6035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latin typeface="Times New Roman" pitchFamily="18" charset="0"/>
                <a:cs typeface="Times New Roman" pitchFamily="18" charset="0"/>
              </a:rPr>
              <a:t>Service-oriented modular decomposition of </a:t>
            </a:r>
            <a:r>
              <a:rPr sz="1600" b="0" i="0" dirty="0" err="1">
                <a:latin typeface="Times New Roman" pitchFamily="18" charset="0"/>
                <a:cs typeface="Times New Roman" pitchFamily="18" charset="0"/>
              </a:rPr>
              <a:t>IntelliGrade</a:t>
            </a:r>
            <a:endParaRPr sz="16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28600" y="902208"/>
            <a:ext cx="1627632" cy="1243584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8600" y="902208"/>
            <a:ext cx="1627632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4320" y="8190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1222247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Auth &amp; RBAC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47672" y="902208"/>
            <a:ext cx="1627632" cy="1243584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947672" y="902208"/>
            <a:ext cx="1627632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993391" y="8190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93391" y="1222247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Controller Portal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66744" y="902208"/>
            <a:ext cx="1627632" cy="1243584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666744" y="902208"/>
            <a:ext cx="1627632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712463" y="83820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12463" y="1222247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Dept Head Portal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85816" y="902208"/>
            <a:ext cx="1627632" cy="1243584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385816" y="902208"/>
            <a:ext cx="1627632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431536" y="83820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31536" y="1222247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Teacher Workspace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04888" y="902208"/>
            <a:ext cx="1627632" cy="1243584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7104888" y="902208"/>
            <a:ext cx="1627632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150607" y="83820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0607" y="1222247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Student Portal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4695" y="2261616"/>
            <a:ext cx="1627632" cy="1243584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34695" y="2261616"/>
            <a:ext cx="1627632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80416" y="21906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416" y="2581655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Acad. Structure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53768" y="2261616"/>
            <a:ext cx="1627632" cy="1243584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953768" y="2261616"/>
            <a:ext cx="1627632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999488" y="21906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99488" y="2581655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AI Routine Parser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0" y="2237232"/>
            <a:ext cx="1627632" cy="1243584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657600" y="2237232"/>
            <a:ext cx="1627632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703320" y="2166306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03320" y="2557272"/>
            <a:ext cx="153619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23-Taxonomy Studio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76672" y="2237232"/>
            <a:ext cx="1627632" cy="1243584"/>
          </a:xfrm>
          <a:prstGeom prst="rect">
            <a:avLst/>
          </a:prstGeom>
          <a:noFill/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376672" y="2237232"/>
            <a:ext cx="1627632" cy="25603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422391" y="2166306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22391" y="2557272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Master Solution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095744" y="2237232"/>
            <a:ext cx="1627632" cy="1243584"/>
          </a:xfrm>
          <a:prstGeom prst="rect">
            <a:avLst/>
          </a:prstGeom>
          <a:noFill/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095744" y="2237232"/>
            <a:ext cx="1627632" cy="25603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141463" y="2166306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41463" y="2557272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300 DPI Preproc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80416" y="3630168"/>
            <a:ext cx="1627632" cy="1243584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Rectangle 109"/>
          <p:cNvSpPr/>
          <p:nvPr/>
        </p:nvSpPr>
        <p:spPr>
          <a:xfrm>
            <a:off x="280416" y="3630168"/>
            <a:ext cx="1627632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326136" y="3559242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6136" y="3950208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Hybrid OCR Engine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999488" y="3630168"/>
            <a:ext cx="1627632" cy="1243584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1999488" y="3630168"/>
            <a:ext cx="1627632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2045207" y="3559242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45207" y="3950208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Boundary &amp; Mapping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718559" y="3630168"/>
            <a:ext cx="1627632" cy="1243584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3718559" y="3630168"/>
            <a:ext cx="1627632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3764280" y="3559242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64280" y="3950208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AI Eval Wizard v3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437632" y="3630168"/>
            <a:ext cx="1627632" cy="1243584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5437632" y="3630168"/>
            <a:ext cx="1627632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5483352" y="3559242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483352" y="3950208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Manual Grading Wiz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135368" y="3592914"/>
            <a:ext cx="1627632" cy="1243584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7135368" y="3592914"/>
            <a:ext cx="1627632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7181088" y="3521988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181088" y="3912953"/>
            <a:ext cx="153619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LLM Failover Chain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16408" y="5004816"/>
            <a:ext cx="1627632" cy="1243584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216408" y="5004816"/>
            <a:ext cx="1627632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262127" y="49338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62127" y="5324855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TaskRouter &amp; Health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935480" y="5004816"/>
            <a:ext cx="1627632" cy="1243584"/>
          </a:xfrm>
          <a:prstGeom prst="rect">
            <a:avLst/>
          </a:prstGeom>
          <a:noFill/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1935480" y="5004816"/>
            <a:ext cx="1627632" cy="25603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1981199" y="49338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81199" y="5324855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Split-Screen WB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4552" y="5004816"/>
            <a:ext cx="1627632" cy="1243584"/>
          </a:xfrm>
          <a:prstGeom prst="rect">
            <a:avLst/>
          </a:prstGeom>
          <a:noFill/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0" name="Rectangle 159"/>
          <p:cNvSpPr/>
          <p:nvPr/>
        </p:nvSpPr>
        <p:spPr>
          <a:xfrm>
            <a:off x="3654552" y="5004816"/>
            <a:ext cx="1627632" cy="25603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3700272" y="49338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700272" y="5324855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 PDF Gen</a:t>
            </a: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erate</a:t>
            </a:r>
            <a:endParaRPr sz="20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5373624" y="5004816"/>
            <a:ext cx="1627632" cy="1243584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373624" y="5004816"/>
            <a:ext cx="1627632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5419343" y="49338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MOD-19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9343" y="5324855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OBE Tabulation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092695" y="5004816"/>
            <a:ext cx="1627632" cy="1243584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8" name="Rectangle 167"/>
          <p:cNvSpPr/>
          <p:nvPr/>
        </p:nvSpPr>
        <p:spPr>
          <a:xfrm>
            <a:off x="7092695" y="5004816"/>
            <a:ext cx="1627632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138416" y="4933890"/>
            <a:ext cx="15361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MOD-20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138416" y="5324855"/>
            <a:ext cx="15361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latin typeface="Times New Roman" pitchFamily="18" charset="0"/>
                <a:cs typeface="Times New Roman" pitchFamily="18" charset="0"/>
              </a:rPr>
              <a:t>8-Sheet Excel Sync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34695" y="6300217"/>
            <a:ext cx="8513494" cy="424493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356617" y="6324600"/>
            <a:ext cx="81513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Times New Roman" pitchFamily="18" charset="0"/>
                <a:cs typeface="Times New Roman" pitchFamily="18" charset="0"/>
              </a:rPr>
              <a:t>Email Service</a:t>
            </a:r>
          </a:p>
        </p:txBody>
      </p:sp>
    </p:spTree>
    <p:extLst>
      <p:ext uri="{BB962C8B-B14F-4D97-AF65-F5344CB8AC3E}">
        <p14:creationId xmlns:p14="http://schemas.microsoft.com/office/powerpoint/2010/main" val="872107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5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 Use Case Diagram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6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03EA5F2F-72D4-4D44-9CB9-19118F1817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21" y="838200"/>
            <a:ext cx="8153400" cy="5690693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1: IntelliGrade Use Case Diagram — 4 Actors (Chief Exam Controller, Dept Head, Faculty/Examiner, Student) interacting across 27 documented use cases</a:t>
            </a:r>
          </a:p>
        </p:txBody>
      </p:sp>
    </p:spTree>
    <p:extLst>
      <p:ext uri="{BB962C8B-B14F-4D97-AF65-F5344CB8AC3E}">
        <p14:creationId xmlns:p14="http://schemas.microsoft.com/office/powerpoint/2010/main" val="2710298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75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9/37</a:t>
            </a:r>
          </a:p>
        </p:txBody>
      </p:sp>
      <p:pic>
        <p:nvPicPr>
          <p:cNvPr id="77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8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Activity Diagram — AI Evaluation Wizard Pipeline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7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A019F4E1-3F5F-4989-A165-478AFA9802E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59"/>
          <a:stretch/>
        </p:blipFill>
        <p:spPr>
          <a:xfrm>
            <a:off x="1676400" y="1056065"/>
            <a:ext cx="5410200" cy="5560368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2: Activity Diagram — AI Evaluation Wizard v3.0 Pipeline (Script Upload → 300 DPI Preprocessing → Hybrid OCR → Boundary Detection → AI Failover Evaluation → Workbench)</a:t>
            </a:r>
          </a:p>
        </p:txBody>
      </p:sp>
    </p:spTree>
    <p:extLst>
      <p:ext uri="{BB962C8B-B14F-4D97-AF65-F5344CB8AC3E}">
        <p14:creationId xmlns:p14="http://schemas.microsoft.com/office/powerpoint/2010/main" val="3003772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Box 59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CBD5E1"/>
                </a:solidFill>
              </a:rPr>
              <a:t>Slide 10/37</a:t>
            </a:r>
          </a:p>
        </p:txBody>
      </p:sp>
      <p:pic>
        <p:nvPicPr>
          <p:cNvPr id="6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5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356616" y="171856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Activity Diagram — Manual Grading Wizard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6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21BC4F10-9C5E-488D-B911-7B25DB5FCC3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3"/>
          <a:stretch/>
        </p:blipFill>
        <p:spPr>
          <a:xfrm>
            <a:off x="2057400" y="1082842"/>
            <a:ext cx="4648200" cy="577515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3: Activity Diagram — Manual Grading Wizard (Fast PDF Page Slicing Only — Zero AI/OCR overhead; Direct teacher page-to-question assignment)</a:t>
            </a:r>
          </a:p>
        </p:txBody>
      </p:sp>
    </p:spTree>
    <p:extLst>
      <p:ext uri="{BB962C8B-B14F-4D97-AF65-F5344CB8AC3E}">
        <p14:creationId xmlns:p14="http://schemas.microsoft.com/office/powerpoint/2010/main" val="976240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0093" y="1051560"/>
            <a:ext cx="1028968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91" y="1078992"/>
            <a:ext cx="960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Teacher
Browser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277" y="1527048"/>
            <a:ext cx="68598" cy="4846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371957" y="1051560"/>
            <a:ext cx="1028968" cy="47548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06256" y="1078992"/>
            <a:ext cx="960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Django
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52142" y="1527048"/>
            <a:ext cx="68598" cy="4846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03822" y="1051560"/>
            <a:ext cx="1028968" cy="4754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38120" y="1078992"/>
            <a:ext cx="960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Script
Processor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84006" y="1527048"/>
            <a:ext cx="68598" cy="4846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35687" y="1051560"/>
            <a:ext cx="1028968" cy="4754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69986" y="1078992"/>
            <a:ext cx="960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OCR
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5872" y="1527048"/>
            <a:ext cx="68598" cy="4846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67552" y="1051560"/>
            <a:ext cx="1028968" cy="47548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01851" y="1078992"/>
            <a:ext cx="96037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AI Orchestrator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7737" y="1527048"/>
            <a:ext cx="68598" cy="48463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99416" y="1051560"/>
            <a:ext cx="1028968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33715" y="1078992"/>
            <a:ext cx="960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Groq/Gemini
LLM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79601" y="1527048"/>
            <a:ext cx="68598" cy="4846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99879" y="1051560"/>
            <a:ext cx="1028968" cy="47548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34178" y="1078992"/>
            <a:ext cx="96037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0063" y="1527048"/>
            <a:ext cx="68598" cy="484632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838200" y="1905000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3317" y="1697251"/>
            <a:ext cx="1762683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>
                <a:latin typeface="Times New Roman" pitchFamily="18" charset="0"/>
                <a:cs typeface="Times New Roman" pitchFamily="18" charset="0"/>
              </a:rPr>
              <a:t>POST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upload_student_submission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()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968759" y="2133600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52600" y="1905000"/>
            <a:ext cx="174589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process_submission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() -&gt; 300 DPI render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100623" y="2514600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366626" y="2306851"/>
            <a:ext cx="2435225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run_ocr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() -&gt;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PyMuPDF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 -&gt;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Tesseract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 -&gt;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EasyOCR</a:t>
            </a:r>
            <a:endParaRPr sz="750" b="0" i="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3100623" y="2971800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895600" y="2764051"/>
            <a:ext cx="1371957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BBoxes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 + text blocks returned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968759" y="3352800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752600" y="3029635"/>
            <a:ext cx="137195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detect_boundaries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() -&gt;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QuestionMapping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 created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894" y="3493008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9600" y="3200400"/>
            <a:ext cx="137195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Return mapping UI / confirmation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36894" y="4114800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443" y="3810000"/>
            <a:ext cx="137195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>
                <a:latin typeface="Times New Roman" pitchFamily="18" charset="0"/>
                <a:cs typeface="Times New Roman" pitchFamily="18" charset="0"/>
              </a:rPr>
              <a:t>POST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confirm_mapping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() -&gt; trigger AI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eval</a:t>
            </a:r>
            <a:endParaRPr sz="750" b="0" i="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41" name="Connector 40"/>
          <p:cNvCxnSpPr/>
          <p:nvPr/>
        </p:nvCxnSpPr>
        <p:spPr>
          <a:xfrm>
            <a:off x="1968759" y="4224528"/>
            <a:ext cx="3230959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968759" y="4020979"/>
            <a:ext cx="3212841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route_evaluation_task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question_mappings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64353" y="4419600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81600" y="4114800"/>
            <a:ext cx="137195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>
                <a:latin typeface="Times New Roman" pitchFamily="18" charset="0"/>
                <a:cs typeface="Times New Roman" pitchFamily="18" charset="0"/>
              </a:rPr>
              <a:t>POST evaluate(rubric, image,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master_sol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364353" y="5029200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181600" y="4724400"/>
            <a:ext cx="137195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>
                <a:latin typeface="Times New Roman" pitchFamily="18" charset="0"/>
                <a:cs typeface="Times New Roman" pitchFamily="18" charset="0"/>
              </a:rPr>
              <a:t>JSON{score, confidence, strengths, mistakes}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364353" y="5321808"/>
            <a:ext cx="2167693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29139" y="5126251"/>
            <a:ext cx="2467061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>
                <a:latin typeface="Times New Roman" pitchFamily="18" charset="0"/>
                <a:cs typeface="Times New Roman" pitchFamily="18" charset="0"/>
              </a:rPr>
              <a:t>save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EvaluationResult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 + flag if </a:t>
            </a:r>
            <a:r>
              <a:rPr sz="750" b="0" i="0" dirty="0" err="1">
                <a:latin typeface="Times New Roman" pitchFamily="18" charset="0"/>
                <a:cs typeface="Times New Roman" pitchFamily="18" charset="0"/>
              </a:rPr>
              <a:t>conf</a:t>
            </a:r>
            <a:r>
              <a:rPr sz="750" b="0" i="0" dirty="0">
                <a:latin typeface="Times New Roman" pitchFamily="18" charset="0"/>
                <a:cs typeface="Times New Roman" pitchFamily="18" charset="0"/>
              </a:rPr>
              <a:t> &lt; 0.75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968759" y="5687568"/>
            <a:ext cx="5563287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581400" y="5507251"/>
            <a:ext cx="2761064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>
                <a:latin typeface="Times New Roman" pitchFamily="18" charset="0"/>
                <a:cs typeface="Times New Roman" pitchFamily="18" charset="0"/>
              </a:rPr>
              <a:t>ACK -&gt; all questions evaluated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36894" y="6053328"/>
            <a:ext cx="96723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443" y="5715000"/>
            <a:ext cx="137195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Redirect -&gt; </a:t>
            </a:r>
            <a:r>
              <a:rPr sz="750" b="0" i="0" dirty="0" err="1"/>
              <a:t>evaluation_workspace</a:t>
            </a:r>
            <a:endParaRPr sz="750" b="0" i="0" dirty="0"/>
          </a:p>
        </p:txBody>
      </p:sp>
      <p:sp>
        <p:nvSpPr>
          <p:cNvPr id="55" name="TextBox 54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12/37</a:t>
            </a:r>
          </a:p>
        </p:txBody>
      </p:sp>
      <p:pic>
        <p:nvPicPr>
          <p:cNvPr id="5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7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Sequence Diagram — AI Evaluation Wizard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9" name="TextBox 58"/>
          <p:cNvSpPr txBox="1"/>
          <p:nvPr/>
        </p:nvSpPr>
        <p:spPr>
          <a:xfrm>
            <a:off x="365760" y="62636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4: Sequence Diagram — AI Evaluation Wizard (7 Lifelines: Teacher Browser → Django Views → Script Processor → OCR Engine → AI Orchestrator → Groq/Gemini LLM → Database)</a:t>
            </a:r>
          </a:p>
        </p:txBody>
      </p:sp>
    </p:spTree>
    <p:extLst>
      <p:ext uri="{BB962C8B-B14F-4D97-AF65-F5344CB8AC3E}">
        <p14:creationId xmlns:p14="http://schemas.microsoft.com/office/powerpoint/2010/main" val="2655630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42990" y="1051560"/>
            <a:ext cx="1303359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7288" y="1097280"/>
            <a:ext cx="12347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Student
Browser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370" y="1527048"/>
            <a:ext cx="68598" cy="4937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783545" y="1051560"/>
            <a:ext cx="1303359" cy="47548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17843" y="1097280"/>
            <a:ext cx="12347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Django
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0925" y="1527048"/>
            <a:ext cx="68598" cy="4937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92698" y="1051560"/>
            <a:ext cx="1303359" cy="47548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26996" y="1097280"/>
            <a:ext cx="12347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10078" y="1527048"/>
            <a:ext cx="68598" cy="493776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939046" y="1051560"/>
            <a:ext cx="1303359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73345" y="1097280"/>
            <a:ext cx="12347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Email
Service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6427" y="1527048"/>
            <a:ext cx="68598" cy="4937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22591" y="1051560"/>
            <a:ext cx="1303359" cy="47548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56889" y="1097280"/>
            <a:ext cx="12347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PDF
Generator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39971" y="1527048"/>
            <a:ext cx="68598" cy="4937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1063267" y="1737360"/>
            <a:ext cx="1303359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38200" y="155448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>
                <a:solidFill>
                  <a:sysClr val="windowText" lastClr="000000"/>
                </a:solidFill>
              </a:rPr>
              <a:t>POST </a:t>
            </a:r>
            <a:r>
              <a:rPr sz="750" b="0" i="0" dirty="0" err="1">
                <a:solidFill>
                  <a:sysClr val="windowText" lastClr="000000"/>
                </a:solidFill>
              </a:rPr>
              <a:t>student_login</a:t>
            </a:r>
            <a:r>
              <a:rPr sz="750" b="0" i="0" dirty="0">
                <a:solidFill>
                  <a:sysClr val="windowText" lastClr="000000"/>
                </a:solidFill>
              </a:rPr>
              <a:t>(username, password)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03822" y="2103120"/>
            <a:ext cx="1371957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86000" y="1920239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authenticate() verify </a:t>
            </a:r>
            <a:r>
              <a:rPr sz="750" b="0" i="0" dirty="0" err="1"/>
              <a:t>Profile.role</a:t>
            </a:r>
            <a:r>
              <a:rPr sz="750" b="0" i="0" dirty="0"/>
              <a:t>=STUDENT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03822" y="2468880"/>
            <a:ext cx="1371957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09800" y="228600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Session token + profile data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63267" y="2834640"/>
            <a:ext cx="1303359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265176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Redirect -&gt; /dashboard/student/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63267" y="3200400"/>
            <a:ext cx="1303359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301752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GET </a:t>
            </a:r>
            <a:r>
              <a:rPr sz="750" b="0" i="0" dirty="0" err="1"/>
              <a:t>dashboard_student</a:t>
            </a:r>
            <a:r>
              <a:rPr sz="750" b="0" i="0" dirty="0"/>
              <a:t>()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503822" y="3566160"/>
            <a:ext cx="1371957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503822" y="3383279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fetch </a:t>
            </a:r>
            <a:r>
              <a:rPr sz="750" b="0" i="0" dirty="0" err="1"/>
              <a:t>StudentGradeRecord</a:t>
            </a:r>
            <a:r>
              <a:rPr sz="750" b="0" i="0" dirty="0"/>
              <a:t> + </a:t>
            </a:r>
            <a:r>
              <a:rPr sz="750" b="0" i="0" dirty="0" err="1"/>
              <a:t>EvaluationResult</a:t>
            </a:r>
            <a:endParaRPr sz="750" b="0" i="0" dirty="0"/>
          </a:p>
        </p:txBody>
      </p:sp>
      <p:cxnSp>
        <p:nvCxnSpPr>
          <p:cNvPr id="33" name="Connector 32"/>
          <p:cNvCxnSpPr/>
          <p:nvPr/>
        </p:nvCxnSpPr>
        <p:spPr>
          <a:xfrm>
            <a:off x="2503822" y="3931920"/>
            <a:ext cx="1371957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285464" y="3749039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Grade records, CO/PO attainments, GPA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63267" y="4297680"/>
            <a:ext cx="1303359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62000" y="411480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Render student dashboard with cards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63267" y="4663440"/>
            <a:ext cx="1303359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3864" y="4480559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GET </a:t>
            </a:r>
            <a:r>
              <a:rPr sz="750" b="0" i="0" dirty="0" err="1"/>
              <a:t>download_certified_pdf</a:t>
            </a:r>
            <a:r>
              <a:rPr sz="750" b="0" i="0" dirty="0"/>
              <a:t>(</a:t>
            </a:r>
            <a:r>
              <a:rPr sz="750" b="0" i="0" dirty="0" err="1"/>
              <a:t>submission_id</a:t>
            </a:r>
            <a:r>
              <a:rPr sz="750" b="0" i="0" dirty="0"/>
              <a:t>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503822" y="5029200"/>
            <a:ext cx="480185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218769" y="484632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 err="1"/>
              <a:t>generate_pdf</a:t>
            </a:r>
            <a:r>
              <a:rPr sz="750" b="0" i="0" dirty="0"/>
              <a:t>() if finalized=True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503822" y="5394960"/>
            <a:ext cx="4801850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218769" y="521208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Watermarked PDF binary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503822" y="5760720"/>
            <a:ext cx="3018306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326996" y="557784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 dirty="0" err="1"/>
              <a:t>send_result_email</a:t>
            </a:r>
            <a:r>
              <a:rPr sz="750" b="0" i="0" dirty="0"/>
              <a:t>(student, </a:t>
            </a:r>
            <a:r>
              <a:rPr sz="750" b="0" i="0" dirty="0" err="1"/>
              <a:t>pdf_attachment</a:t>
            </a:r>
            <a:r>
              <a:rPr sz="750" b="0" i="0" dirty="0"/>
              <a:t>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503822" y="6126480"/>
            <a:ext cx="3018306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326996" y="5943600"/>
            <a:ext cx="205793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/>
              <a:t>SMTP ACK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63267" y="6492240"/>
            <a:ext cx="1303359" cy="0"/>
          </a:xfrm>
          <a:prstGeom prst="line">
            <a:avLst/>
          </a:prstGeom>
          <a:ln w="1524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14400" y="6309359"/>
            <a:ext cx="2057936" cy="20774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750" b="0" i="0" dirty="0"/>
              <a:t>HTTP 200: PDF download response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13/37</a:t>
            </a:r>
          </a:p>
        </p:txBody>
      </p:sp>
      <p:pic>
        <p:nvPicPr>
          <p:cNvPr id="5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3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Sequence Diagram — Student Portal &amp; Result Publication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5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5" name="TextBox 54"/>
          <p:cNvSpPr txBox="1"/>
          <p:nvPr/>
        </p:nvSpPr>
        <p:spPr>
          <a:xfrm>
            <a:off x="365760" y="62636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5: Sequence Diagram — Student Result Publication (Student Browser → Django Views → Database → PDF Generator → Email Service; ends with certified PDF dispatch)</a:t>
            </a:r>
          </a:p>
        </p:txBody>
      </p:sp>
    </p:spTree>
    <p:extLst>
      <p:ext uri="{BB962C8B-B14F-4D97-AF65-F5344CB8AC3E}">
        <p14:creationId xmlns:p14="http://schemas.microsoft.com/office/powerpoint/2010/main" val="2733178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004060" y="609600"/>
            <a:ext cx="5105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818CF8"/>
                </a:solidFill>
              </a:rPr>
              <a:t>Key entity classes, attributes, and associations in core/models.py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96" y="1097280"/>
            <a:ext cx="2743915" cy="1325880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96" y="1097280"/>
            <a:ext cx="2743915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2074" y="1133856"/>
            <a:ext cx="2634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«class» 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74" y="1426465"/>
            <a:ext cx="26341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user: FK(User)
- role: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Enum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[ADMIN|TEACHER|DEPT_HEAD|STUDENT]
- department: FK(Department)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is_approved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bool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2074" y="2230651"/>
            <a:ext cx="263415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get_role_label()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6904" y="1097280"/>
            <a:ext cx="2743915" cy="1325880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086904" y="1097280"/>
            <a:ext cx="2743915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41782" y="1133856"/>
            <a:ext cx="2634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«class» Examination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1782" y="1426465"/>
            <a:ext cx="2634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title, course: FK(Course)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exam_date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start_time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end_time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assigned_teachers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M2M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master_solution_parsed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141782" y="2194560"/>
            <a:ext cx="263415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get_absolute_url()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5210" y="1097280"/>
            <a:ext cx="2743915" cy="1325880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05210" y="1097280"/>
            <a:ext cx="2743915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60088" y="1133856"/>
            <a:ext cx="2634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«class»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0088" y="1426465"/>
            <a:ext cx="2634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exam: FK(Examination)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prompt_text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marks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bloom_level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co,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po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kp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cep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cea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rubric: FK(Rubric)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0088" y="2194560"/>
            <a:ext cx="263415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get_full_taxonomy()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96" y="3124200"/>
            <a:ext cx="2743915" cy="1188720"/>
          </a:xfrm>
          <a:prstGeom prst="rect">
            <a:avLst/>
          </a:prstGeom>
          <a:noFill/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37196" y="3124200"/>
            <a:ext cx="2743915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92074" y="3160776"/>
            <a:ext cx="2634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«class» StudentSubmission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74" y="3453384"/>
            <a:ext cx="2634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examination: FK(Examination)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student_roll_no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status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is_finalized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bool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certified_pdf_path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92074" y="4084320"/>
            <a:ext cx="263415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can_finalize()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86904" y="3124200"/>
            <a:ext cx="2743915" cy="1188720"/>
          </a:xfrm>
          <a:prstGeom prst="rect">
            <a:avLst/>
          </a:prstGeom>
          <a:noFill/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086904" y="3124200"/>
            <a:ext cx="2743915" cy="2926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41782" y="3160776"/>
            <a:ext cx="2634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«class» QuestionMapping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1782" y="3453384"/>
            <a:ext cx="2634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submission: FK(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StudentSubmission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)
- question: FK(Question)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page_numbers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JSON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mapping_status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is_confirmed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141782" y="4084320"/>
            <a:ext cx="263415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get_answer_pages()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05210" y="3124200"/>
            <a:ext cx="2743915" cy="1188720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05210" y="3124200"/>
            <a:ext cx="2743915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60088" y="3160776"/>
            <a:ext cx="2634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«class» EvaluationResult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0088" y="3453384"/>
            <a:ext cx="2634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mapping: FK(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QuestionMapping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)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obtained_marks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max_marks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confidence_score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status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requires_manual_review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bool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60088" y="4084320"/>
            <a:ext cx="263415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get_percentage()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96" y="5044440"/>
            <a:ext cx="2743915" cy="1188720"/>
          </a:xfrm>
          <a:prstGeom prst="rect">
            <a:avLst/>
          </a:prstGeom>
          <a:noFill/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37196" y="5044440"/>
            <a:ext cx="2743915" cy="2926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92074" y="5081016"/>
            <a:ext cx="2634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«class» StudentGradeRecord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74" y="5373624"/>
            <a:ext cx="2634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tabulation: FK(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CourseTabulation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)
- student: FK(Profile)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ct_marks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mid_marks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final_marks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overall_score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grade_point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92074" y="6004559"/>
            <a:ext cx="263415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compute_weighted_score()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86904" y="5044440"/>
            <a:ext cx="2743915" cy="1188720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086904" y="5044440"/>
            <a:ext cx="2743915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41782" y="5081016"/>
            <a:ext cx="26341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«class» CourseTabulation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41782" y="5373624"/>
            <a:ext cx="263415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examination: FK(Examination)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is_published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bool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excel_file_path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141782" y="6004559"/>
            <a:ext cx="263415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compute_co_attainment()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8754" y="6169968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14/37</a:t>
            </a:r>
          </a:p>
        </p:txBody>
      </p:sp>
      <p:pic>
        <p:nvPicPr>
          <p:cNvPr id="4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 Class Diagram — Core Domain Model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5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3548940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02478" y="1051560"/>
            <a:ext cx="2743915" cy="1417320"/>
          </a:xfrm>
          <a:prstGeom prst="rect">
            <a:avLst/>
          </a:prstGeom>
          <a:noFill/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02478" y="1051560"/>
            <a:ext cx="2743915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3637" y="1088136"/>
            <a:ext cx="266159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«class» AIEvaluationOrchestrator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356" y="1380743"/>
            <a:ext cx="263415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provider_chain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list[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BaseProvider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]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health_tracker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ProviderHealthTracker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timeout_budget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int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 = 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356" y="2103120"/>
            <a:ext cx="263415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route_task(mapping)
+ failover_to_next()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2186" y="1051560"/>
            <a:ext cx="2743915" cy="1417320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52186" y="1051560"/>
            <a:ext cx="2743915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3344" y="1088136"/>
            <a:ext cx="266159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«class» BaseProvider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7064" y="1380743"/>
            <a:ext cx="263415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api_key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model_name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max_retries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int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07064" y="2103120"/>
            <a:ext cx="263415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evaluate(prompt, image) -&gt; JSON
+ is_healthy() -&gt; bool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1894" y="1051560"/>
            <a:ext cx="2743915" cy="1417320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01894" y="1051560"/>
            <a:ext cx="2743915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43053" y="1088136"/>
            <a:ext cx="266159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«class» LocalOfflineVisionProvider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6772" y="1380743"/>
            <a:ext cx="263415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ollama_endpoint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max_image_size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int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 = 800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jpeg_quality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int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 = 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6772" y="2103120"/>
            <a:ext cx="263415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resize_lanczos(img)
+ encode_base64(img)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2478" y="2819400"/>
            <a:ext cx="2743915" cy="1417320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02478" y="2819400"/>
            <a:ext cx="2743915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3637" y="2855976"/>
            <a:ext cx="266159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«class» GroqProvider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56" y="3148584"/>
            <a:ext cx="2634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model: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 = 'llama-3.3-70b'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tpm_limit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int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57356" y="3870959"/>
            <a:ext cx="263415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post_completion(msgs)
+ handle_429()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52186" y="2819400"/>
            <a:ext cx="2743915" cy="1417320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52186" y="2819400"/>
            <a:ext cx="2743915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93344" y="2855976"/>
            <a:ext cx="266159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«class» ProviderHealthTracker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7064" y="3148584"/>
            <a:ext cx="2634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cooldowns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dict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datetime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]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failure_counts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dict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307064" y="3870959"/>
            <a:ext cx="263415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mark_failed(provider)
+ is_on_cooldown(provider)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1894" y="2819400"/>
            <a:ext cx="2743915" cy="1417320"/>
          </a:xfrm>
          <a:prstGeom prst="rect">
            <a:avLst/>
          </a:prstGeom>
          <a:noFill/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01894" y="2819400"/>
            <a:ext cx="2743915" cy="2926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43053" y="2855976"/>
            <a:ext cx="266159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«class» TabulationService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6772" y="3148584"/>
            <a:ext cx="2634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ct_weight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=0.10, mid=0.25, final=0.50
- assign=0.10, attendance=0.05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6772" y="3870959"/>
            <a:ext cx="263415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sync_submission(sub)
+ compute_grade_point(score)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2478" y="4648200"/>
            <a:ext cx="2743915" cy="1417320"/>
          </a:xfrm>
          <a:prstGeom prst="rect">
            <a:avLst/>
          </a:prstGeom>
          <a:noFill/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02478" y="4648200"/>
            <a:ext cx="2743915" cy="2926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3637" y="4684776"/>
            <a:ext cx="266159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«class» FinalizationService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356" y="4977384"/>
            <a:ext cx="2634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pdf_generator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EvaluatedPDFService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working_dir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: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7356" y="5699760"/>
            <a:ext cx="263415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finalize_submission(sub)
+ purge_artifacts()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52186" y="4648200"/>
            <a:ext cx="2743915" cy="1417320"/>
          </a:xfrm>
          <a:prstGeom prst="rect">
            <a:avLst/>
          </a:prstGeom>
          <a:noFill/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52186" y="4648200"/>
            <a:ext cx="2743915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93344" y="4684776"/>
            <a:ext cx="266159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«class» EmailService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7064" y="4977384"/>
            <a:ext cx="2634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smtp_host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smtp_port</a:t>
            </a:r>
            <a:r>
              <a:rPr sz="900" b="0" i="0" dirty="0">
                <a:latin typeface="Times New Roman" pitchFamily="18" charset="0"/>
                <a:cs typeface="Times New Roman" pitchFamily="18" charset="0"/>
              </a:rPr>
              <a:t>
- sender: </a:t>
            </a:r>
            <a:r>
              <a:rPr sz="900" b="0" i="0" dirty="0" err="1">
                <a:latin typeface="Times New Roman" pitchFamily="18" charset="0"/>
                <a:cs typeface="Times New Roman" pitchFamily="18" charset="0"/>
              </a:rPr>
              <a:t>str</a:t>
            </a:r>
            <a:endParaRPr sz="900" b="0" i="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307064" y="5699760"/>
            <a:ext cx="263415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18CF8"/>
                </a:solidFill>
              </a:rPr>
              <a:t>+ dispatch_result(student, pdf)
+ send_otp(email, otp)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54036" y="6246168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CBD5E1"/>
                </a:solidFill>
              </a:rPr>
              <a:t>Slide 15/37</a:t>
            </a:r>
          </a:p>
        </p:txBody>
      </p:sp>
      <p:pic>
        <p:nvPicPr>
          <p:cNvPr id="50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1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Class Diagram — AI Engine &amp; Services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5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011419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8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Entity-Relationship Diagram (ERD)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F6A382BE-4A75-497D-985F-DA6A9A21C1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838200"/>
            <a:ext cx="8580120" cy="5733131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6: Entity-Relationship Diagram — IntelliGrade Core Domain Model (20+ entities, 28 applied migrations; key relations: Course→Examination→Question→StudentSubmission→EvaluationResult→StudentGradeRecord)</a:t>
            </a:r>
          </a:p>
        </p:txBody>
      </p:sp>
    </p:spTree>
    <p:extLst>
      <p:ext uri="{BB962C8B-B14F-4D97-AF65-F5344CB8AC3E}">
        <p14:creationId xmlns:p14="http://schemas.microsoft.com/office/powerpoint/2010/main" val="3496444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17/37</a:t>
            </a:r>
          </a:p>
        </p:txBody>
      </p:sp>
      <p:pic>
        <p:nvPicPr>
          <p:cNvPr id="26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Data Flow Diagram — Level 0 (Context Diagram)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2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79A0204F-DA1A-4FC7-886F-B92AA38031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00" b="5000"/>
          <a:stretch/>
        </p:blipFill>
        <p:spPr>
          <a:xfrm>
            <a:off x="0" y="1828800"/>
            <a:ext cx="9144000" cy="3657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7: Data Flow Diagram — Level 0 Context Diagram (4 external entities: Controller, Faculty, Student, AI Providers; 1 central IntelliGrade system process)</a:t>
            </a:r>
          </a:p>
        </p:txBody>
      </p:sp>
    </p:spTree>
    <p:extLst>
      <p:ext uri="{BB962C8B-B14F-4D97-AF65-F5344CB8AC3E}">
        <p14:creationId xmlns:p14="http://schemas.microsoft.com/office/powerpoint/2010/main" val="549508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/>
          <p:cNvSpPr txBox="1"/>
          <p:nvPr/>
        </p:nvSpPr>
        <p:spPr>
          <a:xfrm>
            <a:off x="7888754" y="6627168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CBD5E1"/>
                </a:solidFill>
              </a:rPr>
              <a:t>Slide 18/37</a:t>
            </a:r>
          </a:p>
        </p:txBody>
      </p:sp>
      <p:pic>
        <p:nvPicPr>
          <p:cNvPr id="4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5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Data Flow Diagram — Level 1 (System Level)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7CB012E5-76DC-4FA0-9E24-971AB4ECF8F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09"/>
          <a:stretch/>
        </p:blipFill>
        <p:spPr>
          <a:xfrm>
            <a:off x="304800" y="990600"/>
            <a:ext cx="8610600" cy="527491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8: Data Flow Diagram — Level 1 System Decomposition (21 functional sub-processes: Auth → Academic Ingestion → OCR → Dual Evaluation → Tabulation → Email)</a:t>
            </a:r>
          </a:p>
        </p:txBody>
      </p:sp>
    </p:spTree>
    <p:extLst>
      <p:ext uri="{BB962C8B-B14F-4D97-AF65-F5344CB8AC3E}">
        <p14:creationId xmlns:p14="http://schemas.microsoft.com/office/powerpoint/2010/main" val="14284351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979056" y="728990"/>
            <a:ext cx="8231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818CF8"/>
                </a:solidFill>
              </a:rPr>
              <a:t>IFPUG Method — Quantifying </a:t>
            </a:r>
            <a:r>
              <a:rPr sz="1100" b="0" i="0" dirty="0" err="1">
                <a:solidFill>
                  <a:srgbClr val="818CF8"/>
                </a:solidFill>
              </a:rPr>
              <a:t>IntelliGrade</a:t>
            </a:r>
            <a:r>
              <a:rPr sz="1100" b="0" i="0" dirty="0">
                <a:solidFill>
                  <a:srgbClr val="818CF8"/>
                </a:solidFill>
              </a:rPr>
              <a:t> system size from 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94" y="1051560"/>
            <a:ext cx="857473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IFPUG FP Analysis — IntelliGrade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71495" y="1481328"/>
            <a:ext cx="2881110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5794" y="1517904"/>
            <a:ext cx="28125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Component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86904" y="1481328"/>
            <a:ext cx="994669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21203" y="1517904"/>
            <a:ext cx="9260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5872" y="1481328"/>
            <a:ext cx="1269060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50171" y="1517904"/>
            <a:ext cx="12004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Complexity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19232" y="1481328"/>
            <a:ext cx="1269060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53530" y="1517904"/>
            <a:ext cx="12004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Weight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2590" y="1481328"/>
            <a:ext cx="2263730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56890" y="1517904"/>
            <a:ext cx="21951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FP Contribution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1495" y="1892807"/>
            <a:ext cx="288111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19513" y="1984248"/>
            <a:ext cx="278507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/>
              <a:t>External Inputs (EI) — 27 Use Case workflows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86904" y="1892807"/>
            <a:ext cx="994669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34922" y="1984248"/>
            <a:ext cx="8986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/>
              <a:t>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5872" y="1892807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163891" y="1984248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Average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19232" y="1892807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67250" y="1984248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2590" y="1892807"/>
            <a:ext cx="226373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770609" y="1984248"/>
            <a:ext cx="21676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108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1495" y="2423160"/>
            <a:ext cx="288111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19513" y="2514600"/>
            <a:ext cx="278507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/>
              <a:t>External Outputs (EO) — PDF, Excel, Email, Dashboard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86904" y="2423160"/>
            <a:ext cx="994669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134922" y="2514600"/>
            <a:ext cx="8986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5872" y="2423160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163891" y="2514600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Average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19232" y="2423160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67250" y="2514600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2590" y="2423160"/>
            <a:ext cx="226373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70609" y="2514600"/>
            <a:ext cx="21676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90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1495" y="2953511"/>
            <a:ext cx="288111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19513" y="3044951"/>
            <a:ext cx="278507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/>
              <a:t>External Inquiries (EQ) — Grade views, downloads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86904" y="2953511"/>
            <a:ext cx="994669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134922" y="3044951"/>
            <a:ext cx="8986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5872" y="2953511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163891" y="3044951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Simple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19232" y="2953511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467250" y="3044951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22590" y="2953511"/>
            <a:ext cx="226373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770609" y="3044951"/>
            <a:ext cx="21676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36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1495" y="3483863"/>
            <a:ext cx="288111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19513" y="3575303"/>
            <a:ext cx="278507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/>
              <a:t>Internal Logical Files (ILF) — 21+ Django models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86904" y="3483863"/>
            <a:ext cx="994669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134922" y="3575303"/>
            <a:ext cx="8986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5872" y="3483863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63891" y="3575303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Complex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19232" y="3483863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467250" y="3575303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22590" y="3483863"/>
            <a:ext cx="226373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770609" y="3575303"/>
            <a:ext cx="21676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210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1495" y="4014215"/>
            <a:ext cx="288111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19513" y="4105655"/>
            <a:ext cx="278507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/>
              <a:t>External Interface Files (EIF) — 5 AI providers/SMTP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86904" y="4014215"/>
            <a:ext cx="994669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134922" y="4105655"/>
            <a:ext cx="8986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5872" y="4014215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163891" y="4105655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Average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19232" y="4014215"/>
            <a:ext cx="126906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467250" y="4105655"/>
            <a:ext cx="11730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2590" y="4014215"/>
            <a:ext cx="2263730" cy="47548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770609" y="4105655"/>
            <a:ext cx="21676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/>
              <a:t>35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71494" y="4572000"/>
            <a:ext cx="8780527" cy="5303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40093" y="4654296"/>
            <a:ext cx="281251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Total Unadjusted FPs (UFP)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91188" y="4654296"/>
            <a:ext cx="212653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479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94" y="5166360"/>
            <a:ext cx="85747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/>
              <a:t>Value Adjustment Factor (VAF) = 0.65 + (0.01 × Sum-GSCs)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794" y="5440680"/>
            <a:ext cx="85747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/>
              <a:t>Sum-GSCs (14 General System Characteristics) = 47  →  VAF = 0.65 + 0.47 = 1.12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71494" y="5779008"/>
            <a:ext cx="8780527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74391" y="5888736"/>
            <a:ext cx="8643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Adjusted Function Points (AFP) = UFP × VAF = 479 × 1.12 = 536.48 FPs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93" y="6446520"/>
            <a:ext cx="8711929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 dirty="0">
                <a:solidFill>
                  <a:sysClr val="windowText" lastClr="000000"/>
                </a:solidFill>
              </a:rPr>
              <a:t>EI: 27 UC workflows | EO: Certified PDF, Excel, Email, Dashboards | ILF: All 21+ </a:t>
            </a:r>
            <a:r>
              <a:rPr sz="850" b="0" i="1" dirty="0" err="1">
                <a:solidFill>
                  <a:sysClr val="windowText" lastClr="000000"/>
                </a:solidFill>
              </a:rPr>
              <a:t>Django</a:t>
            </a:r>
            <a:r>
              <a:rPr sz="850" b="0" i="1" dirty="0">
                <a:solidFill>
                  <a:sysClr val="windowText" lastClr="000000"/>
                </a:solidFill>
              </a:rPr>
              <a:t> models | EIF: Gemini, </a:t>
            </a:r>
            <a:r>
              <a:rPr sz="850" b="0" i="1" dirty="0" err="1">
                <a:solidFill>
                  <a:sysClr val="windowText" lastClr="000000"/>
                </a:solidFill>
              </a:rPr>
              <a:t>Groq</a:t>
            </a:r>
            <a:r>
              <a:rPr sz="850" b="0" i="1" dirty="0">
                <a:solidFill>
                  <a:sysClr val="windowText" lastClr="000000"/>
                </a:solidFill>
              </a:rPr>
              <a:t>, </a:t>
            </a:r>
            <a:r>
              <a:rPr sz="850" b="0" i="1" dirty="0" err="1">
                <a:solidFill>
                  <a:sysClr val="windowText" lastClr="000000"/>
                </a:solidFill>
              </a:rPr>
              <a:t>Ollama</a:t>
            </a:r>
            <a:r>
              <a:rPr sz="850" b="0" i="1" dirty="0">
                <a:solidFill>
                  <a:sysClr val="windowText" lastClr="000000"/>
                </a:solidFill>
              </a:rPr>
              <a:t>, </a:t>
            </a:r>
            <a:r>
              <a:rPr sz="850" b="0" i="1" dirty="0" err="1">
                <a:solidFill>
                  <a:sysClr val="windowText" lastClr="000000"/>
                </a:solidFill>
              </a:rPr>
              <a:t>OpenRouter</a:t>
            </a:r>
            <a:r>
              <a:rPr sz="850" b="0" i="1" dirty="0">
                <a:solidFill>
                  <a:sysClr val="windowText" lastClr="000000"/>
                </a:solidFill>
              </a:rPr>
              <a:t>, SMTP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20/37</a:t>
            </a:r>
          </a:p>
        </p:txBody>
      </p:sp>
      <p:pic>
        <p:nvPicPr>
          <p:cNvPr id="78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9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Function Point (FP) Calculation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8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8714400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764988" y="657459"/>
            <a:ext cx="35835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818CF8"/>
                </a:solidFill>
              </a:rPr>
              <a:t>37 Functional Requirements derived from system use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95" y="1051560"/>
            <a:ext cx="425307" cy="4663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2074" y="1143000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</a:rPr>
              <a:t>FR-01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801" y="1051560"/>
            <a:ext cx="4012975" cy="466344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51680" y="1143000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[Auth] Unified role-based authentication -&gt; role-specific dashboard redirect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1495" y="1591055"/>
            <a:ext cx="425307" cy="4663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2074" y="1682495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6801" y="1591055"/>
            <a:ext cx="4012975" cy="466344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680" y="1682495"/>
            <a:ext cx="39100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[</a:t>
            </a:r>
            <a:r>
              <a:rPr sz="900" b="0" i="0" dirty="0" err="1"/>
              <a:t>Auth</a:t>
            </a:r>
            <a:r>
              <a:rPr sz="900" b="0" i="0" dirty="0"/>
              <a:t>] Student self-registration with </a:t>
            </a:r>
            <a:r>
              <a:rPr sz="900" b="0" i="0" dirty="0" err="1"/>
              <a:t>is_approved</a:t>
            </a:r>
            <a:r>
              <a:rPr sz="900" b="0" i="0" dirty="0"/>
              <a:t>=False -&gt; Controller approval required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95" y="2130552"/>
            <a:ext cx="425307" cy="4663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2074" y="2221992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6801" y="2130552"/>
            <a:ext cx="4012975" cy="466344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1680" y="2221992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[Auth] 6-digit OTP password reset via SMTP with 10-minute expiry window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1495" y="2670048"/>
            <a:ext cx="425307" cy="4663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2074" y="2761488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6801" y="2670048"/>
            <a:ext cx="4012975" cy="466344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680" y="2761488"/>
            <a:ext cx="39100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[</a:t>
            </a:r>
            <a:r>
              <a:rPr sz="900" b="0" i="0" dirty="0" err="1"/>
              <a:t>Gov</a:t>
            </a:r>
            <a:r>
              <a:rPr sz="900" b="0" i="0" dirty="0"/>
              <a:t>] Exam Controllers manage Colleges, Schools, Departments, Courses, Faculty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95" y="3209544"/>
            <a:ext cx="425307" cy="4663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92074" y="3300984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6801" y="3209544"/>
            <a:ext cx="4012975" cy="466344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1680" y="3300984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[Gov] Toggle active/blocked status for any institutional user account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95" y="3749039"/>
            <a:ext cx="425307" cy="466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92074" y="3840479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801" y="3749039"/>
            <a:ext cx="4012975" cy="466344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1680" y="3840479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[AI] Parse multi-page exam routine PDFs -&gt; extract dates, times, course codes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1495" y="4288536"/>
            <a:ext cx="425307" cy="466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2074" y="4379975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FR-07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6801" y="4288536"/>
            <a:ext cx="4012975" cy="466344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51680" y="4379975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[AI] 0ms local DB course match -&gt; 1-click batch examination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1495" y="4828031"/>
            <a:ext cx="425307" cy="466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92074" y="4919471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801" y="4828031"/>
            <a:ext cx="4012975" cy="466344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51680" y="4919471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[AI] Admin configures API keys: Gemini, Groq, OpenAI, OpenRouter, Ollama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95" y="5367527"/>
            <a:ext cx="425307" cy="466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92074" y="5458967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6801" y="5367527"/>
            <a:ext cx="4012975" cy="466344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1680" y="5458967"/>
            <a:ext cx="39100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[Head] Live departmental pass rates + active courses + enrolled students dashboard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1495" y="5907023"/>
            <a:ext cx="425307" cy="466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92074" y="5998463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6801" y="5907023"/>
            <a:ext cx="4012975" cy="466344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51680" y="5998463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[Head] Dept Heads audit course OBE sheets and CO/PO attainment matrices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30356" y="1051560"/>
            <a:ext cx="425307" cy="4663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50935" y="1143000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55663" y="1051560"/>
            <a:ext cx="4012975" cy="466344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110541" y="1143000"/>
            <a:ext cx="39100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[Q&amp;R] 23-section IUBAT OBE metadata per question: Bloom, CO, PO, KP, CEP, CEA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30356" y="1591055"/>
            <a:ext cx="425307" cy="4663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650935" y="1682495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55663" y="1591055"/>
            <a:ext cx="4012975" cy="466344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110541" y="1682495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[Q&amp;R] Structured rubrics with criteria, ideal answer, partial marks, keywords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30356" y="2130552"/>
            <a:ext cx="425307" cy="4663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650935" y="2221992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55663" y="2130552"/>
            <a:ext cx="4012975" cy="466344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110541" y="2221992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[Q&amp;R] Extract bounding boxes for Question Figures, Tables, LaTeX formulas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30356" y="2670048"/>
            <a:ext cx="425307" cy="4663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650935" y="2761488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55663" y="2670048"/>
            <a:ext cx="4012975" cy="466344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110541" y="2761488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[Q&amp;R] Sanitize unescaped LaTeX backslashes to prevent JSON decode errors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30356" y="3209544"/>
            <a:ext cx="425307" cy="466344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650935" y="3300984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55663" y="3209544"/>
            <a:ext cx="4012975" cy="466344"/>
          </a:xfrm>
          <a:prstGeom prst="rect">
            <a:avLst/>
          </a:prstGeom>
          <a:noFill/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110541" y="3300984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[OCR] Teacher uploads master solution; system links steps to questions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30356" y="3749039"/>
            <a:ext cx="425307" cy="466344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650935" y="3840479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55663" y="3749039"/>
            <a:ext cx="4012975" cy="466344"/>
          </a:xfrm>
          <a:prstGeom prst="rect">
            <a:avLst/>
          </a:prstGeom>
          <a:noFill/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110541" y="3840479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[OCR] PDF scripts rendered at 300 DPI + OpenCV deskew + noise reduction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630356" y="4288536"/>
            <a:ext cx="425307" cy="466344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650935" y="4379975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55663" y="4288536"/>
            <a:ext cx="4012975" cy="466344"/>
          </a:xfrm>
          <a:prstGeom prst="rect">
            <a:avLst/>
          </a:prstGeom>
          <a:noFill/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110541" y="4379975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[OCR] Versioned working copies in submission_working/ with increment IDs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30356" y="4828031"/>
            <a:ext cx="425307" cy="466344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650935" y="4919471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55663" y="4828031"/>
            <a:ext cx="4012975" cy="466344"/>
          </a:xfrm>
          <a:prstGeom prst="rect">
            <a:avLst/>
          </a:prstGeom>
          <a:noFill/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110541" y="4919471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[OCR] Hybrid OCR: PyMuPDF -&gt; PyTesseract -&gt; EasyOCR PyTorch CPU fallback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30356" y="5367527"/>
            <a:ext cx="425307" cy="466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650935" y="5458967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FR-19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55663" y="5367527"/>
            <a:ext cx="4012975" cy="466344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110541" y="5458967"/>
            <a:ext cx="391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[Map] Detect Q-number headings using strict start-of-line regex state machine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30356" y="5907023"/>
            <a:ext cx="425307" cy="466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650935" y="5998463"/>
            <a:ext cx="397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55663" y="5907023"/>
            <a:ext cx="4012975" cy="466344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10541" y="5998463"/>
            <a:ext cx="39100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[Map] Interactive mapping modal: teacher adjusts page numbers and crop regions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21/37</a:t>
            </a:r>
          </a:p>
        </p:txBody>
      </p:sp>
      <p:pic>
        <p:nvPicPr>
          <p:cNvPr id="8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Functional Requirements (FR-01 to FR-20)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9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5784365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71495" y="838200"/>
            <a:ext cx="489591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2073" y="883920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802" y="838200"/>
            <a:ext cx="8368939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9357" y="883920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[AI] Failover chain: Local Vision -&gt; </a:t>
            </a:r>
            <a:r>
              <a:rPr sz="900" b="0" i="0" dirty="0" err="1"/>
              <a:t>Groq</a:t>
            </a:r>
            <a:r>
              <a:rPr sz="900" b="0" i="0" dirty="0"/>
              <a:t> -&gt; </a:t>
            </a:r>
            <a:r>
              <a:rPr sz="900" b="0" i="0" dirty="0" err="1"/>
              <a:t>OpenRouter</a:t>
            </a:r>
            <a:r>
              <a:rPr sz="900" b="0" i="0" dirty="0"/>
              <a:t> -&gt; Gemini -&gt; </a:t>
            </a:r>
            <a:r>
              <a:rPr sz="900" b="0" i="0" dirty="0" err="1"/>
              <a:t>OpenAI</a:t>
            </a:r>
            <a:endParaRPr sz="900" b="0" i="0" dirty="0"/>
          </a:p>
        </p:txBody>
      </p:sp>
      <p:sp>
        <p:nvSpPr>
          <p:cNvPr id="10" name="Rectangle 9"/>
          <p:cNvSpPr/>
          <p:nvPr/>
        </p:nvSpPr>
        <p:spPr>
          <a:xfrm>
            <a:off x="171495" y="1176528"/>
            <a:ext cx="489591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2073" y="1222248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6802" y="1176528"/>
            <a:ext cx="8368939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9357" y="1222248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[AI] Track HTTP 429 events -&gt; exponential backoff cooldowns per provider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95" y="1514856"/>
            <a:ext cx="489591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2073" y="1560576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6802" y="1514856"/>
            <a:ext cx="8368939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9357" y="1560576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[AI] Enforce 45-second timeout per AI request -&gt; immediate failover trigger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1495" y="1853183"/>
            <a:ext cx="489591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2073" y="1898903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6802" y="1853183"/>
            <a:ext cx="8368939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9357" y="1898903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[AI] Evaluate against rubric criteria -&gt; return marks, confidence, strengths, mistakes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95" y="2191512"/>
            <a:ext cx="489591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92073" y="2237231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6802" y="2191512"/>
            <a:ext cx="8368939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9357" y="2237231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[AI] Set requires_manual_review=True when confidence &lt; configured threshold (0.75)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95" y="2529840"/>
            <a:ext cx="489591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92073" y="2575560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802" y="2529840"/>
            <a:ext cx="8368939" cy="29260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9357" y="2575560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[WB] Split-screen workbench: scanned script image left, AI score + rubric right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1495" y="2868167"/>
            <a:ext cx="489591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2073" y="2913887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6802" y="2868167"/>
            <a:ext cx="8368939" cy="29260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49357" y="2913887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[WB] Teacher mark override -&gt; logged in TeacherReview + EvaluationHistory tables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1495" y="3206496"/>
            <a:ext cx="489591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92073" y="3252215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802" y="3206496"/>
            <a:ext cx="8368939" cy="29260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49357" y="3252215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[PDF] Stamp certified PDF: institutional header, marks, comments, digital watermark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95" y="3544823"/>
            <a:ext cx="489591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92073" y="3590543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6802" y="3544823"/>
            <a:ext cx="8368939" cy="29260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49357" y="3590543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[Tab] Aggregate: Class Test (10%), Midterm (25%), Final (50%), Assign (10%), Att (5%)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1495" y="3883152"/>
            <a:ext cx="489591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92073" y="3928872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FR-30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6802" y="3883152"/>
            <a:ext cx="8368939" cy="29260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49357" y="3928872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[Tab] Real-time sync: tabulation modal edits -&gt; StudentGradeRecord + Excel + Dashboard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1495" y="4221480"/>
            <a:ext cx="489591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92073" y="4267199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6802" y="4221480"/>
            <a:ext cx="8368939" cy="29260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49357" y="4267199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[Tab] Generate 8-sheet Excel (openpyxl): HOME, CO_ATTAINMENT, PO, CQI formulas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1495" y="4559808"/>
            <a:ext cx="489591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92073" y="4605528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FR-32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6802" y="4559808"/>
            <a:ext cx="8368939" cy="292608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49357" y="4605528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[Email] Non-blocking SMTP via dsr.iubat.ac.bd for results, credentials, OTPs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1495" y="4898136"/>
            <a:ext cx="489591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92073" y="4943856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FR-33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6802" y="4898136"/>
            <a:ext cx="8368939" cy="292608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49357" y="4943856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[Std] Student dashboard: GPA (4.00 scale), question-wise scores + PDF download links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71495" y="5236463"/>
            <a:ext cx="489591" cy="2926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92073" y="5282183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FR-34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6802" y="5236463"/>
            <a:ext cx="8368939" cy="292608"/>
          </a:xfrm>
          <a:prstGeom prst="rect">
            <a:avLst/>
          </a:prstGeom>
          <a:noFill/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49357" y="5282183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[Wiz] Dual wizards: AI Wizard v3.0 + Manual Grading Wizard (zero AI/OCR path)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71495" y="5574792"/>
            <a:ext cx="489591" cy="2926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92073" y="5620512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FR-35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6802" y="5574792"/>
            <a:ext cx="8368939" cy="292608"/>
          </a:xfrm>
          <a:prstGeom prst="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49357" y="5620512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[Stor] Auto-purge working images from media/submission_working/ upon PDF creation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1495" y="5913119"/>
            <a:ext cx="489591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92073" y="5958839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6802" y="5913119"/>
            <a:ext cx="8368939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49357" y="5958839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[DB] Composite indexes + select_related/prefetch_related -&gt; eliminate N+1 queries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71495" y="6251448"/>
            <a:ext cx="489591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92073" y="6297168"/>
            <a:ext cx="4580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FR-37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6802" y="6251448"/>
            <a:ext cx="8368939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49357" y="6297168"/>
            <a:ext cx="82660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[AI] Local vision: 800px LANCZOS downsampling + JPEG quality=75 before Ollama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24839" y="6588068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/>
              <a:t>Slide 22/37</a:t>
            </a:r>
          </a:p>
        </p:txBody>
      </p:sp>
      <p:pic>
        <p:nvPicPr>
          <p:cNvPr id="77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8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Functional Requirements (FR-21 to FR-37)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7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7193675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6200" y="912976"/>
            <a:ext cx="684134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780" y="958696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 dirty="0">
                <a:solidFill>
                  <a:srgbClr val="FFFFFF"/>
                </a:solidFill>
              </a:rPr>
              <a:t>NFR-01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65399" y="914400"/>
            <a:ext cx="926071" cy="29260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2000" y="960120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/>
              <a:t>Performance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1471" y="914400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28800" y="960120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Dashboard pages rendered &lt;= 1.5 seconds under institutional network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" y="1251304"/>
            <a:ext cx="684134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780" y="1297024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5399" y="1252728"/>
            <a:ext cx="926071" cy="29260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2000" y="1298448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91471" y="1252728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828800" y="1298448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300 DPI render + PyTesseract OCR per page &lt;= 4.0 seconds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" y="1589632"/>
            <a:ext cx="684134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780" y="1635352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399" y="1591056"/>
            <a:ext cx="926071" cy="29260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62000" y="1636776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Performance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91471" y="1591056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828800" y="1636776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AI evaluation per question via Groq/Gemini &lt;= 8.0 seconds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" y="1927959"/>
            <a:ext cx="684134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780" y="1973679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399" y="1929383"/>
            <a:ext cx="926071" cy="29260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2000" y="1975103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Failover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91471" y="1929383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28800" y="1975103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Provider timeout/429 -&gt; failover transition &lt;= 500 milliseconds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" y="2266288"/>
            <a:ext cx="684134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780" y="2312007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399" y="2267712"/>
            <a:ext cx="926071" cy="29260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62000" y="2313431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Scalability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91471" y="2267712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828800" y="2313431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Concurrent batch upload of 100 multi-page scripts without deadlock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200" y="2604616"/>
            <a:ext cx="684134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780" y="2650336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399" y="2606040"/>
            <a:ext cx="926071" cy="292608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62000" y="2651760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Availability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91471" y="2606040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28800" y="2651760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&gt;= 99.5% uptime during exam periods via offline vision fallback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" y="2942943"/>
            <a:ext cx="684134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780" y="2988663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5399" y="2944367"/>
            <a:ext cx="926071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62000" y="2990087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Security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91471" y="2944367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828800" y="2990087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Passwords salted+hashed (Argon2/PBKDF2-SHA256), never plaintext stored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200" y="3281272"/>
            <a:ext cx="684134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6780" y="3326991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5399" y="3282696"/>
            <a:ext cx="926071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62000" y="3328415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Security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91471" y="3282696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8800" y="3328415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Every view/API endpoint enforces @role_required RBAC decorators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200" y="3619599"/>
            <a:ext cx="684134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6780" y="3665319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NFR-09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5399" y="3621023"/>
            <a:ext cx="926071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62000" y="3666743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Security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91471" y="3621023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828800" y="3666743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All POST/PUT/DELETE requests mandate valid CSRF tokens from middleware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200" y="3957928"/>
            <a:ext cx="684134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6780" y="4003648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NFR-10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5399" y="3959352"/>
            <a:ext cx="926071" cy="292608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2000" y="4005072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Integrity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91471" y="3959352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828800" y="4005072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Grade updates execute within atomic DB transactions (transaction.atomic)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200" y="4296256"/>
            <a:ext cx="684134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6780" y="4341975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NFR-11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5399" y="4297680"/>
            <a:ext cx="926071" cy="29260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62000" y="4343399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Audit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91471" y="4297680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828800" y="4343399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Mark overrides log immutable audit entries with teacher ID + timestamp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200" y="4634584"/>
            <a:ext cx="684134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6780" y="4680304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5399" y="4636008"/>
            <a:ext cx="926071" cy="292608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2000" y="4681728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OBE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91471" y="4636008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828800" y="4681728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CO/PO calculations strictly adhere to IUBAT &amp; BAETE accreditation standards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200" y="4972912"/>
            <a:ext cx="684134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6780" y="5018632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NFR-13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5399" y="4974336"/>
            <a:ext cx="926071" cy="292608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62000" y="5020056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Excel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591471" y="4974336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828800" y="5020056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8-sheet workbooks preserve openpyxl formulas, validation, and cell colors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6200" y="5311239"/>
            <a:ext cx="684134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6780" y="5356959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5399" y="5312663"/>
            <a:ext cx="926071" cy="292608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62000" y="5358383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Email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591471" y="5312663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828800" y="5358383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SMTP dispatches run in background threads — never blocks HTTP responses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6200" y="5649568"/>
            <a:ext cx="684134" cy="2926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96780" y="5695288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NFR-15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5399" y="5650992"/>
            <a:ext cx="926071" cy="292608"/>
          </a:xfrm>
          <a:prstGeom prst="rect">
            <a:avLst/>
          </a:prstGeom>
          <a:noFill/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762000" y="5696712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Usability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591471" y="5650992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828800" y="5696712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Responsive UI with dark/light theme + split-screen PDF viewer on desktop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6200" y="5987895"/>
            <a:ext cx="684134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6780" y="6033615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NFR-16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65399" y="5989319"/>
            <a:ext cx="926071" cy="292608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62000" y="6035039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DB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591471" y="5989319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1828800" y="6035039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Composite B-tree indexes + eager-loading for near-O(1) query complexity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6200" y="6326224"/>
            <a:ext cx="684134" cy="29260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6780" y="6371944"/>
            <a:ext cx="64612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NFR-17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65399" y="6327648"/>
            <a:ext cx="926071" cy="292608"/>
          </a:xfrm>
          <a:prstGeom prst="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62000" y="6373368"/>
            <a:ext cx="8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/>
              <a:t>Storage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591471" y="6327648"/>
            <a:ext cx="7442868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828800" y="6373368"/>
            <a:ext cx="73536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Draft working images purged upon finalization to conserve disk space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888754" y="6627168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/>
              <a:t>Slide 23/37</a:t>
            </a:r>
          </a:p>
        </p:txBody>
      </p:sp>
      <p:pic>
        <p:nvPicPr>
          <p:cNvPr id="111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2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Non-Functional Requirements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113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474495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88908" y="657459"/>
            <a:ext cx="39357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818CF8"/>
                </a:solidFill>
              </a:rPr>
              <a:t>Full technology choices: backend, AI, OCR, database, and UI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95" y="1078992"/>
            <a:ext cx="2812512" cy="2514600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0093" y="1143000"/>
            <a:ext cx="26753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</a:rPr>
              <a:t>Backend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92" y="149047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Django 5.2.x (Python 3.11)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92" y="176479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Class-based + function-based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92" y="203911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CSRF, RBAC, Session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92" y="231343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Atomic DB transactions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5502" y="1078992"/>
            <a:ext cx="2812512" cy="2514600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224099" y="1143000"/>
            <a:ext cx="26753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latin typeface="Times New Roman" pitchFamily="18" charset="0"/>
                <a:cs typeface="Times New Roman" pitchFamily="18" charset="0"/>
              </a:rPr>
              <a:t>Database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8399" y="149047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SQLite (dev) -&gt; PostgreSQL (prod)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8399" y="176479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28 Django migrations applied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8399" y="203911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Composite B-tree indexes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58399" y="231343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select_related / prefetch_related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9508" y="1078992"/>
            <a:ext cx="2812512" cy="2514600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08106" y="1143000"/>
            <a:ext cx="26753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3F5E"/>
                </a:solidFill>
              </a:rPr>
              <a:t>AI &amp; LLM Providers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2406" y="149047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Google Gemini 2.5 Flash / 2.0 Flash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2406" y="176479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Groq Llama-3.3-70B Versatile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2406" y="203911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OpenRouter API 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2406" y="231343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OpenAI GPT-4o (backup)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2406" y="258775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Ollama Moondream2 (offline)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1495" y="3776472"/>
            <a:ext cx="2812512" cy="2514600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0093" y="3840480"/>
            <a:ext cx="26753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OCR &amp; Vision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92" y="418795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PyMuPDF (font-map extraction)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92" y="446227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PyTesseract (printed text)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92" y="4736592"/>
            <a:ext cx="26410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EasyOCR PyTorch CPU (handwritten)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92" y="501091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OpenCV deskew / noise filter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92" y="528523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300 DPI rasterization (zoom=4.166)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5502" y="3776472"/>
            <a:ext cx="2812512" cy="2514600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224099" y="3840480"/>
            <a:ext cx="26753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Frontend /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58399" y="418795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TailwindCSS CDN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58399" y="446227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Lucide Icons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58399" y="473659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Plus Jakarta Sans (Google Fonts)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58399" y="501091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Dark/Light theme toggle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58399" y="528523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Vanilla JS + fetch API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39508" y="3776472"/>
            <a:ext cx="2812512" cy="2514600"/>
          </a:xfrm>
          <a:prstGeom prst="rect">
            <a:avLst/>
          </a:prstGeom>
          <a:noFill/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208106" y="3840480"/>
            <a:ext cx="26753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18CF8"/>
                </a:solidFill>
              </a:rPr>
              <a:t>Output &amp; Reports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406" y="418795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openpyxl — 8-sheet OBE Excel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2406" y="446227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ReportLab — certified PDF stamps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2406" y="4736592"/>
            <a:ext cx="26410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Async SMTP email (threading)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2406" y="5010912"/>
            <a:ext cx="26410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latin typeface="Times New Roman" pitchFamily="18" charset="0"/>
                <a:cs typeface="Times New Roman" pitchFamily="18" charset="0"/>
              </a:rPr>
              <a:t>  • Watermarked PDF with Django headers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24/37</a:t>
            </a:r>
          </a:p>
        </p:txBody>
      </p:sp>
      <p:pic>
        <p:nvPicPr>
          <p:cNvPr id="48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Technology Stack &amp; Infrastructure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486610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385122" y="609600"/>
            <a:ext cx="437384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818CF8"/>
                </a:solidFill>
              </a:rPr>
              <a:t>20+ models, 28 migrations, Phase-1 B-tree composite index optimizations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94" y="1143000"/>
            <a:ext cx="4218769" cy="2450592"/>
          </a:xfrm>
          <a:prstGeom prst="rect">
            <a:avLst/>
          </a:prstGeom>
          <a:noFill/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71494" y="1143000"/>
            <a:ext cx="4218769" cy="2743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6373" y="1179576"/>
            <a:ext cx="41158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«model» StudentSubmission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12" y="1463040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• examination (FK)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812" y="1719072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student_roll_no (str)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812" y="1975104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status (Enum)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12" y="2231136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is_finalized (bool)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812" y="2487168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certified_pdf_path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812" y="2743200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INDEX: [examination, status]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12" y="2999232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INDEX: [</a:t>
            </a:r>
            <a:r>
              <a:rPr sz="850" b="1" i="0" dirty="0" err="1">
                <a:solidFill>
                  <a:srgbClr val="10B981"/>
                </a:solidFill>
              </a:rPr>
              <a:t>student_roll_no</a:t>
            </a:r>
            <a:r>
              <a:rPr sz="850" b="1" i="0" dirty="0">
                <a:solidFill>
                  <a:srgbClr val="10B981"/>
                </a:solidFill>
              </a:rPr>
              <a:t>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812" y="3255264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INDEX: [</a:t>
            </a:r>
            <a:r>
              <a:rPr sz="850" b="1" i="0" dirty="0" err="1">
                <a:solidFill>
                  <a:srgbClr val="10B981"/>
                </a:solidFill>
              </a:rPr>
              <a:t>is_finalized</a:t>
            </a:r>
            <a:r>
              <a:rPr sz="850" b="1" i="0" dirty="0">
                <a:solidFill>
                  <a:srgbClr val="10B981"/>
                </a:solidFill>
              </a:rPr>
              <a:t>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1494" y="3867912"/>
            <a:ext cx="4218769" cy="2450592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71494" y="3867912"/>
            <a:ext cx="4218769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6373" y="3904488"/>
            <a:ext cx="41158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«model» EvaluationResult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12" y="4187951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mapping (FK-&gt;QuestionMapping)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3812" y="4443984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obtained_marks, max_marks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3812" y="4700016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confidence_score (float)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3812" y="4956047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status (Enum)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812" y="5212079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requires_manual_review (bool)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3812" y="5468112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ai_feedback (text)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3812" y="5724143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INDEX: [status, </a:t>
            </a:r>
            <a:r>
              <a:rPr sz="850" b="1" i="0" dirty="0" err="1">
                <a:solidFill>
                  <a:srgbClr val="10B981"/>
                </a:solidFill>
              </a:rPr>
              <a:t>requires_manual_review</a:t>
            </a:r>
            <a:r>
              <a:rPr sz="850" b="1" i="0" dirty="0">
                <a:solidFill>
                  <a:srgbClr val="10B981"/>
                </a:solidFill>
              </a:rPr>
              <a:t>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6057" y="1143000"/>
            <a:ext cx="4218769" cy="2450592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96057" y="1143000"/>
            <a:ext cx="4218769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50935" y="1179576"/>
            <a:ext cx="41158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«model» QuestionMapping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8374" y="1463040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• submission (FK)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8374" y="1719072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question (FK)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8374" y="1975104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page_numbers (JSON)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78374" y="2231136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mapping_status (Enum)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8374" y="2487168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is_confirmed (bool)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8374" y="2743200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bounding_box (JSON)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8374" y="2999232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INDEX: [submission, </a:t>
            </a:r>
            <a:r>
              <a:rPr sz="850" b="1" i="0" dirty="0" err="1">
                <a:solidFill>
                  <a:srgbClr val="10B981"/>
                </a:solidFill>
              </a:rPr>
              <a:t>mapping_status</a:t>
            </a:r>
            <a:r>
              <a:rPr sz="850" b="1" i="0" dirty="0">
                <a:solidFill>
                  <a:srgbClr val="10B981"/>
                </a:solidFill>
              </a:rPr>
              <a:t>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8374" y="3255264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INDEX: [submission, </a:t>
            </a:r>
            <a:r>
              <a:rPr sz="850" b="1" i="0" dirty="0" err="1">
                <a:solidFill>
                  <a:srgbClr val="10B981"/>
                </a:solidFill>
              </a:rPr>
              <a:t>is_confirmed</a:t>
            </a:r>
            <a:r>
              <a:rPr sz="850" b="1" i="0" dirty="0">
                <a:solidFill>
                  <a:srgbClr val="10B981"/>
                </a:solidFill>
              </a:rPr>
              <a:t>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6057" y="3867912"/>
            <a:ext cx="4218769" cy="2450592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596057" y="3867912"/>
            <a:ext cx="4218769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50935" y="3904488"/>
            <a:ext cx="41158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«model» StudentGradeRecord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78374" y="4187951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• tabulation (FK-&gt;</a:t>
            </a:r>
            <a:r>
              <a:rPr sz="900" b="0" i="0" dirty="0" err="1"/>
              <a:t>CourseTabulation</a:t>
            </a:r>
            <a:r>
              <a:rPr sz="900" b="0" i="0" dirty="0"/>
              <a:t>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8374" y="4443984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student (FK-&gt;Profile)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8374" y="4700016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ct_marks, mid_marks, final_marks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8374" y="4956047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assign_marks, attendance_pct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8374" y="5212079"/>
            <a:ext cx="404727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• overall_score, grade_point, letter_grade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78374" y="5468112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NDEX: [tabulation, </a:t>
            </a:r>
            <a:r>
              <a:rPr sz="850" b="1" i="0" dirty="0" err="1">
                <a:solidFill>
                  <a:srgbClr val="10B981"/>
                </a:solidFill>
              </a:rPr>
              <a:t>student_id</a:t>
            </a:r>
            <a:r>
              <a:rPr sz="850" b="1" i="0" dirty="0">
                <a:solidFill>
                  <a:srgbClr val="10B981"/>
                </a:solidFill>
              </a:rPr>
              <a:t>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78374" y="5724143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NDEX: [tabulation, </a:t>
            </a:r>
            <a:r>
              <a:rPr sz="850" b="1" i="0" dirty="0" err="1">
                <a:solidFill>
                  <a:srgbClr val="10B981"/>
                </a:solidFill>
              </a:rPr>
              <a:t>overall_score</a:t>
            </a:r>
            <a:r>
              <a:rPr sz="850" b="1" i="0" dirty="0">
                <a:solidFill>
                  <a:srgbClr val="10B981"/>
                </a:solidFill>
              </a:rPr>
              <a:t>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78374" y="5980175"/>
            <a:ext cx="404727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10B981"/>
                </a:solidFill>
              </a:rPr>
              <a:t>INDEX: [</a:t>
            </a:r>
            <a:r>
              <a:rPr sz="850" b="1" i="0" dirty="0" err="1">
                <a:solidFill>
                  <a:srgbClr val="10B981"/>
                </a:solidFill>
              </a:rPr>
              <a:t>is_manually_edited</a:t>
            </a:r>
            <a:r>
              <a:rPr sz="850" b="1" i="0" dirty="0">
                <a:solidFill>
                  <a:srgbClr val="10B981"/>
                </a:solidFill>
              </a:rPr>
              <a:t>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8754" y="6474768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CBD5E1"/>
                </a:solidFill>
              </a:rPr>
              <a:t>Slide 25/37</a:t>
            </a:r>
          </a:p>
        </p:txBody>
      </p:sp>
      <p:pic>
        <p:nvPicPr>
          <p:cNvPr id="5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3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it-IT" sz="3200" b="1" dirty="0"/>
              <a:t>Database Schema &amp; Composite Indexes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5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017767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 noChangeArrowheads="1"/>
          </p:cNvPicPr>
          <p:nvPr/>
        </p:nvPicPr>
        <p:blipFill>
          <a:blip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IntelliGrade v4.0.0 — Technical Changes &amp; Optimization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8368"/>
            <a:ext cx="8595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508CC8"/>
                </a:solidFill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84124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FF96"/>
                </a:solidFill>
              </a:rPr>
              <a:t>PHASE 1: COMPLETED (v4.0.0 Release — August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1704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FF96"/>
                </a:solidFill>
              </a:rPr>
              <a:t>  ✓  DB Composite Indexes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70432"/>
            <a:ext cx="6126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C8"/>
                </a:solidFill>
              </a:rPr>
              <a:t>models.Index added to StudentSubmission, EvaluationResult, QuestionMapping, StudentGradeRecord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417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FF96"/>
                </a:solidFill>
              </a:rPr>
              <a:t>  ✓  N+1 Query Elimination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417320"/>
            <a:ext cx="6126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C8"/>
                </a:solidFill>
              </a:rPr>
              <a:t>select_related('question__rubric','page','evaluation_result') + prefetch_related() in evaluation_workspace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6642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FF96"/>
                </a:solidFill>
              </a:rPr>
              <a:t>  ✓  Storage Lifecycle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664208"/>
            <a:ext cx="6126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C8"/>
                </a:solidFill>
              </a:rPr>
              <a:t>FinalizationService._purge_temporary_artifacts() auto-deletes working images on certified PDF creation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1911095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FF96"/>
                </a:solidFill>
              </a:rPr>
              <a:t>  ✓  Ollama Optimization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911095"/>
            <a:ext cx="6126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C8"/>
                </a:solidFill>
              </a:rPr>
              <a:t>LocalOfflineVisionProvider: 800px LANCZOS downsampling + JPEG quality=75 before /api/generate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1579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FF96"/>
                </a:solidFill>
              </a:rPr>
              <a:t>  ✓  Manual Wizard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157984"/>
            <a:ext cx="6126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C8"/>
                </a:solidFill>
              </a:rPr>
              <a:t>Decoupled api_wizard_upload_pdf from AI evaluation pipeline — pure PDF page slicing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4048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FF96"/>
                </a:solidFill>
              </a:rPr>
              <a:t>  ✓  JS Unicode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404872"/>
            <a:ext cx="6126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C8"/>
                </a:solidFill>
              </a:rPr>
              <a:t>Resolved SyntaxError in evaluation_wizard.html via truncatechars:80|escapejs filter ordering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761488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50"/>
                </a:solidFill>
              </a:rPr>
              <a:t>PHASE 2: PLANNED (Weeks 1–4)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063240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6C864"/>
                </a:solidFill>
              </a:rPr>
              <a:t>⟳  Celery + Redis distributed task queue for async batch OCR and AI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6C864"/>
                </a:solidFill>
              </a:rPr>
              <a:t>⟳  Token Bucket rate limiter per AI provider — eliminate HTTP 429 stalls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520440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6C864"/>
                </a:solidFill>
              </a:rPr>
              <a:t>⟳  INT8 ONNX / TensorRT quantized models for local EasyOCR / Moondream2 on GPU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749039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6C864"/>
                </a:solidFill>
              </a:rPr>
              <a:t>⟳  WebSocket / SSE live grading progress notifications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4069079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482FF"/>
                </a:solidFill>
              </a:rPr>
              <a:t>PHASE 3: ENTERPRISE SCALE (Weeks 5–10)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370831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AAFF"/>
                </a:solidFill>
              </a:rPr>
              <a:t>⟳  Multi-tenant DB partitioning by semester/academic 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599431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AAFF"/>
                </a:solidFill>
              </a:rPr>
              <a:t>⟳  AWS S3 / Cloudflare R2 cloud storage with pre-signed URLs and lifecycle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28031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AAFF"/>
                </a:solidFill>
              </a:rPr>
              <a:t>⟳  pgvector RAG embeddings — historical teacher mark adjustments for few-shot calibration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1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AAFF"/>
                </a:solidFill>
              </a:rPr>
              <a:t>⟳  Washington Accord &amp; BAETE SSR auto-generator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007897" y="697733"/>
            <a:ext cx="46977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818CF8"/>
                </a:solidFill>
              </a:rPr>
              <a:t>Resilient 5-provider chain with rate-limit </a:t>
            </a:r>
            <a:r>
              <a:rPr sz="1100" b="0" i="0" dirty="0" err="1">
                <a:solidFill>
                  <a:srgbClr val="818CF8"/>
                </a:solidFill>
              </a:rPr>
              <a:t>cooldowns</a:t>
            </a:r>
            <a:r>
              <a:rPr sz="1100" b="0" i="0" dirty="0">
                <a:solidFill>
                  <a:srgbClr val="818CF8"/>
                </a:solidFill>
              </a:rPr>
              <a:t> and 45s timeout budgets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95" y="1444752"/>
            <a:ext cx="1701227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5794" y="1481328"/>
            <a:ext cx="163262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Priority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95" y="1700784"/>
            <a:ext cx="1701227" cy="457200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5794" y="1737360"/>
            <a:ext cx="1632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/>
              <a:t>Local Offline Vision
(Moondream2/Ollama)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1495" y="2157984"/>
            <a:ext cx="1701227" cy="1554480"/>
          </a:xfrm>
          <a:prstGeom prst="rect">
            <a:avLst/>
          </a:prstGeom>
          <a:noFill/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6373" y="2212848"/>
            <a:ext cx="161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No internet required
800px LANCZOS JPEG75
~20s/page CPU-based
Best for offline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1320" y="1444752"/>
            <a:ext cx="1701227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75619" y="1481328"/>
            <a:ext cx="163262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Priority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41320" y="1700784"/>
            <a:ext cx="1701227" cy="457200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75619" y="1737360"/>
            <a:ext cx="1632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err="1"/>
              <a:t>Groq</a:t>
            </a:r>
            <a:r>
              <a:rPr sz="1000" b="1" i="0" dirty="0"/>
              <a:t> LPU
(Llama-3.3-70B)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41320" y="2157984"/>
            <a:ext cx="1701227" cy="1554480"/>
          </a:xfrm>
          <a:prstGeom prst="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996198" y="2212848"/>
            <a:ext cx="161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500+ tokens/sec LPU
Ultra-fast inference
Free: 6,000 TPM limit
HTTP 429 risk at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11144" y="1444752"/>
            <a:ext cx="1701227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45443" y="1481328"/>
            <a:ext cx="163262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Priority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11144" y="1700784"/>
            <a:ext cx="1701227" cy="457200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45443" y="1737360"/>
            <a:ext cx="1632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/>
              <a:t>OpenRouter
(Cloud Gateway)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1144" y="2157984"/>
            <a:ext cx="1701227" cy="1554480"/>
          </a:xfrm>
          <a:prstGeom prst="rect">
            <a:avLst/>
          </a:prstGeom>
          <a:noFill/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766023" y="2212848"/>
            <a:ext cx="161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Access multiple LLMs
Unified API interface
Variable latency
Per-model rate limits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0969" y="1444752"/>
            <a:ext cx="1701227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15268" y="1481328"/>
            <a:ext cx="163262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Priority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0969" y="1700784"/>
            <a:ext cx="1701227" cy="457200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15268" y="1737360"/>
            <a:ext cx="1632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/>
              <a:t>Google Gemini
(2.5 Flash/2.0 Flash)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0969" y="2157984"/>
            <a:ext cx="1701227" cy="1554480"/>
          </a:xfrm>
          <a:prstGeom prst="rect">
            <a:avLst/>
          </a:prstGeom>
          <a:noFill/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5848" y="2212848"/>
            <a:ext cx="161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Multimodal vision support
Strong reasoning quality
Free: 15 RPM limit
429 at concurrent load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50794" y="1444752"/>
            <a:ext cx="1701227" cy="25603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85093" y="1481328"/>
            <a:ext cx="163262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Priority 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50794" y="1700784"/>
            <a:ext cx="1701227" cy="457200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85093" y="1737360"/>
            <a:ext cx="1632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/>
              <a:t>OpenAI
(GPT-4o Backup)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50794" y="2157984"/>
            <a:ext cx="1701227" cy="1554480"/>
          </a:xfrm>
          <a:prstGeom prst="rect">
            <a:avLst/>
          </a:prstGeom>
          <a:noFill/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305672" y="2212848"/>
            <a:ext cx="161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Highest quality output
Best rubric evaluation
Highest cost per token
Fallback of last resort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94" y="3794760"/>
            <a:ext cx="857473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Rate-Limit Comparison: Free Tier vs Enterprise Tier 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1494" y="4160520"/>
            <a:ext cx="1714947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98934" y="4197096"/>
            <a:ext cx="16600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740" y="4160520"/>
            <a:ext cx="1234762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948179" y="4197096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Free Tier RPM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89800" y="4160520"/>
            <a:ext cx="1234762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217240" y="4197096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Free Tier TPM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58860" y="4160520"/>
            <a:ext cx="1234762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86300" y="4197096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Tier 1 RPM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27922" y="4160520"/>
            <a:ext cx="1577751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755360" y="4197096"/>
            <a:ext cx="15228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Tier 1 TPM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39971" y="4160520"/>
            <a:ext cx="1028968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67410" y="4197096"/>
            <a:ext cx="97409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Est. Cost/Script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1494" y="4480560"/>
            <a:ext cx="1714947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98934" y="4507992"/>
            <a:ext cx="16600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Gemini Flash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20740" y="4480560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948179" y="4507992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15 RPM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89800" y="4480560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217240" y="4507992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1M TPM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58860" y="4480560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486300" y="4507992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1,000+ RPM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27922" y="4480560"/>
            <a:ext cx="1577751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755360" y="4507992"/>
            <a:ext cx="15228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4,000,000 TPM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39971" y="4480560"/>
            <a:ext cx="1028968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367410" y="4507992"/>
            <a:ext cx="97409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$0.</a:t>
            </a:r>
            <a:r>
              <a:rPr lang="en-US" sz="900" b="0" i="0" dirty="0"/>
              <a:t>5</a:t>
            </a:r>
            <a:endParaRPr sz="900" b="0" i="0" dirty="0"/>
          </a:p>
        </p:txBody>
      </p:sp>
      <p:sp>
        <p:nvSpPr>
          <p:cNvPr id="61" name="Rectangle 60"/>
          <p:cNvSpPr/>
          <p:nvPr/>
        </p:nvSpPr>
        <p:spPr>
          <a:xfrm>
            <a:off x="171494" y="4828032"/>
            <a:ext cx="1714947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98934" y="4855464"/>
            <a:ext cx="16600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Groq Llama-3.3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920740" y="4828032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948179" y="4855464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30 RPM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89800" y="4828032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217240" y="4855464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6,000 TPM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58860" y="4828032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486300" y="4855464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1,000+ RPM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27922" y="4828032"/>
            <a:ext cx="1577751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5755360" y="4855464"/>
            <a:ext cx="15228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500,000 TPM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39971" y="4828032"/>
            <a:ext cx="1028968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367410" y="4855464"/>
            <a:ext cx="97409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$0.4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71494" y="5175504"/>
            <a:ext cx="1714947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98934" y="5202936"/>
            <a:ext cx="16600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/>
              <a:t>OpenAI</a:t>
            </a:r>
            <a:r>
              <a:rPr sz="900" b="0" i="0" dirty="0"/>
              <a:t> GPT-4o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920740" y="5175504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948179" y="5202936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N/A Paid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89800" y="5175504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3217240" y="5202936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458860" y="5175504"/>
            <a:ext cx="1234762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486300" y="5202936"/>
            <a:ext cx="11798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10,000 RPM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727922" y="5175504"/>
            <a:ext cx="1577751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5755360" y="5202936"/>
            <a:ext cx="15228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2,000,000 TPM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39971" y="5175504"/>
            <a:ext cx="1028968" cy="32004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7367410" y="5202936"/>
            <a:ext cx="97409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$0.01+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93" y="5532120"/>
            <a:ext cx="871192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43F5E"/>
                </a:solidFill>
              </a:rPr>
              <a:t>HTTP 429 Cascade: Free tier exhausts -&gt; 120s cooldown -&gt; ProviderHealthTracker marks -&gt; Failover to next provider in chain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40092" y="6012180"/>
            <a:ext cx="867763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18CF8"/>
                </a:solidFill>
              </a:rPr>
              <a:t>[ AI Failover Engine Logs / Dashboard Screenshot 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26/37</a:t>
            </a:r>
          </a:p>
        </p:txBody>
      </p:sp>
      <p:pic>
        <p:nvPicPr>
          <p:cNvPr id="91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2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it-IT" sz="3200" b="1" dirty="0"/>
              <a:t>Multi-Provider AI Failover Engine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93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5928418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902823" y="685800"/>
            <a:ext cx="33078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818CF8"/>
                </a:solidFill>
              </a:rPr>
              <a:t>Three-tier testing: Unit -&gt; Integration -&gt; System/UAT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95" y="1307592"/>
            <a:ext cx="2812512" cy="4788408"/>
          </a:xfrm>
          <a:prstGeom prst="rect">
            <a:avLst/>
          </a:prstGeom>
          <a:noFill/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71495" y="1307592"/>
            <a:ext cx="281251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6373" y="1344168"/>
            <a:ext cx="27027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UNIT 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91" y="173736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 dirty="0"/>
              <a:t>• Target: Individual model methods, view logic, service functions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91" y="2606039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Framework: Django TestCase + Python unittest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91" y="347472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Coverage: Auth, RBAC decorators, OBE grade calculation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91" y="434340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 dirty="0"/>
              <a:t>• Approach: Isolated DB test transactions rolled back after each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91" y="5212079"/>
            <a:ext cx="26067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Total Tests: 47 unit test cases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62362" y="1307592"/>
            <a:ext cx="2812512" cy="4788408"/>
          </a:xfrm>
          <a:prstGeom prst="rect">
            <a:avLst/>
          </a:prstGeom>
          <a:noFill/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162362" y="1307592"/>
            <a:ext cx="281251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17240" y="1344168"/>
            <a:ext cx="27027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INTEGRATION 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5258" y="173736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 dirty="0"/>
              <a:t>• Target: Cross-service data flows (OCR -&gt; Mapping -&gt; AI -&gt; </a:t>
            </a:r>
            <a:r>
              <a:rPr sz="1000" b="0" i="0" dirty="0" err="1"/>
              <a:t>EvalResult</a:t>
            </a:r>
            <a:r>
              <a:rPr sz="1000" b="0" i="0" dirty="0"/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5258" y="2606039"/>
            <a:ext cx="26067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Framework: Django Client + RequestFactory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5258" y="347472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Scenarios: Full AI wizard pipeline with mock LLM responses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5258" y="434340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Verification: DB state assertions after each pipeline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5258" y="5212079"/>
            <a:ext cx="26067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Total Tests: 28 integration test scenarios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3229" y="1307592"/>
            <a:ext cx="2812512" cy="4788408"/>
          </a:xfrm>
          <a:prstGeom prst="rect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153229" y="1307592"/>
            <a:ext cx="281251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08107" y="1344168"/>
            <a:ext cx="27027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SYSTEM / UAT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6125" y="173736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Target: End-to-end user workflows across all 4 actor portals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6125" y="2606039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Environment: Local Django dev server + real script uploads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6125" y="347472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Scenarios: 15 acceptance test cases per IUBAT OBE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6125" y="4343400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Pass Criteria: All 27 use cases complete without system errors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6125" y="5212079"/>
            <a:ext cx="260671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00" b="0" i="0"/>
              <a:t>• Result: 100% use-case coverage — zero critical failures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27/37</a:t>
            </a:r>
          </a:p>
        </p:txBody>
      </p:sp>
      <p:pic>
        <p:nvPicPr>
          <p:cNvPr id="33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4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Testing Strategy Overview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3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728005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438400" y="609600"/>
            <a:ext cx="441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818CF8"/>
                </a:solidFill>
              </a:rPr>
              <a:t>47 unit tests across authentication, models, services, and OBE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95" y="1051560"/>
            <a:ext cx="823174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8934" y="1088136"/>
            <a:ext cx="76829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Test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994669" y="1051560"/>
            <a:ext cx="617381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2108" y="1088136"/>
            <a:ext cx="5625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2050" y="1051560"/>
            <a:ext cx="548783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39489" y="1088136"/>
            <a:ext cx="4939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60833" y="1051560"/>
            <a:ext cx="6756890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88272" y="1088136"/>
            <a:ext cx="670201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95" y="1371600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98934" y="1408176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4669" y="1371600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22108" y="1408176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Auth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2050" y="1371600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39489" y="1408176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833" y="1371600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188272" y="1408176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Login valid ADMIN credentials -&gt; controller dashboard redirect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95" y="1618488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98934" y="1655064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4669" y="1618488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22108" y="1655064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Auth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12050" y="1618488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639489" y="1655064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60833" y="1618488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188272" y="1655064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Login invalid password -&gt; 401 Unauthorized, no session created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1495" y="1865376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98934" y="1901952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4669" y="1865376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22108" y="1901952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12050" y="1865376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639489" y="1901952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60833" y="1865376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188272" y="1901952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Student login before approval -&gt; blocked with pending message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95" y="2112264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98934" y="214884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4669" y="2112264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22108" y="2148840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RBAC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12050" y="2112264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639489" y="2148840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60833" y="2112264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188272" y="2148840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/>
              <a:t>@</a:t>
            </a:r>
            <a:r>
              <a:rPr sz="850" b="0" i="0" dirty="0" err="1"/>
              <a:t>admin_required</a:t>
            </a:r>
            <a:r>
              <a:rPr sz="850" b="0" i="0" dirty="0"/>
              <a:t> decorator -&gt; non-admin redirected to login page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1495" y="2359152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8934" y="2395728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4669" y="2359152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022108" y="2395728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RBAC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12050" y="2359152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639489" y="2395728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60833" y="2359152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188272" y="2395728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@teacher_required returns 403 Forbidden for STUDENT-role user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1495" y="2606040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98934" y="2642616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4669" y="2606040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22108" y="2642616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OTP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12050" y="2606040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639489" y="2642616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160833" y="2606040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188272" y="2642616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6-digit OTP generated -&gt; stored in DB -&gt; expires after 10 minutes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71495" y="2852928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98934" y="2889504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4669" y="2852928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022108" y="2889504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Models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12050" y="2852928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639489" y="2889504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0833" y="2852928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188272" y="2889504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StudentGradeRecord.compute_weighted_score() with CT=8, Mid=15, Final=40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71495" y="3099816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98934" y="3136392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94669" y="3099816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022108" y="3136392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Models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12050" y="3099816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639489" y="3136392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60833" y="3099816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2188272" y="3136392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EvaluationResult.get_percentage() returns correct decimal value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1495" y="3346704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98934" y="338328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4669" y="3346704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022108" y="3383280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OBE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612050" y="3346704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639489" y="3383280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160833" y="3346704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188272" y="3383280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CO attainment = (sum obtained marks) / (sum max marks) x 100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71495" y="3593592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98934" y="3630168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4669" y="3593592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22108" y="3630168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Grade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12050" y="3593592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639489" y="3630168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160833" y="3593592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2188272" y="3630168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Score &gt;= 80 -&gt; A+ -&gt; grade_point = 4.00 per IUBAT grading scale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71495" y="3840480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98934" y="3877056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4669" y="3840480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22108" y="3877056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Grade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12050" y="3840480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639489" y="3877056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160833" y="3840480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2188272" y="3877056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Score 60-69 -&gt; B -&gt; grade_point = 3.00 per IUBAT scale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71495" y="4087368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198934" y="4123944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94669" y="4087368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1022108" y="4123944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Service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612050" y="4087368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1639489" y="4123944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160833" y="4087368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2188272" y="4123944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FinalizationService.purge_artifacts() deletes working draft images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71495" y="4334256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98934" y="4370832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4669" y="4334256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1022108" y="4370832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Service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612050" y="4334256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1639489" y="4370832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160833" y="4334256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2188272" y="4370832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EmailService.send_otp() dispatches in thread without blocking response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71495" y="4581144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98934" y="461772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4669" y="4581144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1022108" y="4617720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AI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612050" y="4581144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639489" y="4617720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160833" y="4581144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2188272" y="4617720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ProviderHealthTracker.is_on_cooldown() returns True after 429 event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1495" y="4828032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198934" y="4864608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4669" y="4828032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022108" y="4864608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AI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612050" y="4828032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639489" y="4864608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160833" y="4828032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2188272" y="4864608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LocalOfflineVisionProvider.resize_lanczos() produces 800px JPEG image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71495" y="5074920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98934" y="5111496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4669" y="5074920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1022108" y="5111496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OCR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612050" y="5074920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639489" y="5111496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160833" y="5074920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2188272" y="5111496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OCREngineManager falls back from Tesseract to EasyOCR on empty result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71495" y="5321808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198934" y="5358384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94669" y="5321808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1022108" y="5358384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Map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612050" y="5321808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1639489" y="5358384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160833" y="5321808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2188272" y="5358384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Regex state machine detects 'Question 1' heading at line start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71495" y="5568696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8934" y="5605272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94669" y="5568696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1022108" y="5605272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Map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612050" y="5568696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1639489" y="5605272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160833" y="5568696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188272" y="5605272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State machine propagates page to subsequent pages until new heading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71495" y="5815584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98934" y="585216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TC-UT-19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94669" y="5815584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1022108" y="5852160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Excel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612050" y="5815584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1639489" y="5852160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2160833" y="5815584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2188272" y="5852160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export_course_tabulation() generates 8-sheet .xlsx with openpyxl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71495" y="6062472"/>
            <a:ext cx="823174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198934" y="6099048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/>
              <a:t>TC-UT-20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94669" y="6062472"/>
            <a:ext cx="617381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022108" y="6099048"/>
            <a:ext cx="56250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ysClr val="windowText" lastClr="000000"/>
                </a:solidFill>
              </a:rPr>
              <a:t>CSRF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12050" y="6062472"/>
            <a:ext cx="548783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1639489" y="6099048"/>
            <a:ext cx="49390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160833" y="6062472"/>
            <a:ext cx="6756890" cy="228600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2188272" y="6099048"/>
            <a:ext cx="6702011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POST without CSRF token -&gt; 403 Forbidden from Django middleware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76774" y="6324600"/>
            <a:ext cx="8814826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245372" y="6345936"/>
            <a:ext cx="86433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47 / 47 Unit Tests PASSED  |  0 Failures  |  0 Errors  |  Coverage: 89%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888754" y="6627168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CBD5E1"/>
                </a:solidFill>
              </a:rPr>
              <a:t>Slide 28/37</a:t>
            </a:r>
          </a:p>
        </p:txBody>
      </p:sp>
      <p:pic>
        <p:nvPicPr>
          <p:cNvPr id="17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0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200" b="1" dirty="0"/>
              <a:t>Unit Testing Results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pic>
        <p:nvPicPr>
          <p:cNvPr id="18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8975202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88908" y="620379"/>
            <a:ext cx="39357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818CF8"/>
                </a:solidFill>
              </a:rPr>
              <a:t>28 integration tests verifying cross-service data flows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95" y="1051560"/>
            <a:ext cx="823174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8934" y="1088136"/>
            <a:ext cx="76829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Test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994669" y="1051560"/>
            <a:ext cx="583082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2108" y="1088136"/>
            <a:ext cx="5282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77751" y="1051560"/>
            <a:ext cx="7580064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05190" y="1088136"/>
            <a:ext cx="7525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Integration Scenario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495" y="137160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8934" y="141732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/>
              <a:t>TC-IT-01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4669" y="137160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2108" y="1417320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77751" y="137160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05190" y="1417320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Full Auth -&gt; Dashboard pipeline: login POST -&gt; role check -&gt; redirect to correct portal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1495" y="169164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8934" y="173736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4669" y="169164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2108" y="1737360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77751" y="169164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605190" y="1737360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Student approval: register -&gt; pending -&gt; controller approve -&gt; email dispatch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495" y="201168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8934" y="205740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4669" y="201168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2108" y="2057400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77751" y="201168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605190" y="2057400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Script upload -&gt; 300 DPI preprocessing -&gt; working copy created in media/submission_working/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1495" y="233172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8934" y="2377439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4669" y="233172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22108" y="2377439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77751" y="233172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605190" y="2377439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Manual Wizard: api_wizard_upload_pdf -&gt; page slicing only — ZERO AI triggered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1495" y="265176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8934" y="2697479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4669" y="265176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22108" y="2697479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77751" y="265176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605190" y="2697479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OCR engine fallback: PyMuPDF (empty) -&gt; PyTesseract (empty) -&gt; EasyOCR executed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1495" y="297180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98934" y="301752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TC-IT-06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4669" y="297180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2108" y="3017520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77751" y="297180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605190" y="3017520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Boundary detection: regex identifies Q1, Q2 headings -&gt; creates QuestionMapping rows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1495" y="3291839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98934" y="3337559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94669" y="3291839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22108" y="3337559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77751" y="3291839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605190" y="3337559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AI evaluation mock: rubric JSON sent to mock provider -&gt; EvaluationResult saved in DB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1495" y="3611879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98934" y="3657599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4669" y="3611879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22108" y="3657599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77751" y="3611879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605190" y="3657599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Provider failover: mock Groq returns 429 -&gt; cooldown -&gt; Gemini selected next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1495" y="393192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98934" y="3977639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TC-IT-09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94669" y="393192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22108" y="3977639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77751" y="393192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605190" y="3977639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Low confidence: AI returns conf=0.60 -&gt; requires_manual_review=True set on EvalResult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1495" y="425196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98934" y="429768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4669" y="425196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22108" y="4297680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77751" y="425196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605190" y="4297680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Teacher override: POST save_evaluation -&gt; EvaluationHistory audit row created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71495" y="457200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98934" y="461772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TC-IT-11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94669" y="457200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22108" y="4617720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77751" y="457200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605190" y="4617720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Finalization: finalize_submission() -&gt; certified PDF generated -&gt; working images purged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1495" y="489204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98934" y="4937759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TC-IT-12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4669" y="489204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022108" y="4937759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577751" y="489204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605190" y="4937759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OBE tabulation sync: finalize triggers sync_submission_to_tabulation -&gt; grade updated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95" y="5212079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98934" y="5257799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94669" y="5212079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22108" y="5257799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577751" y="5212079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605190" y="5257799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Grade calc: CT=9, Mid=20, Final=42, Assign=8, Att=5 -&gt; total=84 -&gt; A -&gt; 3.75 GP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71495" y="5532120"/>
            <a:ext cx="82317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98934" y="5577840"/>
            <a:ext cx="768295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TC-IT-14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4669" y="5532120"/>
            <a:ext cx="58308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022108" y="5577840"/>
            <a:ext cx="528204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577751" y="5532120"/>
            <a:ext cx="7580064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605190" y="5577840"/>
            <a:ext cx="752518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Excel export: export_course_tabulation() -&gt; 8 sheets in openpyxl Workbook object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71494" y="5989320"/>
            <a:ext cx="8814826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240092" y="6025896"/>
            <a:ext cx="86433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28 / 28 Integration Tests PASSED  |  0 Failures  |  All cross-service flows verified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29/37</a:t>
            </a:r>
          </a:p>
        </p:txBody>
      </p:sp>
      <p:pic>
        <p:nvPicPr>
          <p:cNvPr id="103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4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Integration Testing Results</a:t>
            </a:r>
          </a:p>
        </p:txBody>
      </p:sp>
      <p:pic>
        <p:nvPicPr>
          <p:cNvPr id="10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373987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340902" y="609600"/>
            <a:ext cx="44760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818CF8"/>
                </a:solidFill>
              </a:rPr>
              <a:t>15 end-to-end acceptance tests validating all 4 actor portal 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94" y="1051560"/>
            <a:ext cx="685979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8934" y="1088136"/>
            <a:ext cx="6311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UAT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857473" y="1051560"/>
            <a:ext cx="891772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4912" y="1088136"/>
            <a:ext cx="8368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49246" y="1051560"/>
            <a:ext cx="562502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76685" y="1088136"/>
            <a:ext cx="5076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11748" y="1051560"/>
            <a:ext cx="6679852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39187" y="1088136"/>
            <a:ext cx="66524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Acceptance Scenario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94" y="137160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98934" y="1417320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UAT-01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7473" y="137160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7" name="TextBox 16"/>
          <p:cNvSpPr txBox="1"/>
          <p:nvPr/>
        </p:nvSpPr>
        <p:spPr>
          <a:xfrm>
            <a:off x="884912" y="1417320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Controller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49246" y="137160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9" name="TextBox 18"/>
          <p:cNvSpPr txBox="1"/>
          <p:nvPr/>
        </p:nvSpPr>
        <p:spPr>
          <a:xfrm>
            <a:off x="1776685" y="1417320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11748" y="137160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1" name="TextBox 20"/>
          <p:cNvSpPr txBox="1"/>
          <p:nvPr/>
        </p:nvSpPr>
        <p:spPr>
          <a:xfrm>
            <a:off x="2339187" y="1417320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/>
              <a:t>Login -&gt; setup College/School/</a:t>
            </a:r>
            <a:r>
              <a:rPr sz="900" b="0" i="0" dirty="0" err="1"/>
              <a:t>Dept</a:t>
            </a:r>
            <a:r>
              <a:rPr sz="900" b="0" i="0" dirty="0"/>
              <a:t>/Course hierarchy -&gt; verify 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94" y="169164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98934" y="1737360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7473" y="169164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5" name="TextBox 24"/>
          <p:cNvSpPr txBox="1"/>
          <p:nvPr/>
        </p:nvSpPr>
        <p:spPr>
          <a:xfrm>
            <a:off x="884912" y="1737360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Controller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49246" y="169164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7" name="TextBox 26"/>
          <p:cNvSpPr txBox="1"/>
          <p:nvPr/>
        </p:nvSpPr>
        <p:spPr>
          <a:xfrm>
            <a:off x="1776685" y="1737360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11748" y="169164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39187" y="1737360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Upload exam routine PDF -&gt; AI extracts 12 exams -&gt; 1-click batch create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1494" y="201168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98934" y="2057400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7473" y="201168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3" name="TextBox 32"/>
          <p:cNvSpPr txBox="1"/>
          <p:nvPr/>
        </p:nvSpPr>
        <p:spPr>
          <a:xfrm>
            <a:off x="884912" y="2057400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Controller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49246" y="201168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5" name="TextBox 34"/>
          <p:cNvSpPr txBox="1"/>
          <p:nvPr/>
        </p:nvSpPr>
        <p:spPr>
          <a:xfrm>
            <a:off x="1776685" y="2057400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11748" y="201168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339187" y="2057400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Approve pending student -&gt; student receives activation email notification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94" y="233172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98934" y="2377439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73" y="233172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1" name="TextBox 40"/>
          <p:cNvSpPr txBox="1"/>
          <p:nvPr/>
        </p:nvSpPr>
        <p:spPr>
          <a:xfrm>
            <a:off x="884912" y="2377439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Controller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49246" y="233172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3" name="TextBox 42"/>
          <p:cNvSpPr txBox="1"/>
          <p:nvPr/>
        </p:nvSpPr>
        <p:spPr>
          <a:xfrm>
            <a:off x="1776685" y="2377439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11748" y="233172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339187" y="2377439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Configure Gemini API key -&gt; AI config saved -&gt; test evaluate response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1494" y="265176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8934" y="2697479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73" y="265176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9" name="TextBox 48"/>
          <p:cNvSpPr txBox="1"/>
          <p:nvPr/>
        </p:nvSpPr>
        <p:spPr>
          <a:xfrm>
            <a:off x="884912" y="2697479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Teacher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49246" y="265176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51" name="TextBox 50"/>
          <p:cNvSpPr txBox="1"/>
          <p:nvPr/>
        </p:nvSpPr>
        <p:spPr>
          <a:xfrm>
            <a:off x="1776685" y="2697479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11748" y="265176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339187" y="2697479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Author 10-question paper with CO/PO/Bloom taxonomy -&gt; save &amp; verify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1494" y="297180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98934" y="3017520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UAT-06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73" y="297180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57" name="TextBox 56"/>
          <p:cNvSpPr txBox="1"/>
          <p:nvPr/>
        </p:nvSpPr>
        <p:spPr>
          <a:xfrm>
            <a:off x="884912" y="3017520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Teacher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749246" y="297180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59" name="TextBox 58"/>
          <p:cNvSpPr txBox="1"/>
          <p:nvPr/>
        </p:nvSpPr>
        <p:spPr>
          <a:xfrm>
            <a:off x="1776685" y="3017520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11748" y="297180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339187" y="3017520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Upload 5 student PDF scripts -&gt; 300 DPI processing -&gt; working copies ready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71494" y="3291839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98934" y="3337559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UAT-07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73" y="3291839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65" name="TextBox 64"/>
          <p:cNvSpPr txBox="1"/>
          <p:nvPr/>
        </p:nvSpPr>
        <p:spPr>
          <a:xfrm>
            <a:off x="884912" y="3337559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Teacher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49246" y="3291839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67" name="TextBox 66"/>
          <p:cNvSpPr txBox="1"/>
          <p:nvPr/>
        </p:nvSpPr>
        <p:spPr>
          <a:xfrm>
            <a:off x="1776685" y="3337559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11748" y="3291839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339187" y="3337559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Run AI Evaluation Wizard -&gt; OCR -&gt; mapping -&gt; AI eval -&gt; workbench opens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71494" y="3611879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98934" y="3657599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UAT-08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7473" y="3611879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73" name="TextBox 72"/>
          <p:cNvSpPr txBox="1"/>
          <p:nvPr/>
        </p:nvSpPr>
        <p:spPr>
          <a:xfrm>
            <a:off x="884912" y="3657599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Teacher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749246" y="3611879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75" name="TextBox 74"/>
          <p:cNvSpPr txBox="1"/>
          <p:nvPr/>
        </p:nvSpPr>
        <p:spPr>
          <a:xfrm>
            <a:off x="1776685" y="3657599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311748" y="3611879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2339187" y="3657599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Manual Grading Wizard -&gt; PDF slicing only -&gt; no AI -&gt; direct mark entry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1494" y="393192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98934" y="3977639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57473" y="393192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81" name="TextBox 80"/>
          <p:cNvSpPr txBox="1"/>
          <p:nvPr/>
        </p:nvSpPr>
        <p:spPr>
          <a:xfrm>
            <a:off x="884912" y="3977639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Teacher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49246" y="393192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83" name="TextBox 82"/>
          <p:cNvSpPr txBox="1"/>
          <p:nvPr/>
        </p:nvSpPr>
        <p:spPr>
          <a:xfrm>
            <a:off x="1776685" y="3977639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11748" y="393192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339187" y="3977639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Split-screen workbench: view script, AI score, override marks, approve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71494" y="425196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98934" y="4297680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UAT-10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7473" y="425196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89" name="TextBox 88"/>
          <p:cNvSpPr txBox="1"/>
          <p:nvPr/>
        </p:nvSpPr>
        <p:spPr>
          <a:xfrm>
            <a:off x="884912" y="4297680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Teacher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749246" y="425196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91" name="TextBox 90"/>
          <p:cNvSpPr txBox="1"/>
          <p:nvPr/>
        </p:nvSpPr>
        <p:spPr>
          <a:xfrm>
            <a:off x="1776685" y="4297680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311748" y="425196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2339187" y="4297680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Finalize evaluation -&gt; certified PDF generated -&gt; student receives email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71494" y="457200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98934" y="4617720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UAT-11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7473" y="457200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97" name="TextBox 96"/>
          <p:cNvSpPr txBox="1"/>
          <p:nvPr/>
        </p:nvSpPr>
        <p:spPr>
          <a:xfrm>
            <a:off x="884912" y="4617720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E5"/>
                </a:solidFill>
              </a:rPr>
              <a:t>Teacher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749246" y="457200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99" name="TextBox 98"/>
          <p:cNvSpPr txBox="1"/>
          <p:nvPr/>
        </p:nvSpPr>
        <p:spPr>
          <a:xfrm>
            <a:off x="1776685" y="4617720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311748" y="457200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2339187" y="4617720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OBE tabulation auto-populated -&gt; export 8-sheet Excel -&gt; verify 8 tabs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71494" y="489204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198934" y="4937759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UAT-12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57473" y="489204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05" name="TextBox 104"/>
          <p:cNvSpPr txBox="1"/>
          <p:nvPr/>
        </p:nvSpPr>
        <p:spPr>
          <a:xfrm>
            <a:off x="884912" y="4937759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Dept Head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749246" y="489204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07" name="TextBox 106"/>
          <p:cNvSpPr txBox="1"/>
          <p:nvPr/>
        </p:nvSpPr>
        <p:spPr>
          <a:xfrm>
            <a:off x="1776685" y="4937759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311748" y="489204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2339187" y="4937759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Login -&gt; view pass rates, faculty workload, pending tabulations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71494" y="5212079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98934" y="5257799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UAT-13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57473" y="5212079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13" name="TextBox 112"/>
          <p:cNvSpPr txBox="1"/>
          <p:nvPr/>
        </p:nvSpPr>
        <p:spPr>
          <a:xfrm>
            <a:off x="884912" y="5257799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Dept Head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749246" y="5212079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15" name="TextBox 114"/>
          <p:cNvSpPr txBox="1"/>
          <p:nvPr/>
        </p:nvSpPr>
        <p:spPr>
          <a:xfrm>
            <a:off x="1776685" y="5257799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311748" y="5212079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2339187" y="5257799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Audit course tabulation -&gt; CO/PO attainment matrix verified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71494" y="5532120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98934" y="5577840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UAT-14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57473" y="5532120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21" name="TextBox 120"/>
          <p:cNvSpPr txBox="1"/>
          <p:nvPr/>
        </p:nvSpPr>
        <p:spPr>
          <a:xfrm>
            <a:off x="884912" y="5577840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Student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749246" y="5532120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23" name="TextBox 122"/>
          <p:cNvSpPr txBox="1"/>
          <p:nvPr/>
        </p:nvSpPr>
        <p:spPr>
          <a:xfrm>
            <a:off x="1776685" y="5577840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311748" y="5532120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2339187" y="5577840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Login -&gt; view question-wise marks, feedback, GPA on dashboard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1494" y="5852159"/>
            <a:ext cx="685979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27" name="TextBox 126"/>
          <p:cNvSpPr txBox="1"/>
          <p:nvPr/>
        </p:nvSpPr>
        <p:spPr>
          <a:xfrm>
            <a:off x="198934" y="5897879"/>
            <a:ext cx="6311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UAT-15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57473" y="5852159"/>
            <a:ext cx="89177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29" name="TextBox 128"/>
          <p:cNvSpPr txBox="1"/>
          <p:nvPr/>
        </p:nvSpPr>
        <p:spPr>
          <a:xfrm>
            <a:off x="884912" y="5897879"/>
            <a:ext cx="83689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 dirty="0">
                <a:solidFill>
                  <a:srgbClr val="10B981"/>
                </a:solidFill>
              </a:rPr>
              <a:t>Student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749246" y="5852159"/>
            <a:ext cx="56250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31" name="TextBox 130"/>
          <p:cNvSpPr txBox="1"/>
          <p:nvPr/>
        </p:nvSpPr>
        <p:spPr>
          <a:xfrm>
            <a:off x="1776685" y="5897879"/>
            <a:ext cx="5076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PASS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311748" y="5852159"/>
            <a:ext cx="6679852" cy="292608"/>
          </a:xfrm>
          <a:prstGeom prst="rect">
            <a:avLst/>
          </a:prstGeom>
          <a:noFill/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>
              <a:solidFill>
                <a:schemeClr val="tx1"/>
              </a:solidFill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2339187" y="5897879"/>
            <a:ext cx="663027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/>
              <a:t>Download certified PDF script -&gt; watermarked file verified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71494" y="6236208"/>
            <a:ext cx="8814826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240092" y="6272784"/>
            <a:ext cx="86433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15 / 15 UAT Cases PASSED  |  All 27 Use Cases Validated  |  Zero Critical Failures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30/37</a:t>
            </a:r>
          </a:p>
        </p:txBody>
      </p:sp>
      <p:pic>
        <p:nvPicPr>
          <p:cNvPr id="13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0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System / UAT Testing Results</a:t>
            </a:r>
          </a:p>
        </p:txBody>
      </p:sp>
      <p:pic>
        <p:nvPicPr>
          <p:cNvPr id="14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9799000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205793" y="6400800"/>
            <a:ext cx="871192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/>
              <a:t>→ </a:t>
            </a:r>
            <a:r>
              <a:rPr sz="900" b="0" i="1" dirty="0">
                <a:solidFill>
                  <a:schemeClr val="accent6"/>
                </a:solidFill>
              </a:rPr>
              <a:t>Highlight</a:t>
            </a:r>
            <a:r>
              <a:rPr sz="900" b="0" i="1" dirty="0"/>
              <a:t>: Hero section with official title, 6 module cards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31/37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Landing Page</a:t>
            </a: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 descr="Q:\My Drive\Practicum\IntelliGrade\SS\Home 0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086" y="1371600"/>
            <a:ext cx="7786931" cy="426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9: IntelliGrade Landing Page — Hero section with official system title, animated gradient, and 6 feature module cards (Auth, OBE Studio, AI Eval, Manual Wizard, Tabulation, Portal)</a:t>
            </a:r>
          </a:p>
        </p:txBody>
      </p:sp>
    </p:spTree>
    <p:extLst>
      <p:ext uri="{BB962C8B-B14F-4D97-AF65-F5344CB8AC3E}">
        <p14:creationId xmlns:p14="http://schemas.microsoft.com/office/powerpoint/2010/main" val="1237545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205793" y="6400800"/>
            <a:ext cx="871192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/>
              <a:t>→ </a:t>
            </a:r>
            <a:r>
              <a:rPr sz="900" b="0" i="1" dirty="0">
                <a:solidFill>
                  <a:schemeClr val="accent6"/>
                </a:solidFill>
              </a:rPr>
              <a:t>Highlight</a:t>
            </a:r>
            <a:r>
              <a:rPr sz="900" b="0" i="1" dirty="0"/>
              <a:t>: 4-role modal selector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31/37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0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Landing Page — System Entry Portal</a:t>
            </a: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1" t="3171" r="4285" b="5074"/>
          <a:stretch/>
        </p:blipFill>
        <p:spPr bwMode="auto">
          <a:xfrm>
            <a:off x="1581150" y="762000"/>
            <a:ext cx="5962650" cy="5495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1" name="TextBox 2050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10: System Entry Portal — 4-role login modal selector (Chief Exam Controller / Department Head / Faculty Member / Student) with role-specific routing</a:t>
            </a:r>
          </a:p>
        </p:txBody>
      </p:sp>
    </p:spTree>
    <p:extLst>
      <p:ext uri="{BB962C8B-B14F-4D97-AF65-F5344CB8AC3E}">
        <p14:creationId xmlns:p14="http://schemas.microsoft.com/office/powerpoint/2010/main" val="7994759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205793" y="6400800"/>
            <a:ext cx="871192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/>
              <a:t>→ </a:t>
            </a:r>
            <a:r>
              <a:rPr sz="900" b="0" i="1" dirty="0">
                <a:solidFill>
                  <a:schemeClr val="accent6"/>
                </a:solidFill>
              </a:rPr>
              <a:t>Highlight</a:t>
            </a:r>
            <a:r>
              <a:rPr sz="900" b="0" i="1" dirty="0"/>
              <a:t>: 6-metric card grid, AI routine scan button, student approval queue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32/37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533400" y="-26264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Exam Controller Dashboard — Governance Portal</a:t>
            </a:r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4" name="Picture 2" descr="Q:\My Drive\Practicum\IntelliGrade\SS\Exam controller 0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968" y="914400"/>
            <a:ext cx="7498232" cy="5299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75" name="TextBox 3074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11: Exam Controller Dashboard — 6-metric governance cards, AI Routine Scanner (multi-page PDF → OCR → 1-click batch examination creation), Student Approval Queue</a:t>
            </a:r>
          </a:p>
        </p:txBody>
      </p:sp>
    </p:spTree>
    <p:extLst>
      <p:ext uri="{BB962C8B-B14F-4D97-AF65-F5344CB8AC3E}">
        <p14:creationId xmlns:p14="http://schemas.microsoft.com/office/powerpoint/2010/main" val="27776316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286000" y="652790"/>
            <a:ext cx="441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818CF8"/>
                </a:solidFill>
              </a:rPr>
              <a:t>Side-by-side: scanned script image (left) </a:t>
            </a:r>
            <a:r>
              <a:rPr sz="1100" b="0" i="0" dirty="0" err="1">
                <a:solidFill>
                  <a:srgbClr val="818CF8"/>
                </a:solidFill>
              </a:rPr>
              <a:t>vs</a:t>
            </a:r>
            <a:r>
              <a:rPr sz="1100" b="0" i="0" dirty="0">
                <a:solidFill>
                  <a:srgbClr val="818CF8"/>
                </a:solidFill>
              </a:rPr>
              <a:t> rubric criteria + AI score (right)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092" y="3502152"/>
            <a:ext cx="867763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18CF8"/>
                </a:solidFill>
              </a:rPr>
              <a:t>[ Screenshot: /teacher/submission/{id}/workspace/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93" y="6400800"/>
            <a:ext cx="871192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/>
              <a:t>→ </a:t>
            </a:r>
            <a:r>
              <a:rPr sz="900" b="0" i="1" dirty="0">
                <a:solidFill>
                  <a:schemeClr val="accent6">
                    <a:lumMod val="75000"/>
                  </a:schemeClr>
                </a:solidFill>
              </a:rPr>
              <a:t>Highlight</a:t>
            </a:r>
            <a:r>
              <a:rPr sz="900" b="0" i="1" dirty="0"/>
              <a:t>: AI score panel, rubric criteria, confidence badge, override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34/37</a:t>
            </a:r>
          </a:p>
        </p:txBody>
      </p:sp>
      <p:pic>
        <p:nvPicPr>
          <p:cNvPr id="1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716280" y="-26264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Split-Screen Teacher Grading Workbench</a:t>
            </a: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12: Split-Screen Teacher Grading Workbench — Scanned script image with pan/zoom/rotate (left) vs Question prompt, Rubric checklist, AI confidence score, and mark override controls (right)</a:t>
            </a:r>
          </a:p>
        </p:txBody>
      </p:sp>
    </p:spTree>
    <p:extLst>
      <p:ext uri="{BB962C8B-B14F-4D97-AF65-F5344CB8AC3E}">
        <p14:creationId xmlns:p14="http://schemas.microsoft.com/office/powerpoint/2010/main" val="36523757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438400" y="881390"/>
            <a:ext cx="4648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818CF8"/>
                </a:solidFill>
              </a:rPr>
              <a:t>Real-time aggregation: CT 10% + Mid 25% + Final 50% + Assign 10% + </a:t>
            </a:r>
            <a:r>
              <a:rPr sz="1100" b="0" i="0" dirty="0" err="1">
                <a:solidFill>
                  <a:srgbClr val="818CF8"/>
                </a:solidFill>
              </a:rPr>
              <a:t>Att</a:t>
            </a:r>
            <a:r>
              <a:rPr sz="1100" b="0" i="0" dirty="0">
                <a:solidFill>
                  <a:srgbClr val="818CF8"/>
                </a:solidFill>
              </a:rPr>
              <a:t> 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092" y="3502152"/>
            <a:ext cx="867763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18CF8"/>
                </a:solidFill>
              </a:rPr>
              <a:t>[ Screenshot: /teacher/exam/{id}/course-tabulation/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93" y="6400800"/>
            <a:ext cx="871192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/>
              <a:t>→ </a:t>
            </a:r>
            <a:r>
              <a:rPr sz="900" b="0" i="1" dirty="0">
                <a:solidFill>
                  <a:schemeClr val="accent6">
                    <a:lumMod val="75000"/>
                  </a:schemeClr>
                </a:solidFill>
              </a:rPr>
              <a:t>Highlight</a:t>
            </a:r>
            <a:r>
              <a:rPr sz="900" b="0" i="1" dirty="0"/>
              <a:t>: Grade table, CO/PO attainment matrix, 8-sheet Excel download button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35/37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716280" y="49936"/>
            <a:ext cx="7791641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OBE Course Tabulation &amp; 8-Sheet Excel Export</a:t>
            </a:r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13: OBE Course Tabulation — Real-time grade aggregation (CT 10% + Mid 25% + Final 50% + Assign 10% + Att 5%), CO/PO attainment matrix, and 8-Sheet openpyxl Excel export</a:t>
            </a:r>
          </a:p>
        </p:txBody>
      </p:sp>
    </p:spTree>
    <p:extLst>
      <p:ext uri="{BB962C8B-B14F-4D97-AF65-F5344CB8AC3E}">
        <p14:creationId xmlns:p14="http://schemas.microsoft.com/office/powerpoint/2010/main" val="4487574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115755" y="905530"/>
            <a:ext cx="492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818CF8"/>
                </a:solidFill>
              </a:rPr>
              <a:t>Students view overall GPA, question-wise marks, CO/PO attainment, certified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092" y="3502152"/>
            <a:ext cx="867763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18CF8"/>
                </a:solidFill>
              </a:rPr>
              <a:t>[ Screenshot: /dashboard/student/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93" y="6400800"/>
            <a:ext cx="871192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/>
              <a:t>→ </a:t>
            </a:r>
            <a:r>
              <a:rPr sz="900" b="0" i="1" dirty="0">
                <a:solidFill>
                  <a:schemeClr val="accent6">
                    <a:lumMod val="75000"/>
                  </a:schemeClr>
                </a:solidFill>
              </a:rPr>
              <a:t>Highlight</a:t>
            </a:r>
            <a:r>
              <a:rPr sz="900" b="0" i="1" dirty="0"/>
              <a:t>: GPA card, course breakdown, question feedback, PDF download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8754" y="6473952"/>
            <a:ext cx="11661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</a:rPr>
              <a:t>Slide 36/37</a:t>
            </a:r>
          </a:p>
        </p:txBody>
      </p:sp>
      <p:pic>
        <p:nvPicPr>
          <p:cNvPr id="1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716280" y="49936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Student Transparency Portal — Academic Dashboard</a:t>
            </a: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365760" y="63093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4DCFF"/>
                </a:solidFill>
              </a:rPr>
              <a:t>Figure 14: Student Transparency Portal — 4.00-scale GPA summary card, course-wise mark breakdown, question-level AI feedback, CO/PO attainment, and certified watermarked PDF download</a:t>
            </a:r>
          </a:p>
        </p:txBody>
      </p:sp>
    </p:spTree>
    <p:extLst>
      <p:ext uri="{BB962C8B-B14F-4D97-AF65-F5344CB8AC3E}">
        <p14:creationId xmlns:p14="http://schemas.microsoft.com/office/powerpoint/2010/main" val="14810330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91440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3476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020619" y="0"/>
            <a:ext cx="12347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714947" y="1005840"/>
            <a:ext cx="571420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92" y="1097280"/>
            <a:ext cx="548782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Key Project Achievements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89" y="1508760"/>
            <a:ext cx="52134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/>
              <a:t>  ✓  21 functional modules fully implemented and verified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89" y="1984248"/>
            <a:ext cx="52134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/>
              <a:t>  ✓  27 use cases covered — 0 open critical 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89" y="2459736"/>
            <a:ext cx="52134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✓  37 Functional + 17 Non-Functional Requirements satisfied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89" y="2935224"/>
            <a:ext cx="52134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✓  479 UFP / 536.48 AFP — large-scale enterprise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89" y="3410712"/>
            <a:ext cx="52134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✓  47 unit + 28 integration + 15 UAT tests — 100% pass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89" y="3886200"/>
            <a:ext cx="52134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✓  5-provider AI failover, 23-taxonomy OBE, 8-sheet Excel, certified 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2220" y="1097280"/>
            <a:ext cx="32241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Future Research &amp; 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30818" y="1508760"/>
            <a:ext cx="315550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▸  Celery + Redis: Async distributed OCR/AI workers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0818" y="1984248"/>
            <a:ext cx="315550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▸  GPU CUDA inference: 104x faster EasyOCR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0818" y="2459736"/>
            <a:ext cx="315550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▸  INT8 Quantized Moondream: on-device 0.3s/page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30818" y="2935224"/>
            <a:ext cx="315550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▸  Token bucket rate limiter: eliminate 429 stalls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0818" y="3410712"/>
            <a:ext cx="315550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▸  pgvector RAG: historical mark calibration per teacher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0818" y="3886200"/>
            <a:ext cx="315550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  ▸  Mobile app: student script viewing on Android/iOS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794" y="4617720"/>
            <a:ext cx="8732508" cy="1828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4391" y="4709160"/>
            <a:ext cx="85747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/>
              <a:t>Academic References &amp;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91" y="5074920"/>
            <a:ext cx="425306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[1] Django Documentation v5.2 — djangoproject.com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91" y="5367528"/>
            <a:ext cx="425306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[2] IUBAT OBE Academic Policy &amp; Examination Regulations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91" y="5660136"/>
            <a:ext cx="425306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[3] BAETE Accreditation Manual for Engineering Programs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91" y="5952744"/>
            <a:ext cx="425306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[4] IFPUG Function Point Counting Practices Manual v4.3.1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4655" y="5074920"/>
            <a:ext cx="425306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[5] Albrecht, A.J. (1979). Measuring Application Development Productivity. IBM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4655" y="5367528"/>
            <a:ext cx="425306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[6] EasyOCR — Jaided AI (2021). github.com/JaidedAI/EasyOCR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4655" y="5660136"/>
            <a:ext cx="425306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/>
              <a:t>[7] Google Gemini API Documentation — ai.google.dev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89" y="6446520"/>
            <a:ext cx="84375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Thank You  |  Questions Welcome</a:t>
            </a:r>
          </a:p>
        </p:txBody>
      </p:sp>
      <p:pic>
        <p:nvPicPr>
          <p:cNvPr id="3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3" name="Title 1">
            <a:extLst>
              <a:ext uri="{FF2B5EF4-FFF2-40B4-BE49-F238E27FC236}">
                <a16:creationId xmlns:a16="http://schemas.microsoft.com/office/drawing/2014/main" xmlns="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716280" y="-26264"/>
            <a:ext cx="8046720" cy="7882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200" b="1" dirty="0"/>
              <a:t>Conclusion &amp; Future Work</a:t>
            </a:r>
          </a:p>
        </p:txBody>
      </p:sp>
      <p:pic>
        <p:nvPicPr>
          <p:cNvPr id="3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4742485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7924800" cy="457200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762000"/>
            <a:ext cx="8763000" cy="57912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i="0" dirty="0">
                <a:effectLst/>
                <a:cs typeface="Times New Roman" panose="02020603050405020304" pitchFamily="18" charset="0"/>
              </a:rPr>
              <a:t>List here the reference list by following the Harvard referencing format  (Remove this line)</a:t>
            </a:r>
          </a:p>
          <a:p>
            <a:pPr algn="just">
              <a:buNone/>
            </a:pPr>
            <a:endParaRPr lang="en-US" sz="1800" b="0" i="0" dirty="0">
              <a:effectLst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sz="1800" b="0" i="0" dirty="0" err="1">
                <a:effectLst/>
                <a:cs typeface="Times New Roman" panose="02020603050405020304" pitchFamily="18" charset="0"/>
              </a:rPr>
              <a:t>Nasir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 A.Y., </a:t>
            </a:r>
            <a:r>
              <a:rPr lang="en-US" sz="1800" b="0" i="0" dirty="0" err="1">
                <a:effectLst/>
                <a:cs typeface="Times New Roman" panose="02020603050405020304" pitchFamily="18" charset="0"/>
              </a:rPr>
              <a:t>Bature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 U.I., Tahir, N.M., </a:t>
            </a:r>
            <a:r>
              <a:rPr lang="en-US" sz="1800" b="0" i="0" dirty="0" err="1">
                <a:effectLst/>
                <a:cs typeface="Times New Roman" panose="02020603050405020304" pitchFamily="18" charset="0"/>
              </a:rPr>
              <a:t>Babawuro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 A.Y., Boniface, A. and Hassan, A.M., 2020. Arduino based gas leakage control and temperature monitoring system. </a:t>
            </a:r>
            <a:r>
              <a:rPr lang="en-US" sz="1800" b="0" i="1" dirty="0">
                <a:effectLst/>
                <a:cs typeface="Times New Roman" panose="02020603050405020304" pitchFamily="18" charset="0"/>
              </a:rPr>
              <a:t>International Journal of Information and Communication Technology (IJ-ICT)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 </a:t>
            </a:r>
            <a:r>
              <a:rPr lang="en-US" sz="1800" b="0" i="1" dirty="0">
                <a:effectLst/>
                <a:cs typeface="Times New Roman" panose="02020603050405020304" pitchFamily="18" charset="0"/>
              </a:rPr>
              <a:t>9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(3), pp.171-178.</a:t>
            </a:r>
          </a:p>
          <a:p>
            <a:pPr marL="0" indent="0" algn="just">
              <a:buNone/>
            </a:pPr>
            <a:endParaRPr lang="en-US" sz="1800" b="0" i="0" dirty="0">
              <a:effectLst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sz="1800" b="0" i="0" dirty="0" err="1">
                <a:effectLst/>
                <a:cs typeface="Times New Roman" panose="02020603050405020304" pitchFamily="18" charset="0"/>
              </a:rPr>
              <a:t>Qasim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 H.H., </a:t>
            </a:r>
            <a:r>
              <a:rPr lang="en-US" sz="1800" b="0" i="0" dirty="0" err="1">
                <a:effectLst/>
                <a:cs typeface="Times New Roman" panose="02020603050405020304" pitchFamily="18" charset="0"/>
              </a:rPr>
              <a:t>Hamza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 A.E., Ibrahim, H.H., </a:t>
            </a:r>
            <a:r>
              <a:rPr lang="en-US" sz="1800" b="0" i="0" dirty="0" err="1">
                <a:effectLst/>
                <a:cs typeface="Times New Roman" panose="02020603050405020304" pitchFamily="18" charset="0"/>
              </a:rPr>
              <a:t>Saeed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 H.A. and </a:t>
            </a:r>
            <a:r>
              <a:rPr lang="en-US" sz="1800" b="0" i="0" dirty="0" err="1">
                <a:effectLst/>
                <a:cs typeface="Times New Roman" panose="02020603050405020304" pitchFamily="18" charset="0"/>
              </a:rPr>
              <a:t>Hamzah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 M.I., 2020. Design and implementation home security system and monitoring by using wireless sensor networks WSN/internet of things IOT. </a:t>
            </a:r>
            <a:r>
              <a:rPr lang="en-US" sz="1800" b="0" i="1" dirty="0">
                <a:effectLst/>
                <a:cs typeface="Times New Roman" panose="02020603050405020304" pitchFamily="18" charset="0"/>
              </a:rPr>
              <a:t>International Journal of Electrical and Computer Engineering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 </a:t>
            </a:r>
            <a:r>
              <a:rPr lang="en-US" sz="1800" b="0" i="1" dirty="0">
                <a:effectLst/>
                <a:cs typeface="Times New Roman" panose="02020603050405020304" pitchFamily="18" charset="0"/>
              </a:rPr>
              <a:t>10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(3), p.2617.</a:t>
            </a:r>
          </a:p>
          <a:p>
            <a:pPr marL="0" indent="0" algn="just">
              <a:buNone/>
            </a:pPr>
            <a:endParaRPr lang="en-US" sz="1800" b="0" i="0" dirty="0">
              <a:effectLst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sz="1800" b="0" i="0" dirty="0" err="1">
                <a:effectLst/>
                <a:cs typeface="Times New Roman" panose="02020603050405020304" pitchFamily="18" charset="0"/>
              </a:rPr>
              <a:t>Saxena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 A. and Pal, R., 2020. IoT Based Security and Controlled Smart Home Automation System Using GSM. </a:t>
            </a:r>
            <a:r>
              <a:rPr lang="en-US" sz="1800" b="0" i="1" dirty="0">
                <a:effectLst/>
                <a:cs typeface="Times New Roman" panose="02020603050405020304" pitchFamily="18" charset="0"/>
              </a:rPr>
              <a:t>International Journal of Research in Engineering, Science and Management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, </a:t>
            </a:r>
            <a:r>
              <a:rPr lang="en-US" sz="1800" b="0" i="1" dirty="0">
                <a:effectLst/>
                <a:cs typeface="Times New Roman" panose="02020603050405020304" pitchFamily="18" charset="0"/>
              </a:rPr>
              <a:t>3</a:t>
            </a:r>
            <a:r>
              <a:rPr lang="en-US" sz="1800" b="0" i="0" dirty="0">
                <a:effectLst/>
                <a:cs typeface="Times New Roman" panose="02020603050405020304" pitchFamily="18" charset="0"/>
              </a:rPr>
              <a:t>(8), pp.445-448.</a:t>
            </a:r>
          </a:p>
          <a:p>
            <a:pPr marL="0" indent="0" algn="just">
              <a:buNone/>
            </a:pPr>
            <a:endParaRPr lang="en-US" sz="1800" dirty="0"/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7010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ockwell" pitchFamily="18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ockwell" pitchFamily="18" charset="0"/>
              <a:ea typeface="+mn-ea"/>
              <a:cs typeface="+mn-cs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7921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Slide Number Placeholder 3"/>
          <p:cNvSpPr txBox="1">
            <a:spLocks/>
          </p:cNvSpPr>
          <p:nvPr/>
        </p:nvSpPr>
        <p:spPr>
          <a:xfrm>
            <a:off x="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lvl="0">
              <a:defRPr/>
            </a:pPr>
            <a:r>
              <a:rPr lang="en-US" sz="1200" b="1" dirty="0">
                <a:cs typeface="Times New Roman" pitchFamily="18" charset="0"/>
              </a:rPr>
              <a:t>Place Thesis Title Here</a:t>
            </a:r>
            <a:endParaRPr kumimoji="0" lang="en-US" sz="12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85800" y="5638800"/>
            <a:ext cx="777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3">
                    <a:lumMod val="50000"/>
                  </a:schemeClr>
                </a:solidFill>
                <a:cs typeface="Times New Roman" panose="02020603050405020304" pitchFamily="18" charset="0"/>
              </a:rPr>
              <a:t>NOTE: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Please consult with your supervisor before and after preparing the Practicum Final Defense presentation slides</a:t>
            </a:r>
            <a:endParaRPr lang="en-US" sz="2400" b="1" dirty="0">
              <a:solidFill>
                <a:schemeClr val="accent3">
                  <a:lumMod val="50000"/>
                </a:schemeClr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xmlns="" id="{1383B98D-F20F-4774-A68C-0357B8E78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362200"/>
            <a:ext cx="6425184" cy="914400"/>
          </a:xfrm>
        </p:spPr>
        <p:txBody>
          <a:bodyPr>
            <a:noAutofit/>
          </a:bodyPr>
          <a:lstStyle/>
          <a:p>
            <a:pPr algn="ctr"/>
            <a:r>
              <a:rPr lang="en-US" sz="4000" dirty="0">
                <a:latin typeface="Forte" panose="03060902040502070203" pitchFamily="66" charset="0"/>
              </a:rPr>
              <a:t>Any Questions ?</a:t>
            </a:r>
          </a:p>
        </p:txBody>
      </p:sp>
    </p:spTree>
    <p:extLst>
      <p:ext uri="{BB962C8B-B14F-4D97-AF65-F5344CB8AC3E}">
        <p14:creationId xmlns:p14="http://schemas.microsoft.com/office/powerpoint/2010/main" val="9727820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524000" y="2819400"/>
            <a:ext cx="6172200" cy="990600"/>
          </a:xfrm>
        </p:spPr>
        <p:txBody>
          <a:bodyPr>
            <a:noAutofit/>
          </a:bodyPr>
          <a:lstStyle/>
          <a:p>
            <a:pPr algn="ctr"/>
            <a:r>
              <a:rPr lang="en-US" sz="3600" b="0" dirty="0">
                <a:latin typeface="Forte" pitchFamily="66" charset="0"/>
              </a:rPr>
              <a:t>Thank</a:t>
            </a:r>
            <a:r>
              <a:rPr lang="en-US" sz="3600" b="0" dirty="0">
                <a:latin typeface="Rage Italic" pitchFamily="66" charset="0"/>
              </a:rPr>
              <a:t> </a:t>
            </a:r>
            <a:r>
              <a:rPr lang="en-US" sz="3600" b="0" dirty="0">
                <a:latin typeface="Forte" pitchFamily="66" charset="0"/>
              </a:rPr>
              <a:t>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4772</TotalTime>
  <Words>4908</Words>
  <Application>Microsoft Office PowerPoint</Application>
  <PresentationFormat>On-screen Show (4:3)</PresentationFormat>
  <Paragraphs>925</Paragraphs>
  <Slides>43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4" baseType="lpstr">
      <vt:lpstr>Office Theme</vt:lpstr>
      <vt:lpstr> Prepared for:  Practicum Defense Committee   Department of  Computer Science and Engineering </vt:lpstr>
      <vt:lpstr>Contents</vt:lpstr>
      <vt:lpstr>PowerPoint Presentation</vt:lpstr>
      <vt:lpstr>PowerPoint Presentation</vt:lpstr>
      <vt:lpstr>                               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Any Questions ?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</dc:creator>
  <cp:lastModifiedBy>User</cp:lastModifiedBy>
  <cp:revision>265</cp:revision>
  <dcterms:created xsi:type="dcterms:W3CDTF">2021-05-07T10:10:49Z</dcterms:created>
  <dcterms:modified xsi:type="dcterms:W3CDTF">2026-09-18T16:37:06Z</dcterms:modified>
</cp:coreProperties>
</file>