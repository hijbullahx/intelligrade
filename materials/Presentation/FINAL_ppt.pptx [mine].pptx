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5"/>
  </p:notesMasterIdLst>
  <p:sldIdLst>
    <p:sldId id="256" r:id="rId2"/>
    <p:sldId id="262" r:id="rId3"/>
    <p:sldId id="325" r:id="rId4"/>
    <p:sldId id="326" r:id="rId5"/>
    <p:sldId id="257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4" r:id="rId14"/>
    <p:sldId id="295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5" r:id="rId23"/>
    <p:sldId id="306" r:id="rId24"/>
    <p:sldId id="307" r:id="rId25"/>
    <p:sldId id="308" r:id="rId26"/>
    <p:sldId id="309" r:id="rId27"/>
    <p:sldId id="310" r:id="rId28"/>
    <p:sldId id="327" r:id="rId29"/>
    <p:sldId id="311" r:id="rId30"/>
    <p:sldId id="312" r:id="rId31"/>
    <p:sldId id="313" r:id="rId32"/>
    <p:sldId id="314" r:id="rId33"/>
    <p:sldId id="315" r:id="rId34"/>
    <p:sldId id="316" r:id="rId35"/>
    <p:sldId id="324" r:id="rId36"/>
    <p:sldId id="317" r:id="rId37"/>
    <p:sldId id="319" r:id="rId38"/>
    <p:sldId id="320" r:id="rId39"/>
    <p:sldId id="321" r:id="rId40"/>
    <p:sldId id="322" r:id="rId41"/>
    <p:sldId id="274" r:id="rId42"/>
    <p:sldId id="283" r:id="rId43"/>
    <p:sldId id="275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9071" autoAdjust="0"/>
  </p:normalViewPr>
  <p:slideViewPr>
    <p:cSldViewPr>
      <p:cViewPr>
        <p:scale>
          <a:sx n="100" d="100"/>
          <a:sy n="100" d="100"/>
        </p:scale>
        <p:origin x="1080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B5672-ADE6-4DA2-A2C7-8376839EE4B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8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lhadiexpress.com.bd/" TargetMode="External"/><Relationship Id="rId2" Type="http://schemas.openxmlformats.org/officeDocument/2006/relationships/hyperlink" Target="mailto:info@alhadiexpress.com.bd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helplinehellonaogaon.com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hyperlink" Target="https://iubat-smartlibrary-frontend.onrender.com/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hyperlink" Target="https://www.hijbullah.me/" TargetMode="External"/><Relationship Id="rId9" Type="http://schemas.openxmlformats.org/officeDocument/2006/relationships/hyperlink" Target="https://hijbullahml.streamlit.app/Bangladesh_Traffi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514600"/>
            <a:ext cx="7620000" cy="182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for: </a:t>
            </a:r>
            <a:b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Practicum Defense Committee  </a:t>
            </a:r>
            <a:br>
              <a:rPr lang="en-US" sz="2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Department of  Computer Science and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4458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85800" y="1037656"/>
            <a:ext cx="7848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An End-to-End Outcome-Based Examination Management
and Intelligent Script Evaluation Ecosystem
for Higher Education Institutions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95600" y="2209800"/>
            <a:ext cx="3918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Course Code: Practicum CSC 490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4267200" y="4724400"/>
            <a:ext cx="480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Md. Taher Bin Omar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Hijbullah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22303142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9812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52400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Drs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Ferdaus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Jibon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Associate Professor </a:t>
            </a:r>
          </a:p>
        </p:txBody>
      </p:sp>
      <p:pic>
        <p:nvPicPr>
          <p:cNvPr id="19" name="Picture 18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38" y="3733800"/>
            <a:ext cx="457200" cy="470535"/>
          </a:xfrm>
          <a:prstGeom prst="rect">
            <a:avLst/>
          </a:prstGeom>
          <a:noFill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B852D0C-EAEE-4315-89D6-8ED848E8BF0D}"/>
              </a:ext>
            </a:extLst>
          </p:cNvPr>
          <p:cNvSpPr txBox="1"/>
          <p:nvPr/>
        </p:nvSpPr>
        <p:spPr>
          <a:xfrm>
            <a:off x="1905000" y="6182618"/>
            <a:ext cx="518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August 3</a:t>
            </a:r>
            <a:r>
              <a:rPr lang="en-US"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  |  IUBAT, Dhaka,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289"/>
          <p:cNvSpPr/>
          <p:nvPr/>
        </p:nvSpPr>
        <p:spPr>
          <a:xfrm>
            <a:off x="1194812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1267965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4858512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993646" y="1000804"/>
            <a:ext cx="523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35" y="6217920"/>
            <a:ext cx="207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89192" y="108813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Function Point (FP) Calculation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68824" y="6217920"/>
            <a:ext cx="173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37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94813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267966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94813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267966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4191" y="1612210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94813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267966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4191" y="191396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94813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267966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74191" y="221571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94813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267966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4191" y="251746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94813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1267966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4191" y="281921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94813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267966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74191" y="312097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09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194813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267966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74191" y="342272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94813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267966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74191" y="372447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94813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1267966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74191" y="402622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94813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1267966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74191" y="4327978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94813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267966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74191" y="462973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194813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267966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74191" y="493148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94813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267966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4191" y="523323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194813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1267966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74191" y="553498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17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194813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1267966" y="575791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0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4191" y="583673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194813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267966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5334000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455919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Function Point (FP) Calculation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334001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5407154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Functional Requirements (FR 01-20)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5334001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5407154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5334001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5407154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334001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5407154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5334001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5407154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5334001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5407154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334001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5407154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334001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5407154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334001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5407154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334001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5407154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334001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5407154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334001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5407154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334001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5407154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334001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5407154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5334001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5407154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334001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5407154" y="5757916"/>
            <a:ext cx="254508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0 (Context)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5382767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5407154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86868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HOSTING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76200" y="3397061"/>
            <a:ext cx="9220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/>
              <a:t>
</a:t>
            </a:r>
            <a:r>
              <a:rPr lang="en-US" sz="1100" dirty="0">
                <a:hlinkClick r:id="rId2"/>
              </a:rPr>
              <a:t>info@alhadiexpress.com.bd</a:t>
            </a:r>
            <a:r>
              <a:rPr lang="en-US" sz="1100" dirty="0"/>
              <a:t> | </a:t>
            </a:r>
            <a:r>
              <a:rPr lang="en-US" sz="1100" dirty="0">
                <a:hlinkClick r:id="rId3"/>
              </a:rPr>
              <a:t>AL </a:t>
            </a:r>
            <a:r>
              <a:rPr lang="en-US" sz="1100" dirty="0" err="1">
                <a:hlinkClick r:id="rId3"/>
              </a:rPr>
              <a:t>Hadi</a:t>
            </a:r>
            <a:r>
              <a:rPr lang="en-US" sz="1100" dirty="0">
                <a:hlinkClick r:id="rId3"/>
              </a:rPr>
              <a:t> Enterprise | Home</a:t>
            </a:r>
            <a:endParaRPr lang="en-US" sz="1100" dirty="0"/>
          </a:p>
          <a:p>
            <a:pPr algn="ctr"/>
            <a:r>
              <a:rPr sz="1100" b="0" i="0" dirty="0"/>
              <a:t>
</a:t>
            </a:r>
            <a:r>
              <a:rPr lang="en-US" sz="1100" dirty="0"/>
              <a:t>Plot 6 (6th Floor), Road 1/A, Sector 17, </a:t>
            </a:r>
            <a:r>
              <a:rPr lang="en-US" sz="1100" dirty="0" err="1"/>
              <a:t>Uttara</a:t>
            </a:r>
            <a:r>
              <a:rPr lang="en-US" sz="1100" dirty="0"/>
              <a:t> South, Dhaka 1230, Bangladesh.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35" y="4810125"/>
            <a:ext cx="402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INTERNSHIP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335" y="5120640"/>
            <a:ext cx="4023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Role:      Software Engineer Intern 
Duration:  </a:t>
            </a:r>
            <a:r>
              <a:rPr lang="en-US" sz="1100" b="0" i="0" dirty="0"/>
              <a:t>01/06/2026 </a:t>
            </a:r>
            <a:r>
              <a:rPr sz="1100" b="0" i="0" dirty="0"/>
              <a:t>— </a:t>
            </a:r>
            <a:r>
              <a:rPr lang="en-US" sz="1100" b="0" i="0" dirty="0"/>
              <a:t>30/09/</a:t>
            </a:r>
            <a:r>
              <a:rPr sz="1100" b="0" i="0" dirty="0"/>
              <a:t>2026
Course:    CSC 490
Supervisor: </a:t>
            </a:r>
            <a:r>
              <a:rPr lang="en-US" sz="1100" b="0" i="0" dirty="0"/>
              <a:t>Md. </a:t>
            </a:r>
            <a:r>
              <a:rPr lang="en-US" sz="1100" b="0" i="0" dirty="0" err="1"/>
              <a:t>Kawsar</a:t>
            </a:r>
            <a:r>
              <a:rPr lang="en-US" sz="1100" b="0" i="0" dirty="0"/>
              <a:t> </a:t>
            </a:r>
            <a:r>
              <a:rPr lang="en-US" sz="1100" b="0" i="0" dirty="0" err="1"/>
              <a:t>Uddin</a:t>
            </a:r>
            <a:r>
              <a:rPr sz="1100" b="0" i="0" dirty="0"/>
              <a:t>
           </a:t>
            </a:r>
            <a:r>
              <a:rPr lang="en-US" sz="1100" b="0" i="0" dirty="0"/>
              <a:t>Senior Soft. Engineer</a:t>
            </a:r>
            <a:r>
              <a:rPr sz="1100" b="0" i="0" dirty="0"/>
              <a:t>, </a:t>
            </a:r>
            <a:r>
              <a:rPr lang="en-US" sz="1100" b="0" i="0" dirty="0"/>
              <a:t>Al-</a:t>
            </a:r>
            <a:r>
              <a:rPr lang="en-US" sz="1100" b="0" i="0" dirty="0" err="1"/>
              <a:t>Hadi</a:t>
            </a:r>
            <a:r>
              <a:rPr lang="en-US" sz="1100" b="0" i="0" dirty="0"/>
              <a:t> Enterprise</a:t>
            </a:r>
            <a:endParaRPr sz="1100" b="0" i="0" dirty="0"/>
          </a:p>
        </p:txBody>
      </p:sp>
      <p:sp>
        <p:nvSpPr>
          <p:cNvPr id="13" name="TextBox 12"/>
          <p:cNvSpPr txBox="1"/>
          <p:nvPr/>
        </p:nvSpPr>
        <p:spPr>
          <a:xfrm>
            <a:off x="4937760" y="4800600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PROJECT 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120640"/>
            <a:ext cx="42062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 err="1"/>
              <a:t>IntelliGrade</a:t>
            </a:r>
            <a:r>
              <a:rPr sz="1100" b="0" i="0" dirty="0"/>
              <a:t> — An End-to-End Outcome-Based
Examination Management and Intelligent Script
Evaluation Ecosystem for Higher Education
Target Institution: IUBAT
Accreditation Standard: BAETE OBE
</a:t>
            </a:r>
          </a:p>
        </p:txBody>
      </p:sp>
      <p:pic>
        <p:nvPicPr>
          <p:cNvPr id="1026" name="Picture 2" descr="Q:\My Drive\Practicum\IntelliGrade\Presentation and Report\presentation materials\Alhadi_logo_dark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19200"/>
            <a:ext cx="3962400" cy="183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3886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09016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Internship Organization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660321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886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09016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My Portfolio</a:t>
            </a: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60321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1765392" y="83820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hlinkClick r:id="rId4"/>
              </a:rPr>
              <a:t>HijbullahHub</a:t>
            </a:r>
            <a:endParaRPr lang="en-US" b="1" dirty="0"/>
          </a:p>
        </p:txBody>
      </p:sp>
      <p:pic>
        <p:nvPicPr>
          <p:cNvPr id="2051" name="Picture 3" descr="Q:\My Drive\Practicum\IntelliGrade\SS\hijbulahml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86" y="5181600"/>
            <a:ext cx="3048000" cy="148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:\My Drive\Practicum\IntelliGrade\SS\hihubhome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93" y="1229303"/>
            <a:ext cx="4520406" cy="350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Q:\My Drive\Practicum\IntelliGrade\SS\gl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035" y="1240189"/>
            <a:ext cx="3771899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5533156" y="870857"/>
            <a:ext cx="243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linkClick r:id="rId8"/>
              </a:rPr>
              <a:t>Helpline Hello </a:t>
            </a:r>
            <a:r>
              <a:rPr lang="en-US" b="1" dirty="0" err="1">
                <a:hlinkClick r:id="rId8"/>
              </a:rPr>
              <a:t>Naogaon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53833" y="4762316"/>
            <a:ext cx="345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linkClick r:id="rId9"/>
              </a:rPr>
              <a:t>https://hijbullahml.streamlit.app/</a:t>
            </a:r>
            <a:endParaRPr lang="en-US" b="1" dirty="0"/>
          </a:p>
        </p:txBody>
      </p:sp>
      <p:pic>
        <p:nvPicPr>
          <p:cNvPr id="2055" name="Picture 7" descr="Q:\My Drive\Practicum\IntelliGrade\SS\library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325" y="4197705"/>
            <a:ext cx="3697609" cy="218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5128366" y="3429000"/>
            <a:ext cx="3519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linkClick r:id="rId11"/>
              </a:rPr>
              <a:t>IUBAT Library Entry/Exit Management System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1062335"/>
            <a:ext cx="8475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F43F5E"/>
                </a:solidFill>
                <a:latin typeface="Times New Roman" pitchFamily="18" charset="0"/>
                <a:cs typeface="Times New Roman" pitchFamily="18" charset="0"/>
              </a:rPr>
              <a:t>CURRENT OPERATIONAL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941576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Labor Fatigue:</a:t>
            </a:r>
            <a:endParaRPr lang="en-US"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49698" y="1941576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Evaluating hundreds of handwritten scripts per semester causes examiner fatigue, drift &amp; delays.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599944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OBE Complexity:</a:t>
            </a:r>
            <a:endParaRPr lang="en-US"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49698" y="2599944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Manual CO1-CO6/PO1-PO12 attainment math is error-prone when done in spreadsheets.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258312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No Student Feedback: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9698" y="3258312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>
                <a:latin typeface="Times New Roman" pitchFamily="18" charset="0"/>
                <a:cs typeface="Times New Roman" pitchFamily="18" charset="0"/>
              </a:rPr>
              <a:t>Students receive only a single mark — zero question-level or concept-level insight.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916680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Paper Record Risk: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9698" y="3916680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Physical scripts are lost, damaged, or unavailable during accreditation audits.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575048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Role Fragmentation: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9698" y="4575048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No unified digital ecosystem for Controllers, Heads, Teachers, and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1086" y="1066800"/>
            <a:ext cx="695891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latin typeface="Times New Roman" pitchFamily="18" charset="0"/>
                <a:cs typeface="Times New Roman" pitchFamily="18" charset="0"/>
              </a:rPr>
              <a:t>INTELLIGRADE INNOVATIVE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44" y="1742948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Dual Wizards: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10799" y="1742948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 v3.0 + Direct Manual Grading — teacher always maintains complete grading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44" y="2401316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OBE: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0799" y="2401316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Automatic CO/PO/KP/CEP/CEA attainment calculation with Bloom taxonomy across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44" y="3059684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Deep</a:t>
            </a:r>
            <a:r>
              <a:rPr lang="en-US"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Feedback: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10799" y="3059684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Times New Roman" pitchFamily="18" charset="0"/>
                <a:cs typeface="Times New Roman" pitchFamily="18" charset="0"/>
              </a:rPr>
              <a:t>Question-wise marks, strengths, AI comments, criteria breakdown per student.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44" y="3718052"/>
            <a:ext cx="2402155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PDF: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799" y="3718052"/>
            <a:ext cx="5299801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 scripts stored securely in institutional media.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44" y="4114800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4-Role Portal: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10799" y="4114800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 &amp; Student — one synchronized ecosystem.</a:t>
            </a: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95585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777763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Specific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" y="1371600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920" y="1371600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0" y="1417320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Reduce grading turnaround by 70% via OCR + AI-suggested 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20" y="2029967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1920" y="2029967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0" y="2075688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Implement 23-section IUBAT OBE taxonomy across all exam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" y="2688336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920" y="2688336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910" y="2734056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Provide dual evaluation: AI Wizard v3.0 AND 100% Direct Manual Grading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" y="3346704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1920" y="3346704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0" y="3392424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Deploy split-screen workbench with 1-click mark override &amp;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0341" y="4038600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2400" y="4087368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390" y="4133088"/>
            <a:ext cx="8522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Generate 8-sheet OBE Excel with CO/PO/CQI formulas (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openpyxl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0341" y="4696967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2400" y="4745735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391" y="4791456"/>
            <a:ext cx="8522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Role portals: Chief Exam 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Teacher, Student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400" y="5404104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341" y="5355336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7331" y="5401056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Resilient AI failover: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Moondream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Groq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OpenRouter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Gemini -&gt; GPT-4o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" y="6062472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341" y="6013704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7331" y="6059424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Institutional SMTP email + PDF attachment dispatch</a:t>
            </a:r>
          </a:p>
        </p:txBody>
      </p:sp>
    </p:spTree>
    <p:extLst>
      <p:ext uri="{BB962C8B-B14F-4D97-AF65-F5344CB8AC3E}">
        <p14:creationId xmlns:p14="http://schemas.microsoft.com/office/powerpoint/2010/main" val="388879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640080" y="1138535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Key Stakeholders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1813560"/>
            <a:ext cx="3212966" cy="1371505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20" y="186842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Chief Exam 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220675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Governance,</a:t>
            </a:r>
            <a:r>
              <a:rPr lang="en-US"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routine scanning, student approvals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11834" y="1752600"/>
            <a:ext cx="3212966" cy="1371505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03274" y="180746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6B6D4"/>
                </a:solidFill>
                <a:latin typeface="Times New Roman" pitchFamily="18" charset="0"/>
                <a:cs typeface="Times New Roman" pitchFamily="18" charset="0"/>
              </a:rPr>
              <a:t>Department 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3274" y="214579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OBE auditing, pass-rate analytics, tabulation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3992879"/>
            <a:ext cx="3212966" cy="1371505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1039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Faculty / Examiner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039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Q&amp;R authoring, script upload, AI </a:t>
            </a:r>
            <a:r>
              <a:rPr sz="1500" b="0" i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eval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mark override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11834" y="3992879"/>
            <a:ext cx="3212966" cy="1371505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03274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0B981"/>
                </a:solidFill>
                <a:latin typeface="Times New Roman" pitchFamily="18" charset="0"/>
                <a:cs typeface="Times New Roman" pitchFamily="18" charset="0"/>
              </a:rPr>
              <a:t>Student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3274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Grade transparency, PDF downloads, CO/PO feedback</a:t>
            </a:r>
          </a:p>
        </p:txBody>
      </p:sp>
    </p:spTree>
    <p:extLst>
      <p:ext uri="{BB962C8B-B14F-4D97-AF65-F5344CB8AC3E}">
        <p14:creationId xmlns:p14="http://schemas.microsoft.com/office/powerpoint/2010/main" val="64110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5" name="Rectangle 84"/>
          <p:cNvSpPr/>
          <p:nvPr/>
        </p:nvSpPr>
        <p:spPr>
          <a:xfrm>
            <a:off x="228600" y="1453146"/>
            <a:ext cx="23622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74320" y="15781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Administration &amp; Portals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8704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05104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RBAC Auth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0728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971289" y="1143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27520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89152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8704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05104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Portal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0728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97128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3246120"/>
            <a:ext cx="236220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74320" y="33307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Academic Ingestion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1084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97484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Structure CRUD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3108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89508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51320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81532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23-OBE Studio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95600" y="3685032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938272" y="3657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9560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959609" y="4572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300 DPI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Preproc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481584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87984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PyMuPDF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36080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80008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PyTesseract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52928" y="5424690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819400" y="5388114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CPU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8600" y="4800600"/>
            <a:ext cx="23622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74320" y="4876800"/>
            <a:ext cx="2249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OCR / Preprocessing</a:t>
            </a:r>
          </a:p>
        </p:txBody>
      </p:sp>
    </p:spTree>
    <p:extLst>
      <p:ext uri="{BB962C8B-B14F-4D97-AF65-F5344CB8AC3E}">
        <p14:creationId xmlns:p14="http://schemas.microsoft.com/office/powerpoint/2010/main" val="4091606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7" name="Rectangle 116"/>
          <p:cNvSpPr/>
          <p:nvPr/>
        </p:nvSpPr>
        <p:spPr>
          <a:xfrm>
            <a:off x="228600" y="1905000"/>
            <a:ext cx="2121408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74319" y="2082534"/>
            <a:ext cx="20203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Dual Evaluation Engine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51460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578608" y="175260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43484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498848" y="170688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Wizard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55079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419088" y="170688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514600" y="2401074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578608" y="24384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Cooldown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Tracker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8600" y="3967746"/>
            <a:ext cx="2121408" cy="868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74320" y="4114800"/>
            <a:ext cx="2075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Tabulation &amp; Output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52984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59384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45008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514089" y="382524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70320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43432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51460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57860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8-Sheet Excel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3484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449884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3188876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21-Module Architecture Catalog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356360" y="499646"/>
            <a:ext cx="6035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Times New Roman" pitchFamily="18" charset="0"/>
                <a:cs typeface="Times New Roman" pitchFamily="18" charset="0"/>
              </a:rPr>
              <a:t>Service-oriented modular decomposition of </a:t>
            </a:r>
            <a:r>
              <a:rPr sz="1600" b="0" i="0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sz="16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8600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8600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Auth &amp; RBAC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947672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93391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1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66744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66744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12463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3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 Portal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85816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85816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31536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1536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Workspace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4888" y="90220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104888" y="90220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50607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7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4695" y="2261616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34695" y="2261616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0416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416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Acad. Structure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53768" y="22616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953768" y="22616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99488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99488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237232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657600" y="2237232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03320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3320" y="2557272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23-Taxonomy Studio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76672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376672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22391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22391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95744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095744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141463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1463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300 DPI Preproc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0416" y="363016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280416" y="363016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26136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6136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Hybrid OCR Engine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99488" y="363016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999488" y="363016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2045207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45207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Boundary &amp; Mapping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18559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3718559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3764280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64280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Eval Wizard v3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437632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5437632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483352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83352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Grading Wiz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135368" y="3592914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7135368" y="3592914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181088" y="3521988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181088" y="3912953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 Chain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16408" y="50048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216408" y="50048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62127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2127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TaskRouter &amp; Health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935480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1935480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981199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981199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4552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654552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700272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00272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PDF Gen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erate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5373624" y="5004816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5373624" y="5004816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419343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19343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092695" y="5004816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7092695" y="5004816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7138416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MOD-20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138416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8-Sheet Excel Sync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4695" y="6300217"/>
            <a:ext cx="8513494" cy="424493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356617" y="6324600"/>
            <a:ext cx="8151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 Service</a:t>
            </a:r>
          </a:p>
        </p:txBody>
      </p:sp>
    </p:spTree>
    <p:extLst>
      <p:ext uri="{BB962C8B-B14F-4D97-AF65-F5344CB8AC3E}">
        <p14:creationId xmlns:p14="http://schemas.microsoft.com/office/powerpoint/2010/main" val="872107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 Use Case Diagram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1: IntelliGrade Use Case Diagram — 4 Actors (Chief Exam Controller, Dept Head, Faculty/Examiner, Student) interacting across 27 documented use cases</a:t>
            </a:r>
          </a:p>
        </p:txBody>
      </p:sp>
    </p:spTree>
    <p:extLst>
      <p:ext uri="{BB962C8B-B14F-4D97-AF65-F5344CB8AC3E}">
        <p14:creationId xmlns:p14="http://schemas.microsoft.com/office/powerpoint/2010/main" val="2710298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9/37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Activity Diagram — AI Evaluation Wizard Pipeline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19F4E1-3F5F-4989-A165-478AFA9802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9"/>
          <a:stretch/>
        </p:blipFill>
        <p:spPr>
          <a:xfrm>
            <a:off x="1676400" y="1056065"/>
            <a:ext cx="5410200" cy="55603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2: Activity Diagram — AI Evaluation Wizard v3.0 Pipeline (Script Upload → 300 DPI Preprocessing → Hybrid OCR → Boundary Detection → AI Failover Evaluation → Workbench)</a:t>
            </a:r>
          </a:p>
        </p:txBody>
      </p:sp>
    </p:spTree>
    <p:extLst>
      <p:ext uri="{BB962C8B-B14F-4D97-AF65-F5344CB8AC3E}">
        <p14:creationId xmlns:p14="http://schemas.microsoft.com/office/powerpoint/2010/main" val="3003772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10/37</a:t>
            </a:r>
          </a:p>
        </p:txBody>
      </p:sp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Activity Diagram — Manual Grading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BC4F10-9C5E-488D-B911-7B25DB5FCC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"/>
          <a:stretch/>
        </p:blipFill>
        <p:spPr>
          <a:xfrm>
            <a:off x="2057400" y="1082842"/>
            <a:ext cx="4648200" cy="577515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3: Activity Diagram — Manual Grading Wizard (Fast PDF Page Slicing Only — Zero AI/OCR overhead; Direct teacher page-to-question assignment)</a:t>
            </a:r>
          </a:p>
        </p:txBody>
      </p:sp>
    </p:spTree>
    <p:extLst>
      <p:ext uri="{BB962C8B-B14F-4D97-AF65-F5344CB8AC3E}">
        <p14:creationId xmlns:p14="http://schemas.microsoft.com/office/powerpoint/2010/main" val="976240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40093" y="1051560"/>
            <a:ext cx="102896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91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Teacher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277" y="1527048"/>
            <a:ext cx="68598" cy="4846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957" y="1051560"/>
            <a:ext cx="1028968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0625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52142" y="1527048"/>
            <a:ext cx="68598" cy="4846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3822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8120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Script
Processor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4006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5687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998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OCR
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5872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67552" y="1051560"/>
            <a:ext cx="1028968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1851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Orchestrator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7737" y="1527048"/>
            <a:ext cx="68598" cy="4846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9416" y="1051560"/>
            <a:ext cx="102896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33715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Groq/Gemini
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9601" y="1527048"/>
            <a:ext cx="68598" cy="4846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99879" y="1051560"/>
            <a:ext cx="1028968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4178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0063" y="1527048"/>
            <a:ext cx="68598" cy="4846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838200" y="19050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3317" y="1697251"/>
            <a:ext cx="176268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upload_student_submission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68759" y="2133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2600" y="1905000"/>
            <a:ext cx="174589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process_submission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300 DPI render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00623" y="2514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66626" y="2306851"/>
            <a:ext cx="2435225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run_ocr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PyMuPDF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Tesseract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100623" y="2971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95600" y="2764051"/>
            <a:ext cx="137195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BBoxes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text blocks returned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68759" y="3352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752600" y="3029635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detect_boundaries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created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6894" y="349300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9600" y="3200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Return mapping UI / confirmation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6894" y="4114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443" y="3810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confirm_mapping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trigger AI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1968759" y="4224528"/>
            <a:ext cx="32309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68759" y="4020979"/>
            <a:ext cx="321284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route_evaluation_task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question_mappings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64353" y="4419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81600" y="41148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evaluate(rubric, image,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master_sol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64353" y="50292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181600" y="4724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JSON{score, confidence, strengths, mistakes}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64353" y="5321808"/>
            <a:ext cx="2167693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29139" y="5126251"/>
            <a:ext cx="246706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save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EvaluationResult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flag if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&lt; 0.75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968759" y="5687568"/>
            <a:ext cx="556328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581400" y="5507251"/>
            <a:ext cx="276106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ACK -&gt; all questions evaluated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6894" y="605332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443" y="5715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</a:t>
            </a:r>
            <a:r>
              <a:rPr sz="750" b="0" i="0" dirty="0" err="1"/>
              <a:t>evaluation_workspace</a:t>
            </a:r>
            <a:endParaRPr sz="750" b="0" i="0" dirty="0"/>
          </a:p>
        </p:txBody>
      </p:sp>
      <p:sp>
        <p:nvSpPr>
          <p:cNvPr id="55" name="TextBox 5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12/37</a:t>
            </a:r>
          </a:p>
        </p:txBody>
      </p:sp>
      <p:pic>
        <p:nvPicPr>
          <p:cNvPr id="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Sequence Diagram — AI Evaluation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9" name="TextBox 58"/>
          <p:cNvSpPr txBox="1"/>
          <p:nvPr/>
        </p:nvSpPr>
        <p:spPr>
          <a:xfrm>
            <a:off x="365760" y="62636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4: Sequence Diagram — AI Evaluation Wizard (7 Lifelines: Teacher Browser → Django Views → Script Processor → OCR Engine → AI Orchestrator → Groq/Gemini LLM → Database)</a:t>
            </a:r>
          </a:p>
        </p:txBody>
      </p:sp>
    </p:spTree>
    <p:extLst>
      <p:ext uri="{BB962C8B-B14F-4D97-AF65-F5344CB8AC3E}">
        <p14:creationId xmlns:p14="http://schemas.microsoft.com/office/powerpoint/2010/main" val="2655630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42990" y="1051560"/>
            <a:ext cx="1303359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7288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Student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370" y="1527048"/>
            <a:ext cx="68598" cy="4937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83545" y="1051560"/>
            <a:ext cx="1303359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7843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925" y="1527048"/>
            <a:ext cx="68598" cy="4937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2698" y="1051560"/>
            <a:ext cx="1303359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6996" y="1097280"/>
            <a:ext cx="1234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0078" y="1527048"/>
            <a:ext cx="68598" cy="49377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39046" y="1051560"/>
            <a:ext cx="1303359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73345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Email
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6427" y="1527048"/>
            <a:ext cx="68598" cy="4937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22591" y="1051560"/>
            <a:ext cx="1303359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6889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PDF
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9971" y="1527048"/>
            <a:ext cx="68598" cy="4937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63267" y="173736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15544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ysClr val="windowText" lastClr="000000"/>
                </a:solidFill>
              </a:rPr>
              <a:t>POST </a:t>
            </a:r>
            <a:r>
              <a:rPr sz="750" b="0" i="0" dirty="0" err="1">
                <a:solidFill>
                  <a:sysClr val="windowText" lastClr="000000"/>
                </a:solidFill>
              </a:rPr>
              <a:t>student_login</a:t>
            </a:r>
            <a:r>
              <a:rPr sz="750" b="0" i="0" dirty="0">
                <a:solidFill>
                  <a:sysClr val="windowText" lastClr="000000"/>
                </a:solidFill>
              </a:rPr>
              <a:t>(username, password)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03822" y="21031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000" y="19202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authenticate() verify </a:t>
            </a:r>
            <a:r>
              <a:rPr sz="750" b="0" i="0" dirty="0" err="1"/>
              <a:t>Profile.role</a:t>
            </a:r>
            <a:r>
              <a:rPr sz="750" b="0" i="0" dirty="0"/>
              <a:t>=STUDENT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03822" y="246888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09800" y="22860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Session token + profile 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63267" y="28346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265176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/dashboard/student/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3267" y="320040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30175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dashboard_student</a:t>
            </a:r>
            <a:r>
              <a:rPr sz="750" b="0" i="0" dirty="0"/>
              <a:t>()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03822" y="356616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03822" y="338327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fetch </a:t>
            </a:r>
            <a:r>
              <a:rPr sz="750" b="0" i="0" dirty="0" err="1"/>
              <a:t>StudentGradeRecord</a:t>
            </a:r>
            <a:r>
              <a:rPr sz="750" b="0" i="0" dirty="0"/>
              <a:t> + </a:t>
            </a:r>
            <a:r>
              <a:rPr sz="750" b="0" i="0" dirty="0" err="1"/>
              <a:t>EvaluationResult</a:t>
            </a:r>
            <a:endParaRPr sz="750" b="0" i="0" dirty="0"/>
          </a:p>
        </p:txBody>
      </p:sp>
      <p:cxnSp>
        <p:nvCxnSpPr>
          <p:cNvPr id="33" name="Connector 32"/>
          <p:cNvCxnSpPr/>
          <p:nvPr/>
        </p:nvCxnSpPr>
        <p:spPr>
          <a:xfrm>
            <a:off x="2503822" y="39319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85464" y="37490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Grade records, CO/PO attainments, GPA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63267" y="429768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2000" y="41148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Render student dashboard with cards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63267" y="46634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3864" y="448055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download_certified_pdf</a:t>
            </a:r>
            <a:r>
              <a:rPr sz="750" b="0" i="0" dirty="0"/>
              <a:t>(</a:t>
            </a:r>
            <a:r>
              <a:rPr sz="750" b="0" i="0" dirty="0" err="1"/>
              <a:t>submission_id</a:t>
            </a:r>
            <a:r>
              <a:rPr sz="750" b="0" i="0" dirty="0"/>
              <a:t>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503822" y="502920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18769" y="48463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generate_pdf</a:t>
            </a:r>
            <a:r>
              <a:rPr sz="750" b="0" i="0" dirty="0"/>
              <a:t>() if finalized=True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03822" y="539496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18769" y="52120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Watermarked PDF binary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503822" y="576072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326996" y="557784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send_result_email</a:t>
            </a:r>
            <a:r>
              <a:rPr sz="750" b="0" i="0" dirty="0"/>
              <a:t>(student, </a:t>
            </a:r>
            <a:r>
              <a:rPr sz="750" b="0" i="0" dirty="0" err="1"/>
              <a:t>pdf_attachment</a:t>
            </a:r>
            <a:r>
              <a:rPr sz="750" b="0" i="0" dirty="0"/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03822" y="612648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26996" y="59436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/>
              <a:t>SMTP ACK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63267" y="64922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4400" y="6309359"/>
            <a:ext cx="2057936" cy="2077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HTTP 200: PDF download response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13/37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Sequence Diagram — Student Portal &amp; Result Publication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" name="TextBox 54"/>
          <p:cNvSpPr txBox="1"/>
          <p:nvPr/>
        </p:nvSpPr>
        <p:spPr>
          <a:xfrm>
            <a:off x="365760" y="62636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5: Sequence Diagram — Student Result Publication (Student Browser → Django Views → Database → PDF Generator → Email Service; ends with certified PDF dispatch)</a:t>
            </a:r>
          </a:p>
        </p:txBody>
      </p:sp>
    </p:spTree>
    <p:extLst>
      <p:ext uri="{BB962C8B-B14F-4D97-AF65-F5344CB8AC3E}">
        <p14:creationId xmlns:p14="http://schemas.microsoft.com/office/powerpoint/2010/main" val="2733178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4060" y="609600"/>
            <a:ext cx="5105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Key entity classes, attributes, and associations in core/models.py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96" y="1097280"/>
            <a:ext cx="2743915" cy="132588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96" y="109728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74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74" y="1426465"/>
            <a:ext cx="26341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user: FK(User)
- role: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Enum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[ADMIN|TEACHER|DEPT_HEAD|STUDENT]
- department: FK(Department)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is_approved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74" y="2230651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get_role_label()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6904" y="1097280"/>
            <a:ext cx="2743915" cy="132588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86904" y="109728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41782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Examination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782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title, course: FK(Course)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exam_date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start_time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end_time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assigned_teachers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M2M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master_solution_parsed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41782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get_absolute_url()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5210" y="1097280"/>
            <a:ext cx="2743915" cy="132588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05210" y="109728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60088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0088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prompt_text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marks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bloom_level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co,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kp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cea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rubric: FK(Rubric)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0088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get_full_taxonomy()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96" y="3124200"/>
            <a:ext cx="2743915" cy="11887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96" y="3124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74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student_roll_no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is_finalized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certified_pdf_path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74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can_finalize()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86904" y="3124200"/>
            <a:ext cx="2743915" cy="11887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86904" y="31242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41782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1782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submission: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StudentSubmission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question: FK(Question)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page_numbers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JSON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mapping_status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is_confirmed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41782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get_answer_pages()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5210" y="3124200"/>
            <a:ext cx="2743915" cy="11887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05210" y="31242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60088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EvaluationResult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0088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mapping: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obtained_marks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confidence_score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requires_manual_review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60088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get_percentage()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96" y="5044440"/>
            <a:ext cx="2743915" cy="11887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37196" y="504444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2074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StudentGradeRecord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74" y="537362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tabulation: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CourseTabulation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student: FK(Profile)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mid_marks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final_marks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overall_score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grade_point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2074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compute_weighted_score()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86904" y="5044440"/>
            <a:ext cx="2743915" cy="11887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086904" y="504444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41782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CourseTabulation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41782" y="5373624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is_published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excel_file_path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41782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compute_co_attainment()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8754" y="61699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14/37</a:t>
            </a:r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Class Diagram — Core Domain Model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54894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2478" y="105156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2478" y="105156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637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AIEvaluationOrchestrator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56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provider_chain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list[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BaseProvider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health_tracker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ProviderHealthTracker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timeout_budget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56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route_task(mapping)
+ failover_to_next()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2186" y="1051560"/>
            <a:ext cx="2743915" cy="14173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52186" y="105156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3344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BaseProvider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7064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api_key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model_name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max_retries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7064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evaluate(prompt, image) -&gt; JSON
+ is_healthy() -&gt; bool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1894" y="1051560"/>
            <a:ext cx="2743915" cy="141732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1894" y="105156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3053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LocalOfflineVisionProvider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6772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ollama_endpoint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max_image_size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800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jpeg_quality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772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resize_lanczos(img)
+ encode_base64(img)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478" y="2819400"/>
            <a:ext cx="2743915" cy="14173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2478" y="28194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3637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GroqProvider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356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model: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'llama-3.3-70b'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tpm_limit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7356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post_completion(msgs)
+ handle_429()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2186" y="2819400"/>
            <a:ext cx="2743915" cy="141732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52186" y="281940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3344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ProviderHealthTracker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7064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cooldowns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failure_counts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07064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mark_failed(provider)
+ is_on_cooldown(provider)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1894" y="2819400"/>
            <a:ext cx="2743915" cy="14173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01894" y="28194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3053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TabulationService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6772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ct_weight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=0.10, mid=0.25, final=0.50
- assign=0.10, attendance=0.05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6772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sync_submission(sub)
+ compute_grade_point(score)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2478" y="4648200"/>
            <a:ext cx="2743915" cy="14173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2478" y="464820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3637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FinalizationService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356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pdf_generator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EvaluatedPDFService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working_dir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7356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finalize_submission(sub)
+ purge_artifacts()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52186" y="464820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52186" y="4648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3344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EmailService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7064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smtp_host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smtp_port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sender: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07064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dispatch_result(student, pdf)
+ send_otp(email, otp)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4036" y="6246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15/37</a:t>
            </a:r>
          </a:p>
        </p:txBody>
      </p:sp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Class Diagram — AI Engine &amp; Services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141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8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A382BE-4A75-497D-985F-DA6A9A21C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38200"/>
            <a:ext cx="8580120" cy="5733131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6: Entity-Relationship Diagram — IntelliGrade Core Domain Model (20+ entities, 28 applied migrations; key relations: Course→Examination→Question→StudentSubmission→EvaluationResult→StudentGradeRecord)</a:t>
            </a:r>
          </a:p>
        </p:txBody>
      </p:sp>
    </p:spTree>
    <p:extLst>
      <p:ext uri="{BB962C8B-B14F-4D97-AF65-F5344CB8AC3E}">
        <p14:creationId xmlns:p14="http://schemas.microsoft.com/office/powerpoint/2010/main" val="3496444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17/37</a:t>
            </a:r>
          </a:p>
        </p:txBody>
      </p:sp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0 (Context Diagram)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A0204F-DA1A-4FC7-886F-B92AA38031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5000"/>
          <a:stretch/>
        </p:blipFill>
        <p:spPr>
          <a:xfrm>
            <a:off x="0" y="1828800"/>
            <a:ext cx="9144000" cy="3657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7: Data Flow Diagram — Level 0 Context Diagram (4 external entities: Controller, Faculty, Student, AI Providers; 1 central IntelliGrade system process)</a:t>
            </a:r>
          </a:p>
        </p:txBody>
      </p:sp>
    </p:spTree>
    <p:extLst>
      <p:ext uri="{BB962C8B-B14F-4D97-AF65-F5344CB8AC3E}">
        <p14:creationId xmlns:p14="http://schemas.microsoft.com/office/powerpoint/2010/main" val="549508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18/37</a:t>
            </a:r>
          </a:p>
        </p:txBody>
      </p:sp>
      <p:pic>
        <p:nvPicPr>
          <p:cNvPr id="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1 (System Level)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B012E5-76DC-4FA0-9E24-971AB4ECF8F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9"/>
          <a:stretch/>
        </p:blipFill>
        <p:spPr>
          <a:xfrm>
            <a:off x="304800" y="990600"/>
            <a:ext cx="8610600" cy="527491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8: Data Flow Diagram — Level 1 System Decomposition (21 functional sub-processes: Auth → Academic Ingestion → OCR → Dual Evaluation → Tabulation → Email)</a:t>
            </a:r>
          </a:p>
        </p:txBody>
      </p:sp>
    </p:spTree>
    <p:extLst>
      <p:ext uri="{BB962C8B-B14F-4D97-AF65-F5344CB8AC3E}">
        <p14:creationId xmlns:p14="http://schemas.microsoft.com/office/powerpoint/2010/main" val="1428435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79056" y="728990"/>
            <a:ext cx="8231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IFPUG Method — Quantifying </a:t>
            </a:r>
            <a:r>
              <a:rPr sz="1100" b="0" i="0" dirty="0" err="1">
                <a:solidFill>
                  <a:srgbClr val="818CF8"/>
                </a:solidFill>
              </a:rPr>
              <a:t>IntelliGrade</a:t>
            </a:r>
            <a:r>
              <a:rPr sz="1100" b="0" i="0" dirty="0">
                <a:solidFill>
                  <a:srgbClr val="818CF8"/>
                </a:solidFill>
              </a:rPr>
              <a:t> system size from 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94" y="1051560"/>
            <a:ext cx="85747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IFPUG FP Analysis — IntelliGrade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495" y="1481328"/>
            <a:ext cx="288111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94" y="1517904"/>
            <a:ext cx="2812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6904" y="1481328"/>
            <a:ext cx="99466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1203" y="1517904"/>
            <a:ext cx="926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587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50171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923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3530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2590" y="1481328"/>
            <a:ext cx="226373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56890" y="1517904"/>
            <a:ext cx="21951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FP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5" y="1892807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513" y="1984248"/>
            <a:ext cx="27850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Inputs (EI) — 27 Use Case workflows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86904" y="1892807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34922" y="1984248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/>
              <a:t>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587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63891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923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67250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2590" y="1892807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70609" y="1984248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495" y="2423160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9513" y="2514600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Outputs (EO) — PDF, Excel, Email,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6904" y="2423160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34922" y="2514600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587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63891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1923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67250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2590" y="2423160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70609" y="2514600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5" y="2953511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513" y="3044951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Inquiries (EQ) — Grade views, downloads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86904" y="2953511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34922" y="3044951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587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63891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Simple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1923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67250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2590" y="2953511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70609" y="3044951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1495" y="3483863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513" y="3575303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Internal Logical Files (ILF) — 21+ Django models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86904" y="3483863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34922" y="3575303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587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63891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Complex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1923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67250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2590" y="3483863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70609" y="3575303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495" y="4014215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19513" y="4105655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Interface Files (EIF) — 5 AI providers/SMTP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86904" y="4014215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134922" y="4105655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587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63891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1923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7250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2590" y="4014215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770609" y="4105655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1494" y="4572000"/>
            <a:ext cx="8780527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0093" y="4654296"/>
            <a:ext cx="28125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Unadjusted FPs (UFP)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1188" y="4654296"/>
            <a:ext cx="212653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479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94" y="516636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Value Adjustment Factor (VAF) = 0.65 + (0.01 × Sum-GSCs)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94" y="544068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Sum-GSCs (14 General System Characteristics) = 47  →  VAF = 0.65 + 0.47 = 1.12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4" y="5779008"/>
            <a:ext cx="8780527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4391" y="5888736"/>
            <a:ext cx="8643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Adjusted Function Points (AFP) = UFP × VAF = 479 × 1.12 = 536.48 FPs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93" y="6446520"/>
            <a:ext cx="8711929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 dirty="0">
                <a:solidFill>
                  <a:sysClr val="windowText" lastClr="000000"/>
                </a:solidFill>
              </a:rPr>
              <a:t>EI: 27 UC workflows | EO: Certified PDF, Excel, Email, Dashboards | ILF: All 21+ </a:t>
            </a:r>
            <a:r>
              <a:rPr sz="850" b="0" i="1" dirty="0" err="1">
                <a:solidFill>
                  <a:sysClr val="windowText" lastClr="000000"/>
                </a:solidFill>
              </a:rPr>
              <a:t>Django</a:t>
            </a:r>
            <a:r>
              <a:rPr sz="850" b="0" i="1" dirty="0">
                <a:solidFill>
                  <a:sysClr val="windowText" lastClr="000000"/>
                </a:solidFill>
              </a:rPr>
              <a:t> models | EIF: Gemini, </a:t>
            </a:r>
            <a:r>
              <a:rPr sz="850" b="0" i="1" dirty="0" err="1">
                <a:solidFill>
                  <a:sysClr val="windowText" lastClr="000000"/>
                </a:solidFill>
              </a:rPr>
              <a:t>Groq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Ollama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OpenRouter</a:t>
            </a:r>
            <a:r>
              <a:rPr sz="850" b="0" i="1" dirty="0">
                <a:solidFill>
                  <a:sysClr val="windowText" lastClr="000000"/>
                </a:solidFill>
              </a:rPr>
              <a:t>, SMTP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20/37</a:t>
            </a:r>
          </a:p>
        </p:txBody>
      </p:sp>
      <p:pic>
        <p:nvPicPr>
          <p:cNvPr id="7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 Point (FP) Calculation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71440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64988" y="657459"/>
            <a:ext cx="35835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37 Functional Requirements derived from system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4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1" y="1051560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680" y="1143000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Unified role-based authentication -&gt; role-specific dashboard redirect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1591055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4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1" y="1591055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680" y="1682495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Auth</a:t>
            </a:r>
            <a:r>
              <a:rPr sz="900" b="0" i="0" dirty="0"/>
              <a:t>] Student self-registration with </a:t>
            </a:r>
            <a:r>
              <a:rPr sz="900" b="0" i="0" dirty="0" err="1"/>
              <a:t>is_approved</a:t>
            </a:r>
            <a:r>
              <a:rPr sz="900" b="0" i="0" dirty="0"/>
              <a:t>=False -&gt; Controller approval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2130552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4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1" y="2130552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680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6-digit OTP password reset via SMTP with 10-minute expiry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2670048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4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1" y="2670048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680" y="2761488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Gov</a:t>
            </a:r>
            <a:r>
              <a:rPr sz="900" b="0" i="0" dirty="0"/>
              <a:t>] Exam Controllers manage Colleges, Schools, Departments, Courses, Faculty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3209544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1" y="3209544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680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[Gov] Toggle active/blocked status for any institutional user 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3749039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4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1" y="3749039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1680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Parse multi-page exam routine PDFs -&gt; extract dates, times, course codes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4288536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4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1" y="4288536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1680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0ms local DB course match -&gt; 1-click batch examination creation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4828031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4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1" y="4828031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1680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Admin configures API keys: Gemini, Groq, OpenAI, OpenRouter, Ollama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5367527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4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1" y="5367527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680" y="5458967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Live departmental pass rates + active courses + enrolled students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5907023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4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1" y="5907023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680" y="5998463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Dept Heads audit course OBE sheets and CO/PO attainment matrices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30356" y="1051560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50935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55663" y="1051560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110541" y="1143000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[Q&amp;R] 23-section IUBAT OBE metadata per question: Bloom, CO, PO, KP, CEP, CEA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30356" y="1591055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650935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55663" y="1591055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10541" y="168249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Structured rubrics with criteria, ideal answer, partial marks, keywords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30356" y="2130552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50935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55663" y="2130552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10541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Extract bounding boxes for Question Figures, Tables, LaTeX formulas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30356" y="2670048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50935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55663" y="2670048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10541" y="2761488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Sanitize unescaped LaTeX backslashes to prevent JSON decode errors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30356" y="3209544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50935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55663" y="3209544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110541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Teacher uploads master solution; system links steps to questions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30356" y="3749039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650935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55663" y="3749039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110541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PDF scripts rendered at 300 DPI + OpenCV deskew + noise reduction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30356" y="4288536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650935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55663" y="4288536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110541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Versioned working copies in submission_working/ with increment IDs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30356" y="4828031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50935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55663" y="4828031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110541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Hybrid OCR: PyMuPDF -&gt; PyTesseract -&gt; EasyOCR PyTorch CPU fallback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30356" y="5367527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50935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55663" y="5367527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110541" y="5458967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Detect Q-number headings using strict start-of-line regex state machine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30356" y="5907023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650935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55663" y="5907023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10541" y="5998463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Interactive mapping modal: teacher adjusts page numbers and crop regions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21/37</a:t>
            </a:r>
          </a:p>
        </p:txBody>
      </p:sp>
      <p:pic>
        <p:nvPicPr>
          <p:cNvPr id="8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0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(FR-01 to FR-20)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78436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1495" y="838200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3" y="88392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2" y="838200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357" y="88392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[AI] Failover chain: Local Vision -&gt; </a:t>
            </a:r>
            <a:r>
              <a:rPr sz="900" b="0" i="0" dirty="0" err="1"/>
              <a:t>Groq</a:t>
            </a:r>
            <a:r>
              <a:rPr sz="900" b="0" i="0" dirty="0"/>
              <a:t> -&gt; </a:t>
            </a:r>
            <a:r>
              <a:rPr sz="900" b="0" i="0" dirty="0" err="1"/>
              <a:t>OpenRouter</a:t>
            </a:r>
            <a:r>
              <a:rPr sz="900" b="0" i="0" dirty="0"/>
              <a:t> -&gt; Gemini -&gt; </a:t>
            </a:r>
            <a:r>
              <a:rPr sz="900" b="0" i="0" dirty="0" err="1"/>
              <a:t>OpenAI</a:t>
            </a:r>
            <a:endParaRPr sz="900" b="0" i="0" dirty="0"/>
          </a:p>
        </p:txBody>
      </p:sp>
      <p:sp>
        <p:nvSpPr>
          <p:cNvPr id="10" name="Rectangle 9"/>
          <p:cNvSpPr/>
          <p:nvPr/>
        </p:nvSpPr>
        <p:spPr>
          <a:xfrm>
            <a:off x="171495" y="117652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3" y="122224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2" y="117652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357" y="122224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Track HTTP 429 events -&gt; exponential backoff cooldowns per provider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514856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3" y="156057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2" y="1514856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357" y="156057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Enforce 45-second timeout per AI request -&gt; immediate failover trigger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853183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3" y="189890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2" y="1853183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357" y="189890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Evaluate against rubric criteria -&gt; return marks, confidence, strengths, mistakes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2191512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3" y="2237231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2" y="2191512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357" y="2237231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Set requires_manual_review=True when confidence &lt; configured threshold (0.75)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2529840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3" y="257556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2" y="2529840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357" y="257556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Split-screen workbench: scanned script image left, AI score + rubric right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868167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3" y="2913887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2" y="2868167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9357" y="2913887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Teacher mark override -&gt; logged in TeacherReview + EvaluationHistory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3206496"/>
            <a:ext cx="48959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3" y="3252215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2" y="3206496"/>
            <a:ext cx="8368939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9357" y="3252215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[PDF] Stamp certified PDF: institutional header, marks, comments, digital watermark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3544823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3" y="359054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2" y="3544823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9357" y="359054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Aggregate: Class Test (10%), Midterm (25%), Final (50%), Assign (10%), Att (5%)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3883152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3" y="392887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2" y="3883152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9357" y="392887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Real-time sync: tabulation modal edits -&gt; StudentGradeRecord + Excel + 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4221480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92073" y="426719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6802" y="4221480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9357" y="426719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Generate 8-sheet Excel (openpyxl): HOME, CO_ATTAINMENT, PO, CQI formulas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1495" y="4559808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2073" y="460552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6802" y="4559808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9357" y="460552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[Email] Non-blocking SMTP via dsr.iubat.ac.bd for results, credentials, OTPs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4898136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2073" y="494385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802" y="4898136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9357" y="494385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[Std] Student dashboard: GPA (4.00 scale), question-wise scores + PDF download links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495" y="5236463"/>
            <a:ext cx="489591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92073" y="528218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802" y="5236463"/>
            <a:ext cx="8368939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357" y="528218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[Wiz] Dual wizards: AI Wizard v3.0 + Manual Grading Wizard (zero AI/OCR path)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5574792"/>
            <a:ext cx="489591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2073" y="562051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6802" y="5574792"/>
            <a:ext cx="8368939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49357" y="562051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[Stor] Auto-purge working images from media/submission_working/ upon PDF creation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5913119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2073" y="595883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6802" y="5913119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9357" y="595883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[DB] Composite indexes + select_related/prefetch_related -&gt; eliminate N+1 queries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625144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92073" y="629716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6802" y="625144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9357" y="629716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Local vision: 800px LANCZOS downsampling + JPEG quality=75 before Ollama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24839" y="65880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/>
              <a:t>Slide 22/37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(FR-21 to FR-37)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19367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6200" y="912976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80" y="95869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FFFFFF"/>
                </a:solidFill>
              </a:rPr>
              <a:t>NFR-01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5399" y="914400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96012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/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1471" y="91440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96012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Dashboard pages rendered &lt;= 1.5 seconds under institutional network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" y="1251304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780" y="129702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399" y="1252728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" y="129844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91471" y="125272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129844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300 DPI render + PyTesseract OCR per page &lt;= 4.0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" y="1589632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780" y="163535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399" y="1591056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163677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471" y="159105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800" y="163677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AI evaluation per question via Groq/Gemini &lt;= 8.0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" y="1927959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80" y="197367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399" y="1929383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000" y="197510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Failover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91471" y="192938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28800" y="197510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Provider timeout/429 -&gt; failover transition &lt;= 500 milliseconds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" y="2266288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780" y="2312007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399" y="2267712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2000" y="2313431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Scalability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1471" y="226771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28800" y="2313431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Concurrent batch upload of 100 multi-page scripts without deadlock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200" y="2604616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780" y="265033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399" y="2606040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2000" y="265176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Availability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91471" y="260604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28800" y="265176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&gt;= 99.5% uptime during exam periods via offline vision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" y="2942943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780" y="2988663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399" y="2944367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2000" y="2990087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91471" y="2944367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2990087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Passwords salted+hashed (Argon2/PBKDF2-SHA256), never plaintext stored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200" y="3281272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780" y="3326991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5399" y="3282696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2000" y="3328415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91471" y="328269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8800" y="3328415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Every view/API endpoint enforces @role_required RBAC decorators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200" y="361959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780" y="366531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5399" y="362102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2000" y="366674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91471" y="362102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828800" y="366674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All POST/PUT/DELETE requests mandate valid CSRF tokens from middleware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200" y="3957928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780" y="400364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399" y="3959352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2000" y="400507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Integrity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91471" y="395935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28800" y="400507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Grade updates execute within atomic DB transactions (transaction.atomic)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200" y="4296256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780" y="434197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5399" y="4297680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2000" y="434339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Audit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91471" y="429768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828800" y="434339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Mark overrides log immutable audit entries with teacher ID + timestamp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200" y="4634584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780" y="468030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5399" y="4636008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62000" y="468172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OBE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91471" y="463600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828800" y="468172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CO/PO calculations strictly adhere to IUBAT &amp; BAETE accreditation standards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200" y="4972912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80" y="501863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5399" y="4974336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62000" y="502005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Excel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91471" y="497433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828800" y="502005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8-sheet workbooks preserve openpyxl formulas, validation, and cell colors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200" y="531123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6780" y="535695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5399" y="531266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62000" y="535838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Email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91471" y="531266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828800" y="535838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SMTP dispatches run in background threads — never blocks HTTP responses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200" y="5649568"/>
            <a:ext cx="684134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6780" y="569528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5399" y="5650992"/>
            <a:ext cx="926071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62000" y="569671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Usability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91471" y="565099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828800" y="569671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Responsive UI with dark/light theme + split-screen PDF viewer on desktop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200" y="5987895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6780" y="603361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5399" y="5989319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62000" y="603503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DB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91471" y="5989319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828800" y="603503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Composite B-tree indexes + eager-loading for near-O(1) query complexity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200" y="6326224"/>
            <a:ext cx="684134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6780" y="637194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5399" y="6327648"/>
            <a:ext cx="926071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2000" y="637336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Storage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91471" y="632764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828800" y="637336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Draft working images purged upon finalization to conserve disk space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/>
              <a:t>Slide 23/37</a:t>
            </a:r>
          </a:p>
        </p:txBody>
      </p:sp>
      <p:pic>
        <p:nvPicPr>
          <p:cNvPr id="11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Non-Functional Requirements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74495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88908" y="65745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Full technology choices: backend, AI, OCR, database, and UI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78992"/>
            <a:ext cx="2812512" cy="25146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0093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Backend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92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Django 5.2.x (Python 3.11)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2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Class-based + function-based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2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CSRF, RBAC, Session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2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Atomic DB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5502" y="1078992"/>
            <a:ext cx="2812512" cy="25146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4099" y="1143000"/>
            <a:ext cx="2675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latin typeface="Times New Roman" pitchFamily="18" charset="0"/>
                <a:cs typeface="Times New Roman" pitchFamily="18" charset="0"/>
              </a:rPr>
              <a:t>Database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8399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SQLite (dev) -&gt; PostgreSQL (prod)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8399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28 Django migrations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8399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Composite B-tree indexes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8399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select_related / prefetch_related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9508" y="1078992"/>
            <a:ext cx="2812512" cy="25146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08106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AI &amp; LLM 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406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Google Gemini 2.5 Flash / 2.0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2406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Groq Llama-3.3-70B Versatile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2406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OpenRouter 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406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OpenAI GPT-4o (backup)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406" y="25877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Ollama Moondream2 (offline)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1495" y="3776472"/>
            <a:ext cx="2812512" cy="25146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0093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OCR &amp;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2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PyMuPDF (font-map extraction)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92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PyTesseract (printed text)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92" y="473659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EasyOCR PyTorch CPU (handwritten)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92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OpenCV deskew / noise 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92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300 DPI rasterization (zoom=4.166)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5502" y="3776472"/>
            <a:ext cx="2812512" cy="25146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24099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Frontend /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8399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TailwindCSS CDN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8399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Lucide Icons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8399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Plus Jakarta Sans (Google Fonts)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8399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Dark/Light theme toggle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8399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Vanilla JS + fetch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39508" y="3776472"/>
            <a:ext cx="2812512" cy="2514600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08106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Output &amp; Reports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406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openpyxl — 8-sheet OBE Excel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2406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ReportLab — certified PDF stamps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2406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Async SMTP email (threading)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2406" y="501091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Watermarked PDF with Django headers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24/37</a:t>
            </a:r>
          </a:p>
        </p:txBody>
      </p:sp>
      <p:pic>
        <p:nvPicPr>
          <p:cNvPr id="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Technology Stack &amp; Infrastructure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48661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85122" y="609600"/>
            <a:ext cx="43738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20+ models, 28 migrations, Phase-1 B-tree composite index optimizations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143000"/>
            <a:ext cx="4218769" cy="2450592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" y="1143000"/>
            <a:ext cx="4218769" cy="274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12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examination (FK)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12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student_roll_no (str)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812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12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is_finalized (bool)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12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certified_pdf_path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812" y="2743200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[examination, status]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12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student_roll_no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12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is_finalized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4" y="3867912"/>
            <a:ext cx="4218769" cy="2450592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1494" y="3867912"/>
            <a:ext cx="4218769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6373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EvaluationResult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812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 (FK-&gt;QuestionMapping)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812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obtained_marks, max_marks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812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confidence_score (float)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812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812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requires_manual_review (bool)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812" y="546811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ai_feedback (text)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812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[status, </a:t>
            </a:r>
            <a:r>
              <a:rPr sz="850" b="1" i="0" dirty="0" err="1">
                <a:solidFill>
                  <a:srgbClr val="10B981"/>
                </a:solidFill>
              </a:rPr>
              <a:t>requires_manual_review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6057" y="1143000"/>
            <a:ext cx="4218769" cy="2450592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96057" y="1143000"/>
            <a:ext cx="4218769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50935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QuestionMapping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8374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submission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8374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question (FK)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8374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page_numbers (JSON)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8374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mapping_status (Enum)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8374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is_confirmed (bool)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8374" y="274320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bounding_box (JSON)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8374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mapping_status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8374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is_confirmed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6057" y="3867912"/>
            <a:ext cx="4218769" cy="2450592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96057" y="3867912"/>
            <a:ext cx="4218769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50935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StudentGradeRecord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8374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tabulation (FK-&gt;</a:t>
            </a:r>
            <a:r>
              <a:rPr sz="900" b="0" i="0" dirty="0" err="1"/>
              <a:t>CourseTabulation</a:t>
            </a:r>
            <a:r>
              <a:rPr sz="900" b="0" i="0" dirty="0"/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8374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 (FK-&gt;Profile)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8374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ct_marks, mid_marks, final_marks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8374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assign_marks, attendance_pct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8374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overall_score, grade_point, letter_grade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8374" y="546811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student_id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78374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overall_score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78374" y="5980175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is_manually_edited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47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25/37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Database Schema &amp; Composite Indexes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7767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IntelliGrade v4.0.0 — Technical Changes &amp; Optimization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08CC8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FF96"/>
                </a:solidFill>
              </a:rPr>
              <a:t>PHASE 1: COMPLETED (v4.0.0 Release — August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704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DB Composite Indexes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7043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models.Index added to StudentSubmission, EvaluationResult, QuestionMapping, StudentGradeRecord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417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N+1 Query Elimination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41732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select_related('question__rubric','page','evaluation_result') + prefetch_related() in evaluation_workspace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6642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Storage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FinalizationService._purge_temporary_artifacts() auto-deletes working images on certified PDF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11095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Ollama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911095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LocalOfflineVisionProvider: 800px LANCZOS downsampling + JPEG quality=75 before /api/generate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1579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Manual Wizard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157984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Decoupled api_wizard_upload_pdf from AI evaluation pipeline — pure PDF page slicing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4048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JS Unicode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40487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Resolved SyntaxError in evaluation_wizard.html via truncatechars:80|escapejs filter ordering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76148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50"/>
                </a:solidFill>
              </a:rPr>
              <a:t>PHASE 2: PLANNED (Weeks 1–4)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632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Celery + Redis distributed task queue for async batch OCR and AI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Token Bucket rate limiter per AI provider — eliminate HTTP 429 stalls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INT8 ONNX / TensorRT quantized models for local EasyOCR / Moondream2 on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49039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WebSocket / SSE live grading progress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069079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482FF"/>
                </a:solidFill>
              </a:rPr>
              <a:t>PHASE 3: ENTERPRISE SCALE (Weeks 5–10)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708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Multi-tenant DB partitioning by semester/academic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994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AWS S3 / Cloudflare R2 cloud storage with pre-signed URLs and lifecycle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280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pgvector RAG embeddings — historical teacher mark adjustments for few-shot calibration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Washington Accord &amp; BAETE SSR auto-generator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7897" y="697733"/>
            <a:ext cx="4697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Resilient 5-provider chain with rate-limit </a:t>
            </a:r>
            <a:r>
              <a:rPr sz="1100" b="0" i="0" dirty="0" err="1">
                <a:solidFill>
                  <a:srgbClr val="818CF8"/>
                </a:solidFill>
              </a:rPr>
              <a:t>cooldowns</a:t>
            </a:r>
            <a:r>
              <a:rPr sz="1100" b="0" i="0" dirty="0">
                <a:solidFill>
                  <a:srgbClr val="818CF8"/>
                </a:solidFill>
              </a:rPr>
              <a:t> and 45s timeout budgets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444752"/>
            <a:ext cx="1701227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94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95" y="1700784"/>
            <a:ext cx="1701227" cy="4572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94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Local Offline Vision
(Moondream2/Ollama)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2157984"/>
            <a:ext cx="1701227" cy="155448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637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No internet required
800px LANCZOS JPEG75
~20s/page CPU-based
Best for offline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1320" y="1444752"/>
            <a:ext cx="1701227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619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1320" y="1700784"/>
            <a:ext cx="1701227" cy="4572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75619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/>
              <a:t>Groq</a:t>
            </a:r>
            <a:r>
              <a:rPr sz="1000" b="1" i="0" dirty="0"/>
              <a:t> LPU
(Llama-3.3-70B)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1320" y="2157984"/>
            <a:ext cx="1701227" cy="155448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9619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500+ tokens/sec LPU
Ultra-fast inference
Free: 6,000 TPM limit
HTTP 429 risk at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1144" y="1444752"/>
            <a:ext cx="1701227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544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1144" y="1700784"/>
            <a:ext cx="1701227" cy="4572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544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OpenRouter
(Cloud Gateway)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1144" y="2157984"/>
            <a:ext cx="1701227" cy="155448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6602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Access multiple LLMs
Unified API interface
Variable latency
Per-model rate limits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0969" y="1444752"/>
            <a:ext cx="1701227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5268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0969" y="1700784"/>
            <a:ext cx="1701227" cy="4572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15268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Google Gemini
(2.5 Flash/2.0 Flash)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0969" y="2157984"/>
            <a:ext cx="1701227" cy="155448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3584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Multimodal vision support
Strong reasoning quality
Free: 15 RPM limit
429 at concurrent 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0794" y="1444752"/>
            <a:ext cx="1701227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8509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0794" y="1700784"/>
            <a:ext cx="1701227" cy="4572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8509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OpenAI
(GPT-4o Backup)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0794" y="2157984"/>
            <a:ext cx="1701227" cy="155448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05672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Highest quality output
Best rubric evaluation
Highest cost per token
Fallback of last resort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94" y="3794760"/>
            <a:ext cx="85747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Rate-Limit Comparison: Free Tier vs Enterprise Tier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4" y="4160520"/>
            <a:ext cx="1714947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8934" y="419709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74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48179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RPM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980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1724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TPM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886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8630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RPM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27922" y="4160520"/>
            <a:ext cx="1577751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55360" y="419709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TPM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9971" y="4160520"/>
            <a:ext cx="1028968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7410" y="419709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Est. Cost/Script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1494" y="4480560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8934" y="4507992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Gemini Flash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74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948179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15 RPM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8980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1724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1M TPM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5886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48630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27922" y="4480560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55360" y="4507992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4,000,000 TPM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39971" y="4480560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367410" y="4507992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</a:t>
            </a:r>
            <a:r>
              <a:rPr lang="en-US" sz="900" b="0" i="0" dirty="0"/>
              <a:t>5</a:t>
            </a:r>
            <a:endParaRPr sz="900" b="0" i="0" dirty="0"/>
          </a:p>
        </p:txBody>
      </p:sp>
      <p:sp>
        <p:nvSpPr>
          <p:cNvPr id="61" name="Rectangle 60"/>
          <p:cNvSpPr/>
          <p:nvPr/>
        </p:nvSpPr>
        <p:spPr>
          <a:xfrm>
            <a:off x="171494" y="4828032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98934" y="4855464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Groq Llama-3.3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2074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948179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 RPM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8980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1724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6,000 TPM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5886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48630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27922" y="4828032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55360" y="4855464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500,000 TPM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39971" y="4828032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67410" y="4855464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1494" y="5175504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98934" y="520293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OpenAI</a:t>
            </a:r>
            <a:r>
              <a:rPr sz="900" b="0" i="0" dirty="0"/>
              <a:t> GPT-4o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2074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948179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N/A Paid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8980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1724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5886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48630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10,000 RPM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27922" y="5175504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755360" y="520293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2,000,000 TPM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39971" y="5175504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367410" y="520293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$0.01+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93" y="553212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43F5E"/>
                </a:solidFill>
              </a:rPr>
              <a:t>HTTP 429 Cascade: Free tier exhausts -&gt; 120s cooldown -&gt; ProviderHealthTracker marks -&gt; Failover to next provider in chain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0092" y="6012180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AI Failover Engine Logs / Dashboard Screenshot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26/37</a:t>
            </a:r>
          </a:p>
        </p:txBody>
      </p:sp>
      <p:pic>
        <p:nvPicPr>
          <p:cNvPr id="9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Multi-Provider AI Failover Engine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92841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02823" y="685800"/>
            <a:ext cx="33078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Three-tier testing: Unit -&gt; Integration -&gt; System/UAT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307592"/>
            <a:ext cx="2812512" cy="4788408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495" y="1307592"/>
            <a:ext cx="281251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UNIT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1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Individual model methods, view logic, service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1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TestCase + Python unittest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1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Coverage: Auth, RBAC decorators, OBE grade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91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Approach: Isolated DB test transactions rolled back after each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91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47 unit test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2362" y="1307592"/>
            <a:ext cx="2812512" cy="4788408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62362" y="1307592"/>
            <a:ext cx="281251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17240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INTEGRATION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5258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Cross-service data flows (OCR -&gt; Mapping -&gt; AI -&gt; </a:t>
            </a:r>
            <a:r>
              <a:rPr sz="1000" b="0" i="0" dirty="0" err="1"/>
              <a:t>EvalResult</a:t>
            </a:r>
            <a:r>
              <a:rPr sz="1000" b="0" i="0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5258" y="260603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Client + RequestFactory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5258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Full AI wizard pipeline with mock LLM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5258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Verification: DB state assertions after each pipeline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5258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28 integration test scenarios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229" y="1307592"/>
            <a:ext cx="2812512" cy="4788408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53229" y="1307592"/>
            <a:ext cx="281251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8107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SYSTEM / UAT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6125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Target: End-to-end user workflows across all 4 actor portals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6125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Environment: Local Django dev server + real script uploads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6125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15 acceptance test cases per IUBAT OBE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6125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Pass Criteria: All 27 use cases complete without system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6125" y="521207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Result: 100% use-case coverage — zero critical failures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27/37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Testing Strategy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72800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8400" y="60960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47 unit tests across authentication, models, services, and OBE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61738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62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2050" y="1051560"/>
            <a:ext cx="548783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39489" y="1088136"/>
            <a:ext cx="493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833" y="1051560"/>
            <a:ext cx="675689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88272" y="1088136"/>
            <a:ext cx="67020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37160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0817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4669" y="137160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2108" y="140817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2050" y="137160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39489" y="140817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0833" y="137160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88272" y="140817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valid ADMIN credentials -&gt; controller dashboard redirect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161848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65506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4669" y="161848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108" y="165506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12050" y="161848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39489" y="165506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0833" y="161848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88272" y="165506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invalid password -&gt; 401 Unauthorized, no session created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186537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190195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186537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2108" y="190195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2050" y="186537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39489" y="190195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833" y="186537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88272" y="190195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login before approval -&gt; blocked with pending message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211226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148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4669" y="211226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2108" y="214884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12050" y="211226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39489" y="214884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0833" y="211226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88272" y="214884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@</a:t>
            </a:r>
            <a:r>
              <a:rPr sz="850" b="0" i="0" dirty="0" err="1"/>
              <a:t>admin_required</a:t>
            </a:r>
            <a:r>
              <a:rPr sz="850" b="0" i="0" dirty="0"/>
              <a:t> decorator -&gt; non-admin redirected to login page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235915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39572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4669" y="235915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2108" y="239572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12050" y="235915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639489" y="239572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60833" y="235915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88272" y="239572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@teacher_required returns 403 Forbidden for STUDENT-role user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260604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264261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260604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22108" y="264261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OTP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12050" y="260604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639489" y="264261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60833" y="260604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88272" y="264261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6-digit OTP generated -&gt; stored in DB -&gt; expires after 10 minutes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285292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288950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4669" y="285292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22108" y="288950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12050" y="285292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639489" y="288950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0833" y="285292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188272" y="288950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StudentGradeRecord.compute_weighted_score() with CT=8, Mid=15, Final=40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309981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13639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669" y="309981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22108" y="313639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12050" y="309981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639489" y="313639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60833" y="309981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188272" y="313639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EvaluationResult.get_percentage() returns correct decimal value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334670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3832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334670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22108" y="338328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12050" y="334670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639489" y="338328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60833" y="334670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188272" y="338328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CO attainment = (sum obtained marks) / (sum max marks) x 100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5" y="359359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363016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4669" y="359359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22108" y="363016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12050" y="359359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639489" y="363016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60833" y="359359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188272" y="363016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&gt;= 80 -&gt; A+ -&gt; grade_point = 4.00 per IUBAT grading scale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5" y="384048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387705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4669" y="384048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22108" y="387705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12050" y="384048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639489" y="387705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60833" y="384048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188272" y="387705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60-69 -&gt; B -&gt; grade_point = 3.00 per IUBAT scale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5" y="408736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12394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94669" y="408736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2108" y="412394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12050" y="408736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639489" y="412394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60833" y="408736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188272" y="412394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FinalizationService.purge_artifacts() deletes working draft images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5" y="433425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437083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4669" y="433425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22108" y="437083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12050" y="433425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639489" y="437083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160833" y="433425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188272" y="437083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EmailService.send_otp() dispatches in thread without blocking response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5" y="458114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4669" y="458114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22108" y="461772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612050" y="458114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639489" y="461772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160833" y="458114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188272" y="461772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ProviderHealthTracker.is_on_cooldown() returns True after 429 event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5" y="482803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98934" y="486460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4669" y="482803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022108" y="486460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12050" y="482803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639489" y="486460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160833" y="482803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188272" y="486460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LocalOfflineVisionProvider.resize_lanczos() produces 800px JPEG image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5" y="507492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98934" y="511149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94669" y="507492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22108" y="511149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12050" y="507492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639489" y="511149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160833" y="507492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188272" y="511149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OCREngineManager falls back from Tesseract to EasyOCR on empty result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1495" y="532180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98934" y="535838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94669" y="532180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22108" y="535838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12050" y="532180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639489" y="535838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160833" y="532180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188272" y="535838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Regex state machine detects 'Question 1' heading at line start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1495" y="556869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98934" y="560527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4669" y="556869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022108" y="560527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612050" y="556869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639489" y="560527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160833" y="556869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188272" y="560527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State machine propagates page to subsequent pages until new heading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1495" y="581558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98934" y="58521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TC-UT-19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94669" y="581558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022108" y="585216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612050" y="581558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639489" y="585216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160833" y="581558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188272" y="585216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export_course_tabulation() generates 8-sheet .xlsx with openpyxl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71495" y="606247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98934" y="609904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TC-UT-20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94669" y="606247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22108" y="609904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ysClr val="windowText" lastClr="000000"/>
                </a:solidFill>
              </a:rPr>
              <a:t>CSRF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612050" y="606247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639489" y="609904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160833" y="606247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2188272" y="609904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POST without CSRF token -&gt; 403 Forbidden from Django middleware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76774" y="6324600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45372" y="634593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47 / 47 Unit Tests PASSED  |  0 Failures  |  0 Errors  |  Coverage: 89%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28/37</a:t>
            </a:r>
          </a:p>
        </p:txBody>
      </p:sp>
      <p:pic>
        <p:nvPicPr>
          <p:cNvPr id="17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0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Unit Testing Results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8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97520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88908" y="62037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28 integration tests verifying cross-service data flows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583082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282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7751" y="1051560"/>
            <a:ext cx="758006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5190" y="1088136"/>
            <a:ext cx="7525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Integration Scenario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495" y="13716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8934" y="14173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TC-IT-01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4669" y="13716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2108" y="14173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7751" y="13716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5190" y="14173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Full Auth -&gt; Dashboard pipeline: login POST -&gt; role check -&gt; redirect to correct portal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6916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8934" y="17373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4669" y="16916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2108" y="173736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7751" y="16916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5190" y="173736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approval: register -&gt; pending -&gt; controller approve -&gt; email dispatch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495" y="201168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8934" y="205740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4669" y="201168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2108" y="205740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7751" y="201168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5190" y="205740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Script upload -&gt; 300 DPI preprocessing -&gt; working copy created in media/submission_working/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3317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8934" y="23774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23317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2108" y="23774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77751" y="23317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5190" y="23774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Manual Wizard: api_wizard_upload_pdf -&gt; page slicing only — ZERO AI triggered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495" y="26517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8934" y="269747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4669" y="26517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2108" y="269747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7751" y="26517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5190" y="269747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 engine fallback: PyMuPDF (empty) -&gt; PyTesseract (empty) -&gt; EasyOCR executed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29718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8934" y="30175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4669" y="29718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2108" y="30175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77751" y="29718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05190" y="30175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Boundary detection: regex identifies Q1, Q2 headings -&gt; creates QuestionMapping rows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1495" y="329183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8934" y="33375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4669" y="329183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2108" y="33375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77751" y="329183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05190" y="33375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 evaluation mock: rubric JSON sent to mock provider -&gt; EvaluationResult saved in 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36118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8934" y="36575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36118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2108" y="36575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77751" y="36118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605190" y="36575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 failover: mock Groq returns 429 -&gt; cooldown -&gt; Gemini selected next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1495" y="39319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98934" y="39776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669" y="39319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2108" y="39776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77751" y="39319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05190" y="39776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Low confidence: AI returns conf=0.60 -&gt; requires_manual_review=True set on EvalResult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42519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8934" y="42976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4669" y="42519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22108" y="429768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77751" y="42519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605190" y="429768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Teacher override: POST save_evaluation -&gt; EvaluationHistory audit row created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5" y="45720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4669" y="45720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22108" y="46177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77751" y="45720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605190" y="46177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Finalization: finalize_submission() -&gt; certified PDF generated -&gt; working images purged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48920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98934" y="49377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48920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22108" y="49377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77751" y="48920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605190" y="49377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 tabulation sync: finalize triggers sync_submission_to_tabulation -&gt; grade updated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1495" y="52120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98934" y="52577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4669" y="52120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22108" y="52577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77751" y="52120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605190" y="52577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 calc: CT=9, Mid=20, Final=42, Assign=8, Att=5 -&gt; total=84 -&gt; A -&gt; 3.75 GP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495" y="55321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98934" y="5577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4669" y="55321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22108" y="557784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77751" y="55321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605190" y="557784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 export: export_course_tabulation() -&gt; 8 sheets in openpyxl Workbook object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1494" y="5989320"/>
            <a:ext cx="8814826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40092" y="602589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28 / 28 Integration Tests PASSED  |  0 Failures  |  All cross-service flows verified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29/37</a:t>
            </a:r>
          </a:p>
        </p:txBody>
      </p:sp>
      <p:pic>
        <p:nvPicPr>
          <p:cNvPr id="10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Integration Testing Results</a:t>
            </a:r>
          </a:p>
        </p:txBody>
      </p:sp>
      <p:pic>
        <p:nvPicPr>
          <p:cNvPr id="10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7398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0902" y="609600"/>
            <a:ext cx="44760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15 end-to-end acceptance tests validating all 4 actor portal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051560"/>
            <a:ext cx="685979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631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UAT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473" y="1051560"/>
            <a:ext cx="89177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4912" y="1088136"/>
            <a:ext cx="8368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49246" y="1051560"/>
            <a:ext cx="56250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76685" y="1088136"/>
            <a:ext cx="50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748" y="1051560"/>
            <a:ext cx="667985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9187" y="1088136"/>
            <a:ext cx="6652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Acceptance Scenario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4" y="13716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173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UAT-01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473" y="13716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TextBox 16"/>
          <p:cNvSpPr txBox="1"/>
          <p:nvPr/>
        </p:nvSpPr>
        <p:spPr>
          <a:xfrm>
            <a:off x="884912" y="14173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9246" y="13716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9" name="TextBox 18"/>
          <p:cNvSpPr txBox="1"/>
          <p:nvPr/>
        </p:nvSpPr>
        <p:spPr>
          <a:xfrm>
            <a:off x="1776685" y="14173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748" y="13716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1" name="TextBox 20"/>
          <p:cNvSpPr txBox="1"/>
          <p:nvPr/>
        </p:nvSpPr>
        <p:spPr>
          <a:xfrm>
            <a:off x="2339187" y="14173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Login -&gt; setup College/School/</a:t>
            </a:r>
            <a:r>
              <a:rPr sz="900" b="0" i="0" dirty="0" err="1"/>
              <a:t>Dept</a:t>
            </a:r>
            <a:r>
              <a:rPr sz="900" b="0" i="0" dirty="0"/>
              <a:t>/Course hierarchy -&gt; verify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4" y="16916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73736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473" y="16916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5" name="TextBox 24"/>
          <p:cNvSpPr txBox="1"/>
          <p:nvPr/>
        </p:nvSpPr>
        <p:spPr>
          <a:xfrm>
            <a:off x="884912" y="173736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9246" y="16916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7" name="TextBox 26"/>
          <p:cNvSpPr txBox="1"/>
          <p:nvPr/>
        </p:nvSpPr>
        <p:spPr>
          <a:xfrm>
            <a:off x="1776685" y="173736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748" y="16916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39187" y="173736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exam routine PDF -&gt; AI extracts 12 exams -&gt; 1-click batch create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4" y="201168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205740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473" y="201168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3" name="TextBox 32"/>
          <p:cNvSpPr txBox="1"/>
          <p:nvPr/>
        </p:nvSpPr>
        <p:spPr>
          <a:xfrm>
            <a:off x="884912" y="205740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49246" y="201168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5" name="TextBox 34"/>
          <p:cNvSpPr txBox="1"/>
          <p:nvPr/>
        </p:nvSpPr>
        <p:spPr>
          <a:xfrm>
            <a:off x="1776685" y="205740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1748" y="201168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39187" y="205740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Approve pending student -&gt; student receives activation email notification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4" y="23317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3774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473" y="23317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1" name="TextBox 40"/>
          <p:cNvSpPr txBox="1"/>
          <p:nvPr/>
        </p:nvSpPr>
        <p:spPr>
          <a:xfrm>
            <a:off x="884912" y="23774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49246" y="23317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3" name="TextBox 42"/>
          <p:cNvSpPr txBox="1"/>
          <p:nvPr/>
        </p:nvSpPr>
        <p:spPr>
          <a:xfrm>
            <a:off x="1776685" y="23774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1748" y="23317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339187" y="23774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Configure Gemini API key -&gt; AI config saved -&gt; test evaluate response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4" y="26517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6974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7473" y="26517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9" name="TextBox 48"/>
          <p:cNvSpPr txBox="1"/>
          <p:nvPr/>
        </p:nvSpPr>
        <p:spPr>
          <a:xfrm>
            <a:off x="884912" y="26974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49246" y="26517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1" name="TextBox 50"/>
          <p:cNvSpPr txBox="1"/>
          <p:nvPr/>
        </p:nvSpPr>
        <p:spPr>
          <a:xfrm>
            <a:off x="1776685" y="26974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11748" y="26517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39187" y="26974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Author 10-question paper with CO/PO/Bloom taxonomy -&gt; save &amp; verify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4" y="29718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30175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7473" y="29718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7" name="TextBox 56"/>
          <p:cNvSpPr txBox="1"/>
          <p:nvPr/>
        </p:nvSpPr>
        <p:spPr>
          <a:xfrm>
            <a:off x="884912" y="30175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49246" y="29718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1776685" y="30175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11748" y="29718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39187" y="30175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5 student PDF scripts -&gt; 300 DPI processing -&gt; working copies ready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4" y="329183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33375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7473" y="329183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5" name="TextBox 64"/>
          <p:cNvSpPr txBox="1"/>
          <p:nvPr/>
        </p:nvSpPr>
        <p:spPr>
          <a:xfrm>
            <a:off x="884912" y="33375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49246" y="329183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7" name="TextBox 66"/>
          <p:cNvSpPr txBox="1"/>
          <p:nvPr/>
        </p:nvSpPr>
        <p:spPr>
          <a:xfrm>
            <a:off x="1776685" y="33375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11748" y="329183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39187" y="33375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Run AI Evaluation Wizard -&gt; OCR -&gt; mapping -&gt; AI eval -&gt; workbench opens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4" y="36118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6575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7473" y="36118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3" name="TextBox 72"/>
          <p:cNvSpPr txBox="1"/>
          <p:nvPr/>
        </p:nvSpPr>
        <p:spPr>
          <a:xfrm>
            <a:off x="884912" y="36575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749246" y="36118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5" name="TextBox 74"/>
          <p:cNvSpPr txBox="1"/>
          <p:nvPr/>
        </p:nvSpPr>
        <p:spPr>
          <a:xfrm>
            <a:off x="1776685" y="36575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11748" y="36118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339187" y="36575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Manual Grading Wizard -&gt; PDF slicing only -&gt; no AI -&gt; direct mark entry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4" y="39319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9776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7473" y="39319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1" name="TextBox 80"/>
          <p:cNvSpPr txBox="1"/>
          <p:nvPr/>
        </p:nvSpPr>
        <p:spPr>
          <a:xfrm>
            <a:off x="884912" y="39776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49246" y="39319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3" name="TextBox 82"/>
          <p:cNvSpPr txBox="1"/>
          <p:nvPr/>
        </p:nvSpPr>
        <p:spPr>
          <a:xfrm>
            <a:off x="1776685" y="39776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11748" y="39319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339187" y="39776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Split-screen workbench: view script, AI score, override marks, approve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4" y="42519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429768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7473" y="42519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9" name="TextBox 88"/>
          <p:cNvSpPr txBox="1"/>
          <p:nvPr/>
        </p:nvSpPr>
        <p:spPr>
          <a:xfrm>
            <a:off x="884912" y="429768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49246" y="42519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1" name="TextBox 90"/>
          <p:cNvSpPr txBox="1"/>
          <p:nvPr/>
        </p:nvSpPr>
        <p:spPr>
          <a:xfrm>
            <a:off x="1776685" y="429768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11748" y="42519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339187" y="429768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Finalize evaluation -&gt; certified PDF generated -&gt; student receives email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4" y="45720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46177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7473" y="45720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7" name="TextBox 96"/>
          <p:cNvSpPr txBox="1"/>
          <p:nvPr/>
        </p:nvSpPr>
        <p:spPr>
          <a:xfrm>
            <a:off x="884912" y="46177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749246" y="45720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9" name="TextBox 98"/>
          <p:cNvSpPr txBox="1"/>
          <p:nvPr/>
        </p:nvSpPr>
        <p:spPr>
          <a:xfrm>
            <a:off x="1776685" y="46177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11748" y="45720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339187" y="46177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OBE tabulation auto-populated -&gt; export 8-sheet Excel -&gt; verify 8 tabs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4" y="48920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9377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7473" y="48920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5" name="TextBox 104"/>
          <p:cNvSpPr txBox="1"/>
          <p:nvPr/>
        </p:nvSpPr>
        <p:spPr>
          <a:xfrm>
            <a:off x="884912" y="49377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749246" y="48920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7" name="TextBox 106"/>
          <p:cNvSpPr txBox="1"/>
          <p:nvPr/>
        </p:nvSpPr>
        <p:spPr>
          <a:xfrm>
            <a:off x="1776685" y="49377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11748" y="48920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339187" y="49377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pass rates, faculty workload, pending tabulations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4" y="52120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52577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7473" y="52120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3" name="TextBox 112"/>
          <p:cNvSpPr txBox="1"/>
          <p:nvPr/>
        </p:nvSpPr>
        <p:spPr>
          <a:xfrm>
            <a:off x="884912" y="52577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749246" y="52120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5" name="TextBox 114"/>
          <p:cNvSpPr txBox="1"/>
          <p:nvPr/>
        </p:nvSpPr>
        <p:spPr>
          <a:xfrm>
            <a:off x="1776685" y="52577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311748" y="52120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339187" y="52577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Audit course tabulation -&gt; CO/PO attainment matrix verified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4" y="55321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557784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57473" y="55321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1" name="TextBox 120"/>
          <p:cNvSpPr txBox="1"/>
          <p:nvPr/>
        </p:nvSpPr>
        <p:spPr>
          <a:xfrm>
            <a:off x="884912" y="557784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49246" y="55321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3" name="TextBox 122"/>
          <p:cNvSpPr txBox="1"/>
          <p:nvPr/>
        </p:nvSpPr>
        <p:spPr>
          <a:xfrm>
            <a:off x="1776685" y="557784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311748" y="55321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339187" y="557784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question-wise marks, feedback, GPA on dashboard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4" y="585215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7" name="TextBox 126"/>
          <p:cNvSpPr txBox="1"/>
          <p:nvPr/>
        </p:nvSpPr>
        <p:spPr>
          <a:xfrm>
            <a:off x="198934" y="58978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7473" y="585215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9" name="TextBox 128"/>
          <p:cNvSpPr txBox="1"/>
          <p:nvPr/>
        </p:nvSpPr>
        <p:spPr>
          <a:xfrm>
            <a:off x="884912" y="58978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749246" y="585215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31" name="TextBox 130"/>
          <p:cNvSpPr txBox="1"/>
          <p:nvPr/>
        </p:nvSpPr>
        <p:spPr>
          <a:xfrm>
            <a:off x="1776685" y="58978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311748" y="585215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339187" y="58978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Download certified PDF script -&gt; watermarked file verified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4" y="6236208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40092" y="6272784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15 / 15 UAT Cases PASSED  |  All 27 Use Cases Validated  |  Zero Critical Failures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30/37</a:t>
            </a:r>
          </a:p>
        </p:txBody>
      </p:sp>
      <p:pic>
        <p:nvPicPr>
          <p:cNvPr id="13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0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System / UAT Testing Results</a:t>
            </a:r>
          </a:p>
        </p:txBody>
      </p:sp>
      <p:pic>
        <p:nvPicPr>
          <p:cNvPr id="14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79900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Hero section with official title, 6 module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Page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Q:\My Drive\Practicum\IntelliGrade\SS\Home 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86" y="1371600"/>
            <a:ext cx="7786931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9: IntelliGrade Landing Page — Hero section with official system title, animated gradient, and 6 feature module cards (Auth, OBE Studio, AI Eval, Manual Wizard, Tabulation, Portal)</a:t>
            </a:r>
          </a:p>
        </p:txBody>
      </p:sp>
    </p:spTree>
    <p:extLst>
      <p:ext uri="{BB962C8B-B14F-4D97-AF65-F5344CB8AC3E}">
        <p14:creationId xmlns:p14="http://schemas.microsoft.com/office/powerpoint/2010/main" val="1237545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4-role modal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Page — System Entry Portal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1" t="3171" r="4285" b="5074"/>
          <a:stretch/>
        </p:blipFill>
        <p:spPr bwMode="auto">
          <a:xfrm>
            <a:off x="1581150" y="762000"/>
            <a:ext cx="5962650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" name="TextBox 2050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10: System Entry Portal — 4-role login modal selector (Chief Exam Controller / Department Head / Faculty Member / Student) with role-specific routing</a:t>
            </a:r>
          </a:p>
        </p:txBody>
      </p:sp>
    </p:spTree>
    <p:extLst>
      <p:ext uri="{BB962C8B-B14F-4D97-AF65-F5344CB8AC3E}">
        <p14:creationId xmlns:p14="http://schemas.microsoft.com/office/powerpoint/2010/main" val="799475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6-metric card grid, AI routine scan button, student approval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32/37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Exam Controller Dashboard — Governance Portal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 descr="Q:\My Drive\Practicum\IntelliGrade\SS\Exam controller 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68" y="914400"/>
            <a:ext cx="7498232" cy="5299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TextBox 307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11: Exam Controller Dashboard — 6-metric governance cards, AI Routine Scanner (multi-page PDF → OCR → 1-click batch examination creation), Student Approval Queue</a:t>
            </a:r>
          </a:p>
        </p:txBody>
      </p:sp>
    </p:spTree>
    <p:extLst>
      <p:ext uri="{BB962C8B-B14F-4D97-AF65-F5344CB8AC3E}">
        <p14:creationId xmlns:p14="http://schemas.microsoft.com/office/powerpoint/2010/main" val="27776316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0" y="65279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Side-by-side: scanned script image (left) </a:t>
            </a:r>
            <a:r>
              <a:rPr sz="1100" b="0" i="0" dirty="0" err="1">
                <a:solidFill>
                  <a:srgbClr val="818CF8"/>
                </a:solidFill>
              </a:rPr>
              <a:t>vs</a:t>
            </a:r>
            <a:r>
              <a:rPr sz="1100" b="0" i="0" dirty="0">
                <a:solidFill>
                  <a:srgbClr val="818CF8"/>
                </a:solidFill>
              </a:rPr>
              <a:t> rubric criteria + AI score (right)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/teacher/submission/{id}/workspace/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AI score panel, rubric criteria, confidence badge, override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34/37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Split-Screen Teacher Grading Workbench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12: Split-Screen Teacher Grading Workbench — Scanned script image with pan/zoom/rotate (left) vs Question prompt, Rubric checklist, AI confidence score, and mark override controls (right)</a:t>
            </a:r>
          </a:p>
        </p:txBody>
      </p:sp>
    </p:spTree>
    <p:extLst>
      <p:ext uri="{BB962C8B-B14F-4D97-AF65-F5344CB8AC3E}">
        <p14:creationId xmlns:p14="http://schemas.microsoft.com/office/powerpoint/2010/main" val="3652375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8400" y="881390"/>
            <a:ext cx="4648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Real-time aggregation: CT 10% + Mid 25% + Final 50% + Assign 10% + </a:t>
            </a:r>
            <a:r>
              <a:rPr sz="1100" b="0" i="0" dirty="0" err="1">
                <a:solidFill>
                  <a:srgbClr val="818CF8"/>
                </a:solidFill>
              </a:rPr>
              <a:t>Att</a:t>
            </a:r>
            <a:r>
              <a:rPr sz="1100" b="0" i="0" dirty="0">
                <a:solidFill>
                  <a:srgbClr val="818CF8"/>
                </a:solidFill>
              </a:rPr>
              <a:t> 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/teacher/exam/{id}/course-tabulation/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Grade table, CO/PO attainment matrix, 8-sheet Excel download button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35/37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7791641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OBE Course Tabulation &amp; 8-Sheet Excel Export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13: OBE Course Tabulation — Real-time grade aggregation (CT 10% + Mid 25% + Final 50% + Assign 10% + Att 5%), CO/PO attainment matrix, and 8-Sheet openpyxl Excel export</a:t>
            </a:r>
          </a:p>
        </p:txBody>
      </p:sp>
    </p:spTree>
    <p:extLst>
      <p:ext uri="{BB962C8B-B14F-4D97-AF65-F5344CB8AC3E}">
        <p14:creationId xmlns:p14="http://schemas.microsoft.com/office/powerpoint/2010/main" val="448757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15755" y="905530"/>
            <a:ext cx="4926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Students view overall GPA, question-wise marks, CO/PO attainment, certified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/dashboard/student/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GPA card, course breakdown, question feedback, PDF download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36/37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Student Transparency Portal — Academic Dashboard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14: Student Transparency Portal — 4.00-scale GPA summary card, course-wise mark breakdown, question-level AI feedback, CO/PO attainment, and certified watermarked PDF download</a:t>
            </a:r>
          </a:p>
        </p:txBody>
      </p:sp>
    </p:spTree>
    <p:extLst>
      <p:ext uri="{BB962C8B-B14F-4D97-AF65-F5344CB8AC3E}">
        <p14:creationId xmlns:p14="http://schemas.microsoft.com/office/powerpoint/2010/main" val="1481033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7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20619" y="0"/>
            <a:ext cx="12347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7" y="1005840"/>
            <a:ext cx="571420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92" y="1097280"/>
            <a:ext cx="548782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Key Project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89" y="150876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21 functional modules fully implemented and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89" y="1984248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27 use cases covered — 0 open critical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89" y="2459736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37 Functional + 17 Non-Functional Requirements satisfied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89" y="2935224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479 UFP / 536.48 AFP — large-scale enterprise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89" y="3410712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 unit + 28 integration + 15 UAT tests — 100% pass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89" y="388620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5-provider AI failover, 23-taxonomy OBE, 8-sheet Excel, certified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2220" y="1097280"/>
            <a:ext cx="3224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Future Research &amp;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0818" y="150876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Celery + Redis: Async distributed OCR/AI 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0818" y="1984248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GPU CUDA inference: 104x faster EasyOCR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0818" y="2459736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INT8 Quantized Moondream: on-device 0.3s/page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0818" y="2935224"/>
            <a:ext cx="31555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Token bucket rate limiter: eliminate 429 stalls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0818" y="3410712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pgvector RAG: historical mark calibration per teacher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0818" y="388620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Mobile app: student script viewing on Android/iOS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94" y="4617720"/>
            <a:ext cx="8732508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91" y="4709160"/>
            <a:ext cx="8574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Academic References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91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[1] Django Documentation v5.2 — djangoproject.com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91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[2] IUBAT OBE Academic Policy &amp; Examination Regulations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91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[3] BAETE Accreditation Manual for Engineering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1" y="5952744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[4] IFPUG Function Point Counting Practices Manual v4.3.1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4655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[5] Albrecht, A.J. (1979). Measuring Application Development Productivity. IBM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655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[6] EasyOCR — Jaided AI (2021). github.com/JaidedAI/EasyOCR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4655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[7] Google Gemini API Documentation — ai.google.dev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89" y="6446520"/>
            <a:ext cx="8437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 |  Questions Welcome</a:t>
            </a:r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Conclusion &amp; Future Work</a:t>
            </a: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742485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i="0" dirty="0">
                <a:effectLst/>
                <a:cs typeface="Times New Roman" panose="02020603050405020304" pitchFamily="18" charset="0"/>
              </a:rPr>
              <a:t>List here the reference list by following the Harvard referencing format  (Remove this line)</a:t>
            </a:r>
          </a:p>
          <a:p>
            <a:pPr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Nasir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Bature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U.I., Tahir, N.M.,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Babawuro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Boniface, A. and Hassan, A.M., 2020. Arduino based gas leakage control and temperature monitoring system.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Information and Communication Technology (IJ-ICT)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9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pp.171-178.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Qasim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A.E., Ibrahim,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Saeed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H.A. and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Hamzah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M.I., 2020. Design and implementation home security system and monitoring by using wireless sensor networks WSN/internet of things IOT.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Electrical and Computer Engineering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10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p.2617.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Saxena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 and Pal, R., 2020. IoT Based Security and Controlled Smart Home Automation System Using GSM.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Research in Engineering, Science and Management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3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(8), pp.445-448.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56388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NOTE: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Please consult with your supervisor before and after preparing the Practicum Final Defense presentation slides</a:t>
            </a:r>
            <a:endParaRPr lang="en-US" sz="2400" b="1" dirty="0">
              <a:solidFill>
                <a:schemeClr val="accent3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9727820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>
                <a:latin typeface="Forte" pitchFamily="66" charset="0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4769</TotalTime>
  <Words>6183</Words>
  <Application>Microsoft Office PowerPoint</Application>
  <PresentationFormat>On-screen Show (4:3)</PresentationFormat>
  <Paragraphs>926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Narrow</vt:lpstr>
      <vt:lpstr>Calibri</vt:lpstr>
      <vt:lpstr>Forte</vt:lpstr>
      <vt:lpstr>Rage Italic</vt:lpstr>
      <vt:lpstr>Rockwell</vt:lpstr>
      <vt:lpstr>Times New Roman</vt:lpstr>
      <vt:lpstr>Office Theme</vt:lpstr>
      <vt:lpstr> Prepared for:  Practicum Defense Committee   Department of  Computer Science and Engineering </vt:lpstr>
      <vt:lpstr>Contents</vt:lpstr>
      <vt:lpstr>PowerPoint Presentation</vt:lpstr>
      <vt:lpstr>PowerPoint Presentation</vt:lpstr>
      <vt:lpstr>    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Any Questions 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hmtayeb7@gmail.com</cp:lastModifiedBy>
  <cp:revision>264</cp:revision>
  <dcterms:created xsi:type="dcterms:W3CDTF">2021-05-07T10:10:49Z</dcterms:created>
  <dcterms:modified xsi:type="dcterms:W3CDTF">2026-09-08T01:47:00Z</dcterms:modified>
</cp:coreProperties>
</file>